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docProps/core.xml" ContentType="application/vnd.openxmlformats-package.core-properties+xml"/>
  <Override PartName="/docProps/custom.xml" ContentType="application/vnd.openxmlformats-officedocument.custom-properties+xml"/>
  <Override PartName="/ppt/slideLayouts/slideLayout1.xml" ContentType="application/vnd.openxmlformats-officedocument.presentationml.slideLayout+xml"/>
  <Override PartName="/docProps/app.xml" ContentType="application/vnd.openxmlformats-officedocument.extended-properties+xml"/>
  <Override PartName="/ppt/slideMasters/slideMaster1.xml" ContentType="application/vnd.openxmlformats-officedocument.presentationml.slideMaster+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viewProps.xml" ContentType="application/vnd.openxmlformats-officedocument.presentationml.viewProps+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notesSlides/notesSlide4.xml" ContentType="application/vnd.openxmlformats-officedocument.presentationml.notes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3" Type="http://schemas.openxmlformats.org/officeDocument/2006/relationships/custom-properties" Target="docProps/custom.xml" /><Relationship Id="rId1" Type="http://schemas.openxmlformats.org/package/2006/relationships/metadata/core-properties" Target="docProps/core.xml" /><Relationship Id="rId2" Type="http://schemas.openxmlformats.org/officeDocument/2006/relationships/extended-properties" Target="docProps/app.xml" /></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7"/>
  </p:notesMasterIdLst>
  <p:sldIdLst>
    <p:sldId id="256" r:id="rId1"/>
    <p:sldId id="257" r:id="rId2"/>
    <p:sldId id="258" r:id="rId3"/>
    <p:sldId id="259" r:id="rId4"/>
    <p:sldId id="260" r:id="rId5"/>
    <p:sldId id="261"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5" Type="http://schemas.openxmlformats.org/officeDocument/2006/relationships/slide" Target="slides/slide5.xml" /><Relationship Id="rId4" Type="http://schemas.openxmlformats.org/officeDocument/2006/relationships/slide" Target="slides/slide4.xml" /><Relationship Id="rId0" Type="http://schemas.openxmlformats.org/officeDocument/2006/relationships/slideMaster" Target="slideMasters/slideMaster1.xml" /><Relationship Id="rId6" Type="http://schemas.openxmlformats.org/officeDocument/2006/relationships/slide" Target="slides/slide6.xml" /><Relationship Id="rId1" Type="http://schemas.openxmlformats.org/officeDocument/2006/relationships/slide" Target="slides/slide1.xml" /><Relationship Id="rId10" Type="http://schemas.openxmlformats.org/officeDocument/2006/relationships/viewProps" Target="viewProps.xml" /><Relationship Id="rId2" Type="http://schemas.openxmlformats.org/officeDocument/2006/relationships/slide" Target="slides/slide2.xml" /><Relationship Id="rId3" Type="http://schemas.openxmlformats.org/officeDocument/2006/relationships/slide" Target="slides/slide3.xml" /><Relationship Id="rId7" Type="http://schemas.openxmlformats.org/officeDocument/2006/relationships/notesMaster" Target="notesMasters/notesMaster1.xml" /><Relationship Id="rId8" Type="http://schemas.openxmlformats.org/officeDocument/2006/relationships/presProps" Target="presProps.xml" /><Relationship Id="rId9" Type="http://schemas.openxmlformats.org/officeDocument/2006/relationships/tableStyles" Target="tableStyles.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0"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Relationships xmlns="http://schemas.openxmlformats.org/package/2006/relationships"><Relationship Id="rId0"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Relationships xmlns="http://schemas.openxmlformats.org/package/2006/relationships"><Relationship Id="rId0"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0"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xml" /></Relationships>
</file>

<file path=ppt/notesSlides/_rels/notesSlide6.xml.rels><?xml version="1.0" encoding="UTF-8" standalone="yes"?><Relationships xmlns="http://schemas.openxmlformats.org/package/2006/relationships"><Relationship Id="rId0"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
          <p:cNvSpPr/>
          <p:nvPr>
            <p:ph type="body"/>
          </p:nvPr>
        </p:nvSpPr>
        <p:spPr>
          <a:xfrm>
            <a:off x="0" y="0"/>
            <a:ext cx="177800" cy="444500"/>
          </a:xfrm>
        </p:spPr>
        <p:txBody>
          <a:bodyPr/>
          <a:p>
            <a:pPr/>
            <a:r>
              <a:rPr lang="en-US"/>
              <a:t>PUTRApitch is a local prototype built with WorkBuddy and presented by Afiq. It helps student organisers clarify a sponsorship ask. It is not an official UPM service. Screenshots use the current submission frontend with an existing saved fictional request; no new model run was started for these slides.
Rebrand: original PUTRApitch P-and-pitch-arrow logo; not an official university identity. Current monochrome frontend screenshots are read-only captures of the existing saved fictional fair request. No new sponsorship-model call. Repository URL unchanged; local rebrand not pushed.</a:t>
            </a:r>
            <a:endParaRPr/>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3" name=""/>
        <p:cNvGrpSpPr/>
        <p:nvPr/>
      </p:nvGrpSpPr>
      <p:grpSpPr>
        <a:xfrm>
          <a:off x="0" y="0"/>
          <a:ext cx="0" cy="0"/>
          <a:chOff x="0" y="0"/>
          <a:chExt cx="0" cy="0"/>
        </a:xfrm>
      </p:grpSpPr>
      <p:sp>
        <p:nvSpPr>
          <p:cNvPr id="4" name=""/>
          <p:cNvSpPr/>
          <p:nvPr>
            <p:ph type="body"/>
          </p:nvPr>
        </p:nvSpPr>
        <p:spPr>
          <a:xfrm>
            <a:off x="0" y="0"/>
            <a:ext cx="177800" cy="444500"/>
          </a:xfrm>
        </p:spPr>
        <p:txBody>
          <a:bodyPr/>
          <a:p>
            <a:pPr/>
            <a:r>
              <a:rPr lang="en-US"/>
              <a:t>This is a problem framing, not a market-statistics or user-research result. Contributions can be products, services or cash. Proposed support and organiser-stated benefits are drafts, not sponsor agreements or university approval.
Rebrand: original PUTRApitch P-and-pitch-arrow logo; not an official university identity. Current monochrome frontend screenshots are read-only captures of the existing saved fictional fair request. No new sponsorship-model call. Repository URL unchanged; local rebrand not pushed.</a:t>
            </a:r>
            <a:endParaRPr/>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5" name=""/>
        <p:cNvGrpSpPr/>
        <p:nvPr/>
      </p:nvGrpSpPr>
      <p:grpSpPr>
        <a:xfrm>
          <a:off x="0" y="0"/>
          <a:ext cx="0" cy="0"/>
          <a:chOff x="0" y="0"/>
          <a:chExt cx="0" cy="0"/>
        </a:xfrm>
      </p:grpSpPr>
      <p:sp>
        <p:nvSpPr>
          <p:cNvPr id="6" name=""/>
          <p:cNvSpPr/>
          <p:nvPr>
            <p:ph type="body"/>
          </p:nvPr>
        </p:nvSpPr>
        <p:spPr>
          <a:xfrm>
            <a:off x="0" y="0"/>
            <a:ext cx="177800" cy="444500"/>
          </a:xfrm>
        </p:spPr>
        <p:txBody>
          <a:bodyPr/>
          <a:p>
            <a:pPr/>
            <a:r>
              <a:rPr lang="en-US"/>
              <a:t>One explicit run first prepares event details and clarification questions. The organiser saves answers, then a later explicit run drafts cards. The optional button invokes CodeBuddy CLI, not an existing WorkBuddy desktop conversation. Manual WorkBuddy handoff remains available under Advanced. The screenshot shows cards already saved: the button opens them without another model run.
Rebrand: original PUTRApitch P-and-pitch-arrow logo; not an official university identity. Current monochrome frontend screenshots are read-only captures of the existing saved fictional fair request. No new sponsorship-model call. Repository URL unchanged; local rebrand not pushed.</a:t>
            </a:r>
            <a:endParaRPr/>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7" name=""/>
        <p:cNvGrpSpPr/>
        <p:nvPr/>
      </p:nvGrpSpPr>
      <p:grpSpPr>
        <a:xfrm>
          <a:off x="0" y="0"/>
          <a:ext cx="0" cy="0"/>
          <a:chOff x="0" y="0"/>
          <a:chExt cx="0" cy="0"/>
        </a:xfrm>
      </p:grpSpPr>
      <p:sp>
        <p:nvSpPr>
          <p:cNvPr id="8" name=""/>
          <p:cNvSpPr/>
          <p:nvPr>
            <p:ph type="body"/>
          </p:nvPr>
        </p:nvSpPr>
        <p:spPr>
          <a:xfrm>
            <a:off x="0" y="0"/>
            <a:ext cx="177800" cy="444500"/>
          </a:xfrm>
        </p:spPr>
        <p:txBody>
          <a:bodyPr/>
          <a:p>
            <a:pPr/>
            <a:r>
              <a:rPr lang="en-US"/>
              <a:t>The existing Campus Sustainability Fair request is fictional. Saved author: CodeBuddy CLI via API key. Two cards request reusable bottles and repair-workshop materials, with quantities/date/venue/approvals/tax status unconfirmed. A revision-1 fictional organiser answer supplies logo on the event page and verbal thanks during opening remarks only; no booth, social-media mention, extra branding, price or university endorsement. Both cards await content review. README documents live card content recovered from CLI traces and validated; a fresh live end-to-end run of the final one-click streamed path has not been performed.
Rebrand: original PUTRApitch P-and-pitch-arrow logo; not an official university identity. Current monochrome frontend screenshots are read-only captures of the existing saved fictional fair request. No new sponsorship-model call. Repository URL unchanged; local rebrand not pushed.</a:t>
            </a:r>
            <a:endParaRPr/>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9" name=""/>
        <p:cNvGrpSpPr/>
        <p:nvPr/>
      </p:nvGrpSpPr>
      <p:grpSpPr>
        <a:xfrm>
          <a:off x="0" y="0"/>
          <a:ext cx="0" cy="0"/>
          <a:chOff x="0" y="0"/>
          <a:chExt cx="0" cy="0"/>
        </a:xfrm>
      </p:grpSpPr>
      <p:sp>
        <p:nvSpPr>
          <p:cNvPr id="10" name=""/>
          <p:cNvSpPr/>
          <p:nvPr>
            <p:ph type="body"/>
          </p:nvPr>
        </p:nvSpPr>
        <p:spPr>
          <a:xfrm>
            <a:off x="0" y="0"/>
            <a:ext cx="177800" cy="444500"/>
          </a:xfrm>
        </p:spPr>
        <p:txBody>
          <a:bodyPr/>
          <a:p>
            <a:pPr/>
            <a:r>
              <a:rPr lang="en-US"/>
              <a:t>All 25 current Node checks passed in this task; model tests inject fake responses and do not use live credits. The CodeBuddy key is stored locally in plain text at data/.codebuddy-key, not returned by the backend to the browser, and data/ and key filenames are ignored by Git. Public main tree contains no data/ or key files. This is not an encrypted production secret store, and a complete historical secret audit was not performed. Do not confuse CodeBuddy CLI model execution with automatic WorkBuddy desktop execution. No fresh paid AI demo was run.
Rebrand: original PUTRApitch P-and-pitch-arrow logo; not an official university identity. Current monochrome frontend screenshots are read-only captures of the existing saved fictional fair request. No new sponsorship-model call. Repository URL unchanged; local rebrand not pushed.
Approved reference-style frontend passed 134 browser assertions prior to rebranding; rebrand checks are recorded separately. Browser writes use memory-only fixtures, not live agent execution.</a:t>
            </a:r>
            <a:endParaRPr/>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11" name=""/>
        <p:cNvGrpSpPr/>
        <p:nvPr/>
      </p:nvGrpSpPr>
      <p:grpSpPr>
        <a:xfrm>
          <a:off x="0" y="0"/>
          <a:ext cx="0" cy="0"/>
          <a:chOff x="0" y="0"/>
          <a:chExt cx="0" cy="0"/>
        </a:xfrm>
      </p:grpSpPr>
      <p:sp>
        <p:nvSpPr>
          <p:cNvPr id="12" name=""/>
          <p:cNvSpPr/>
          <p:nvPr>
            <p:ph type="body"/>
          </p:nvPr>
        </p:nvSpPr>
        <p:spPr>
          <a:xfrm>
            <a:off x="0" y="0"/>
            <a:ext cx="177800" cy="444500"/>
          </a:xfrm>
        </p:spPr>
        <p:txBody>
          <a:bodyPr/>
          <a:p>
            <a:pPr/>
            <a:r>
              <a:rPr lang="en-US"/>
              <a:t>Public source verified accessible: https://github.com/ryuhanbin/sponsorbridge-hackathon. The repository is public and contains the app, README, tests, evidence and pitch deck path. Final slide edits are local until separately committed and pushed. Matching, outreach and complete campaign export remain planned, not built. No sponsors secured or university approval claimed.
Rebrand: original PUTRApitch P-and-pitch-arrow logo; not an official university identity. Current monochrome frontend screenshots are read-only captures of the existing saved fictional fair request. No new sponsorship-model call. Repository URL unchanged; local rebrand not pushed.</a:t>
            </a:r>
            <a:endParaRP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theme" Target="../theme/theme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2" Type="http://schemas.openxmlformats.org/officeDocument/2006/relationships/image" Target="media/image1.png" /><Relationship Id="rId1" Type="http://schemas.openxmlformats.org/officeDocument/2006/relationships/notesSlide" Target="../notesSlides/notesSlide1.xml" /><Relationship Id="rId0" Type="http://schemas.openxmlformats.org/officeDocument/2006/relationships/slideLayout" Target="../slideLayouts/slideLayout1.xml" /><Relationship Id="rId3" Type="http://schemas.openxmlformats.org/officeDocument/2006/relationships/image" Target="media/image2.png"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xml" /><Relationship Id="rId2" Type="http://schemas.openxmlformats.org/officeDocument/2006/relationships/image" Target="media/image3.png"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3.xml" /><Relationship Id="rId2" Type="http://schemas.openxmlformats.org/officeDocument/2006/relationships/image" Target="media/image4.png" /><Relationship Id="rId3" Type="http://schemas.openxmlformats.org/officeDocument/2006/relationships/image" Target="media/image5.png" /></Relationships>
</file>

<file path=ppt/slides/_rels/slide4.xml.rels><?xml version="1.0" encoding="UTF-8" standalone="yes"?><Relationships xmlns="http://schemas.openxmlformats.org/package/2006/relationships"><Relationship Id="rId3" Type="http://schemas.openxmlformats.org/officeDocument/2006/relationships/image" Target="media/image7.png" /><Relationship Id="rId0" Type="http://schemas.openxmlformats.org/officeDocument/2006/relationships/slideLayout" Target="../slideLayouts/slideLayout1.xml" /><Relationship Id="rId1" Type="http://schemas.openxmlformats.org/officeDocument/2006/relationships/notesSlide" Target="../notesSlides/notesSlide4.xml" /><Relationship Id="rId2" Type="http://schemas.openxmlformats.org/officeDocument/2006/relationships/image" Target="media/image6.png" /><Relationship Id="rId4" Type="http://schemas.openxmlformats.org/officeDocument/2006/relationships/image" Target="media/image8.png"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5.xml" /><Relationship Id="rId2" Type="http://schemas.openxmlformats.org/officeDocument/2006/relationships/image" Target="media/image9.png"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6.xml" /><Relationship Id="rId2" Type="http://schemas.openxmlformats.org/officeDocument/2006/relationships/hyperlink" Target="https://github.com/ryuhanbin/sponsorbridge-hackathon" TargetMode="External"/><Relationship Id="rId3" Type="http://schemas.openxmlformats.org/officeDocument/2006/relationships/image" Target="media/image10.png" /><Relationship Id="rId4" Type="http://schemas.openxmlformats.org/officeDocument/2006/relationships/image" Target="media/image11.png" /></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202020">
              <a:alpha val="100000"/>
            </a:srgbClr>
          </a:solidFill>
          <a:ln/>
        </p:spPr>
        <p:txBody>
          <a:bodyPr/>
          <a:p>
            <a:pPr/>
            <a:endParaRPr/>
          </a:p>
        </p:txBody>
      </p:sp>
      <p:sp>
        <p:nvSpPr>
          <p:cNvPr id="3" name="" descr="{&quot;isTemplate&quot;:true,&quot;type&quot;:&quot;text&quot;}"/>
          <p:cNvSpPr txBox="1"/>
          <p:nvPr/>
        </p:nvSpPr>
        <p:spPr>
          <a:xfrm rot="0" flipH="0" flipV="0">
            <a:off x="571500" y="561975"/>
            <a:ext cx="11049000" cy="219075"/>
          </a:xfrm>
          <a:prstGeom prst="rect"/>
        </p:spPr>
        <p:txBody>
          <a:bodyPr wrap="none" lIns="0" tIns="0" rIns="0" bIns="0"/>
          <a:p>
            <a:pPr>
              <a:lnSpc>
                <a:spcPct val="100000"/>
              </a:lnSpc>
            </a:pPr>
            <a:r>
              <a:rPr lang="zh-CN" sz="1425" b="1" spc="150">
                <a:solidFill>
                  <a:srgbClr val="DADADA"/>
                </a:solidFill>
                <a:latin typeface="Arial"/>
                <a:ea typeface="Arial"/>
              </a:rPr>
              <a:t>PUTRApitch / HACKATHON 2026</a:t>
            </a:r>
            <a:endParaRPr lang="zh-CN" sz="1425" b="1" spc="150">
              <a:solidFill>
                <a:srgbClr val="DADADA"/>
              </a:solidFill>
              <a:latin typeface="Arial"/>
              <a:ea typeface="Arial"/>
            </a:endParaRPr>
          </a:p>
        </p:txBody>
      </p:sp>
      <p:sp>
        <p:nvSpPr>
          <p:cNvPr id="4" name="" descr="{&quot;isTemplate&quot;:true,&quot;type&quot;:&quot;text&quot;}"/>
          <p:cNvSpPr txBox="1"/>
          <p:nvPr/>
        </p:nvSpPr>
        <p:spPr>
          <a:xfrm rot="0" flipH="0" flipV="0">
            <a:off x="571500" y="2819400"/>
            <a:ext cx="5810250" cy="1028700"/>
          </a:xfrm>
          <a:prstGeom prst="rect"/>
        </p:spPr>
        <p:txBody>
          <a:bodyPr wrap="none" lIns="0" tIns="0" rIns="0" bIns="0"/>
          <a:p>
            <a:pPr>
              <a:lnSpc>
                <a:spcPct val="125000"/>
              </a:lnSpc>
            </a:pPr>
            <a:r>
              <a:rPr lang="zh-CN" sz="2600" b="1">
                <a:solidFill>
                  <a:srgbClr val="DADADA"/>
                </a:solidFill>
                <a:latin typeface="Arial"/>
                <a:ea typeface="Arial"/>
              </a:rPr>
              <a:t>From an event idea
to reviewable sponsor cards.</a:t>
            </a:r>
            <a:endParaRPr lang="zh-CN" sz="2600" b="1">
              <a:solidFill>
                <a:srgbClr val="DADADA"/>
              </a:solidFill>
              <a:latin typeface="Arial"/>
              <a:ea typeface="Arial"/>
            </a:endParaRPr>
          </a:p>
        </p:txBody>
      </p:sp>
      <p:sp>
        <p:nvSpPr>
          <p:cNvPr id="5" name="" descr="{&quot;isTemplate&quot;:true,&quot;type&quot;:&quot;text&quot;}"/>
          <p:cNvSpPr txBox="1"/>
          <p:nvPr/>
        </p:nvSpPr>
        <p:spPr>
          <a:xfrm rot="0" flipH="0" flipV="0">
            <a:off x="571500" y="4095750"/>
            <a:ext cx="5810250" cy="828675"/>
          </a:xfrm>
          <a:prstGeom prst="rect"/>
        </p:spPr>
        <p:txBody>
          <a:bodyPr wrap="none" lIns="0" tIns="0" rIns="0" bIns="0"/>
          <a:p>
            <a:pPr>
              <a:lnSpc>
                <a:spcPct val="145000"/>
              </a:lnSpc>
            </a:pPr>
            <a:r>
              <a:rPr lang="zh-CN" sz="2000">
                <a:solidFill>
                  <a:srgbClr val="F1F5E9"/>
                </a:solidFill>
                <a:latin typeface="Arial"/>
                <a:ea typeface="Arial"/>
              </a:rPr>
              <a:t>A clearer sponsorship request
for student event organisers.</a:t>
            </a:r>
            <a:endParaRPr lang="zh-CN" sz="2000">
              <a:solidFill>
                <a:srgbClr val="F1F5E9"/>
              </a:solidFill>
              <a:latin typeface="Arial"/>
              <a:ea typeface="Arial"/>
            </a:endParaRPr>
          </a:p>
        </p:txBody>
      </p:sp>
      <p:sp>
        <p:nvSpPr>
          <p:cNvPr id="6" name="" descr="{&quot;isTemplate&quot;:true,&quot;type&quot;:&quot;text&quot;}"/>
          <p:cNvSpPr txBox="1"/>
          <p:nvPr/>
        </p:nvSpPr>
        <p:spPr>
          <a:xfrm rot="0" flipH="0" flipV="0">
            <a:off x="571500" y="5248275"/>
            <a:ext cx="5810250" cy="257175"/>
          </a:xfrm>
          <a:prstGeom prst="rect"/>
        </p:spPr>
        <p:txBody>
          <a:bodyPr wrap="none" lIns="0" tIns="0" rIns="0" bIns="0"/>
          <a:p>
            <a:pPr>
              <a:lnSpc>
                <a:spcPct val="100000"/>
              </a:lnSpc>
            </a:pPr>
            <a:r>
              <a:rPr lang="en-US" sz="1650" b="1">
                <a:solidFill>
                  <a:srgbClr val="F1F5E9"/>
                </a:solidFill>
                <a:latin typeface="Arial"/>
                <a:ea typeface="Arial"/>
              </a:rPr>
              <a:t>Presenter: Afiq</a:t>
            </a:r>
            <a:endParaRPr/>
          </a:p>
        </p:txBody>
      </p:sp>
      <p:sp>
        <p:nvSpPr>
          <p:cNvPr id="7" name="" descr="{&quot;isTemplate&quot;:true,&quot;type&quot;:&quot;text&quot;}"/>
          <p:cNvSpPr txBox="1"/>
          <p:nvPr/>
        </p:nvSpPr>
        <p:spPr>
          <a:xfrm rot="0" flipH="0" flipV="0">
            <a:off x="571500" y="5505450"/>
            <a:ext cx="5810250" cy="209550"/>
          </a:xfrm>
          <a:prstGeom prst="rect"/>
        </p:spPr>
        <p:txBody>
          <a:bodyPr wrap="none" lIns="0" tIns="0" rIns="0" bIns="0"/>
          <a:p>
            <a:pPr>
              <a:lnSpc>
                <a:spcPct val="100000"/>
              </a:lnSpc>
            </a:pPr>
            <a:r>
              <a:rPr lang="zh-CN" sz="1350">
                <a:solidFill>
                  <a:srgbClr val="F1F5E9"/>
                </a:solidFill>
                <a:latin typeface="Arial"/>
                <a:ea typeface="Arial"/>
              </a:rPr>
              <a:t>Built with WorkBuddy · Local prototype</a:t>
            </a:r>
            <a:endParaRPr lang="zh-CN" sz="1350">
              <a:solidFill>
                <a:srgbClr val="F1F5E9"/>
              </a:solidFill>
              <a:latin typeface="Arial"/>
              <a:ea typeface="Arial"/>
            </a:endParaRPr>
          </a:p>
        </p:txBody>
      </p:sp>
      <p:sp>
        <p:nvSpPr>
          <p:cNvPr id="8" name=""/>
          <p:cNvSpPr/>
          <p:nvPr/>
        </p:nvSpPr>
        <p:spPr>
          <a:xfrm rot="0" flipH="0" flipV="0">
            <a:off x="6838950" y="1381125"/>
            <a:ext cx="4781550" cy="4667250"/>
          </a:xfrm>
          <a:prstGeom prst="roundRect">
            <a:avLst>
              <a:gd name="adj" fmla="val 2449"/>
            </a:avLst>
          </a:prstGeom>
          <a:solidFill>
            <a:srgbClr val="303030">
              <a:alpha val="100000"/>
            </a:srgbClr>
          </a:solidFill>
          <a:ln/>
        </p:spPr>
        <p:txBody>
          <a:bodyPr/>
          <a:p>
            <a:pPr/>
            <a:endParaRPr/>
          </a:p>
        </p:txBody>
      </p:sp>
      <p:sp>
        <p:nvSpPr>
          <p:cNvPr id="9" name="" descr="{&quot;isTemplate&quot;:true,&quot;type&quot;:&quot;text&quot;}"/>
          <p:cNvSpPr txBox="1"/>
          <p:nvPr/>
        </p:nvSpPr>
        <p:spPr>
          <a:xfrm rot="0" flipH="0" flipV="0">
            <a:off x="7010400" y="5657850"/>
            <a:ext cx="4438650" cy="200025"/>
          </a:xfrm>
          <a:prstGeom prst="rect"/>
        </p:spPr>
        <p:txBody>
          <a:bodyPr wrap="none" lIns="0" tIns="0" rIns="0" bIns="0"/>
          <a:p>
            <a:pPr>
              <a:lnSpc>
                <a:spcPct val="100000"/>
              </a:lnSpc>
            </a:pPr>
            <a:r>
              <a:rPr lang="zh-CN" sz="1200">
                <a:solidFill>
                  <a:srgbClr val="DADADA"/>
                </a:solidFill>
                <a:latin typeface="Arial"/>
                <a:ea typeface="Arial"/>
              </a:rPr>
              <a:t>Current interface · saved fictional example</a:t>
            </a:r>
            <a:endParaRPr lang="zh-CN" sz="1200">
              <a:solidFill>
                <a:srgbClr val="DADADA"/>
              </a:solidFill>
              <a:latin typeface="Arial"/>
              <a:ea typeface="Arial"/>
            </a:endParaRPr>
          </a:p>
        </p:txBody>
      </p:sp>
      <p:sp>
        <p:nvSpPr>
          <p:cNvPr id="10" name="" descr="{&quot;isTemplate&quot;:true,&quot;type&quot;:&quot;text&quot;}"/>
          <p:cNvSpPr txBox="1"/>
          <p:nvPr/>
        </p:nvSpPr>
        <p:spPr>
          <a:xfrm flipH="0" flipV="0">
            <a:off x="571500" y="6391275"/>
            <a:ext cx="8890000" cy="171450"/>
          </a:xfrm>
          <a:prstGeom prst="rect"/>
        </p:spPr>
        <p:txBody>
          <a:bodyPr wrap="none" lIns="0" tIns="0" rIns="0" bIns="0"/>
          <a:p>
            <a:pPr>
              <a:lnSpc>
                <a:spcPct val="100000"/>
              </a:lnSpc>
            </a:pPr>
            <a:r>
              <a:rPr lang="zh-CN" sz="1100">
                <a:solidFill>
                  <a:srgbClr val="F1F5E9"/>
                </a:solidFill>
                <a:latin typeface="Arial"/>
                <a:ea typeface="Arial"/>
              </a:rPr>
              <a:t>Not an official UPM service. No secured sponsors.</a:t>
            </a:r>
            <a:endParaRPr lang="zh-CN" sz="1100">
              <a:solidFill>
                <a:srgbClr val="F1F5E9"/>
              </a:solidFill>
              <a:latin typeface="Arial"/>
              <a:ea typeface="Arial"/>
            </a:endParaRPr>
          </a:p>
        </p:txBody>
      </p:sp>
      <p:sp>
        <p:nvSpPr>
          <p:cNvPr id="11"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01 / 06</a:t>
            </a:r>
            <a:endParaRPr/>
          </a:p>
        </p:txBody>
      </p:sp>
      <p:pic>
        <p:nvPicPr>
          <p:cNvPr id="12" name=""/>
          <p:cNvPicPr/>
          <p:nvPr/>
        </p:nvPicPr>
        <p:blipFill>
          <a:blip r:embed="rId2"/>
          <a:stretch/>
        </p:blipFill>
        <p:spPr>
          <a:xfrm>
            <a:off x="508000" y="1498600"/>
            <a:ext cx="5905500" cy="1280710"/>
          </a:xfrm>
          <a:prstGeom prst="rect"/>
        </p:spPr>
      </p:pic>
      <p:pic>
        <p:nvPicPr>
          <p:cNvPr id="13" name=""/>
          <p:cNvPicPr/>
          <p:nvPr/>
        </p:nvPicPr>
        <p:blipFill>
          <a:blip r:embed="rId3"/>
          <a:stretch/>
        </p:blipFill>
        <p:spPr>
          <a:xfrm>
            <a:off x="7010400" y="1574800"/>
            <a:ext cx="4441371" cy="3238500"/>
          </a:xfrm>
          <a:prstGeom prst="rect"/>
        </p:spPr>
      </p:pic>
    </p:spTree>
  </p:cSl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4" name=""/>
        <p:cNvGrpSpPr/>
        <p:nvPr/>
      </p:nvGrpSpPr>
      <p:grpSpPr>
        <a:xfrm>
          <a:off x="0" y="0"/>
          <a:ext cx="0" cy="0"/>
          <a:chOff x="0" y="0"/>
          <a:chExt cx="0" cy="0"/>
        </a:xfrm>
      </p:grpSpPr>
      <p:sp>
        <p:nvSpPr>
          <p:cNvPr id="15" name=""/>
          <p:cNvSpPr/>
          <p:nvPr/>
        </p:nvSpPr>
        <p:spPr>
          <a:xfrm rot="0" flipH="0" flipV="0">
            <a:off x="0" y="0"/>
            <a:ext cx="12192000" cy="6858000"/>
          </a:xfrm>
          <a:prstGeom prst="rect">
            <a:avLst/>
          </a:prstGeom>
          <a:solidFill>
            <a:srgbClr val="202020">
              <a:alpha val="100000"/>
            </a:srgbClr>
          </a:solidFill>
          <a:ln/>
        </p:spPr>
        <p:txBody>
          <a:bodyPr/>
          <a:p>
            <a:pPr/>
            <a:endParaRPr/>
          </a:p>
        </p:txBody>
      </p:sp>
      <p:sp>
        <p:nvSpPr>
          <p:cNvPr id="16"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DADADA"/>
                </a:solidFill>
                <a:latin typeface="Arial"/>
                <a:ea typeface="Arial"/>
              </a:rPr>
              <a:t>THE PROBLEM MOTIVATING THE PROTOTYPE</a:t>
            </a:r>
            <a:endParaRPr lang="zh-CN" sz="1350">
              <a:solidFill>
                <a:srgbClr val="DADADA"/>
              </a:solidFill>
              <a:latin typeface="Arial"/>
              <a:ea typeface="Arial"/>
            </a:endParaRPr>
          </a:p>
        </p:txBody>
      </p:sp>
      <p:sp>
        <p:nvSpPr>
          <p:cNvPr id="17"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850" b="1">
                <a:solidFill>
                  <a:srgbClr val="F1F5E9"/>
                </a:solidFill>
                <a:latin typeface="Arial"/>
                <a:ea typeface="Arial"/>
              </a:rPr>
              <a:t>An event idea is not yet a clear sponsorship ask.</a:t>
            </a:r>
            <a:endParaRPr lang="zh-CN" sz="2850" b="1">
              <a:solidFill>
                <a:srgbClr val="F1F5E9"/>
              </a:solidFill>
              <a:latin typeface="Arial"/>
              <a:ea typeface="Arial"/>
            </a:endParaRPr>
          </a:p>
        </p:txBody>
      </p:sp>
      <p:sp>
        <p:nvSpPr>
          <p:cNvPr id="18" name=""/>
          <p:cNvSpPr/>
          <p:nvPr/>
        </p:nvSpPr>
        <p:spPr>
          <a:xfrm rot="0" flipH="0" flipV="0">
            <a:off x="571500" y="1381125"/>
            <a:ext cx="3429000" cy="4667250"/>
          </a:xfrm>
          <a:prstGeom prst="rect">
            <a:avLst/>
          </a:prstGeom>
          <a:solidFill>
            <a:srgbClr val="303030">
              <a:alpha val="100000"/>
            </a:srgbClr>
          </a:solidFill>
          <a:ln/>
        </p:spPr>
        <p:txBody>
          <a:bodyPr/>
          <a:p>
            <a:pPr/>
            <a:endParaRPr/>
          </a:p>
        </p:txBody>
      </p:sp>
      <p:sp>
        <p:nvSpPr>
          <p:cNvPr id="19" name="" descr="{&quot;isTemplate&quot;:true,&quot;type&quot;:&quot;text&quot;}"/>
          <p:cNvSpPr txBox="1"/>
          <p:nvPr/>
        </p:nvSpPr>
        <p:spPr>
          <a:xfrm rot="0" flipH="0" flipV="0">
            <a:off x="857250" y="1666875"/>
            <a:ext cx="2857500" cy="1895475"/>
          </a:xfrm>
          <a:prstGeom prst="rect"/>
        </p:spPr>
        <p:txBody>
          <a:bodyPr wrap="none" lIns="0" tIns="0" rIns="0" bIns="0"/>
          <a:p>
            <a:pPr>
              <a:lnSpc>
                <a:spcPct val="114999"/>
              </a:lnSpc>
            </a:pPr>
            <a:r>
              <a:rPr lang="en-US" sz="3600" b="1">
                <a:solidFill>
                  <a:srgbClr val="DADADA"/>
                </a:solidFill>
                <a:latin typeface="Arial"/>
                <a:ea typeface="Arial"/>
              </a:rPr>
              <a:t>Clarify</a:t>
            </a:r>
            <a:r>
              <a:rPr lang="zh-CN">
                <a:solidFill>
                  <a:srgbClr val="DADADA"/>
                </a:solidFill>
              </a:rPr>
              <a:t></a:t>
            </a:r>
            <a:r>
              <a:rPr lang="en-US" sz="3600" b="1">
                <a:solidFill>
                  <a:srgbClr val="DADADA"/>
                </a:solidFill>
                <a:latin typeface="Arial"/>
                <a:ea typeface="Arial"/>
              </a:rPr>
              <a:t>before</a:t>
            </a:r>
            <a:r>
              <a:rPr lang="zh-CN">
                <a:solidFill>
                  <a:srgbClr val="DADADA"/>
                </a:solidFill>
              </a:rPr>
              <a:t></a:t>
            </a:r>
            <a:r>
              <a:rPr lang="en-US" sz="3600" b="1">
                <a:solidFill>
                  <a:srgbClr val="DADADA"/>
                </a:solidFill>
                <a:latin typeface="Arial"/>
                <a:ea typeface="Arial"/>
              </a:rPr>
              <a:t>committing.</a:t>
            </a:r>
            <a:endParaRPr lang="en-US" sz="3600" b="1">
              <a:solidFill>
                <a:srgbClr val="DADADA"/>
              </a:solidFill>
              <a:latin typeface="Arial"/>
              <a:ea typeface="Arial"/>
            </a:endParaRPr>
          </a:p>
        </p:txBody>
      </p:sp>
      <p:sp>
        <p:nvSpPr>
          <p:cNvPr id="20" name="" descr="{&quot;isTemplate&quot;:true,&quot;type&quot;:&quot;text&quot;}"/>
          <p:cNvSpPr txBox="1"/>
          <p:nvPr/>
        </p:nvSpPr>
        <p:spPr>
          <a:xfrm rot="0" flipH="0" flipV="0">
            <a:off x="857250" y="3686175"/>
            <a:ext cx="2857500" cy="2076450"/>
          </a:xfrm>
          <a:prstGeom prst="rect"/>
        </p:spPr>
        <p:txBody>
          <a:bodyPr wrap="square" lIns="0" tIns="0" rIns="0" bIns="0">
            <a:normAutofit/>
          </a:bodyPr>
          <a:p>
            <a:pPr>
              <a:lnSpc>
                <a:spcPct val="145000"/>
              </a:lnSpc>
            </a:pPr>
            <a:r>
              <a:rPr lang="zh-CN" sz="1875" b="0">
                <a:solidFill>
                  <a:srgbClr val="F1F5E9"/>
                </a:solidFill>
                <a:latin typeface="Arial"/>
                <a:ea typeface="Arial"/>
              </a:rPr>
              <a:t>A clearer brief helps
students explain the
contribution they need
and the benefits they
can actually offer.</a:t>
            </a:r>
            <a:endParaRPr lang="zh-CN" sz="1875" b="0">
              <a:solidFill>
                <a:srgbClr val="F1F5E9"/>
              </a:solidFill>
              <a:latin typeface="Arial"/>
              <a:ea typeface="Arial"/>
            </a:endParaRPr>
          </a:p>
        </p:txBody>
      </p:sp>
      <p:sp>
        <p:nvSpPr>
          <p:cNvPr id="21" name="" descr="{&quot;isTemplate&quot;:true,&quot;type&quot;:&quot;text&quot;}"/>
          <p:cNvSpPr txBox="1"/>
          <p:nvPr/>
        </p:nvSpPr>
        <p:spPr>
          <a:xfrm rot="0" flipH="0" flipV="0">
            <a:off x="4457700" y="1524000"/>
            <a:ext cx="7162800" cy="333375"/>
          </a:xfrm>
          <a:prstGeom prst="rect"/>
        </p:spPr>
        <p:txBody>
          <a:bodyPr wrap="none" lIns="0" tIns="0" rIns="0" bIns="0"/>
          <a:p>
            <a:pPr>
              <a:lnSpc>
                <a:spcPct val="100000"/>
              </a:lnSpc>
            </a:pPr>
            <a:r>
              <a:rPr lang="en-US" sz="2175" b="1">
                <a:solidFill>
                  <a:srgbClr val="DADADA"/>
                </a:solidFill>
                <a:latin typeface="Arial"/>
                <a:ea typeface="Arial"/>
              </a:rPr>
              <a:t>01  Define the support need</a:t>
            </a:r>
            <a:endParaRPr lang="en-US" sz="2175" b="1">
              <a:solidFill>
                <a:srgbClr val="DADADA"/>
              </a:solidFill>
              <a:latin typeface="Arial"/>
              <a:ea typeface="Arial"/>
            </a:endParaRPr>
          </a:p>
        </p:txBody>
      </p:sp>
      <p:sp>
        <p:nvSpPr>
          <p:cNvPr id="22" name="" descr="{&quot;isTemplate&quot;:true,&quot;type&quot;:&quot;text&quot;}"/>
          <p:cNvSpPr txBox="1"/>
          <p:nvPr/>
        </p:nvSpPr>
        <p:spPr>
          <a:xfrm rot="0" flipH="0" flipV="0">
            <a:off x="4457700" y="1952625"/>
            <a:ext cx="7162800" cy="800100"/>
          </a:xfrm>
          <a:prstGeom prst="rect"/>
        </p:spPr>
        <p:txBody>
          <a:bodyPr wrap="none" lIns="0" tIns="0" rIns="0" bIns="0"/>
          <a:p>
            <a:pPr>
              <a:lnSpc>
                <a:spcPct val="140000"/>
              </a:lnSpc>
            </a:pPr>
            <a:r>
              <a:rPr lang="zh-CN" sz="1875">
                <a:solidFill>
                  <a:srgbClr val="F1F5E9"/>
                </a:solidFill>
                <a:latin typeface="Arial"/>
                <a:ea typeface="Arial"/>
              </a:rPr>
              <a:t>Products, services or cash? What quantity,
what deadline, and what is still unconfirmed?</a:t>
            </a:r>
            <a:endParaRPr lang="zh-CN" sz="1875">
              <a:solidFill>
                <a:srgbClr val="F1F5E9"/>
              </a:solidFill>
              <a:latin typeface="Arial"/>
              <a:ea typeface="Arial"/>
            </a:endParaRPr>
          </a:p>
        </p:txBody>
      </p:sp>
      <p:sp>
        <p:nvSpPr>
          <p:cNvPr id="23" name="" descr="{&quot;isTemplate&quot;:true,&quot;type&quot;:&quot;text&quot;}"/>
          <p:cNvSpPr txBox="1"/>
          <p:nvPr/>
        </p:nvSpPr>
        <p:spPr>
          <a:xfrm rot="0" flipH="0" flipV="0">
            <a:off x="4457700" y="3048000"/>
            <a:ext cx="7162800" cy="333375"/>
          </a:xfrm>
          <a:prstGeom prst="rect"/>
        </p:spPr>
        <p:txBody>
          <a:bodyPr wrap="none" lIns="0" tIns="0" rIns="0" bIns="0"/>
          <a:p>
            <a:pPr>
              <a:lnSpc>
                <a:spcPct val="100000"/>
              </a:lnSpc>
            </a:pPr>
            <a:r>
              <a:rPr lang="en-US" sz="2175" b="1">
                <a:solidFill>
                  <a:srgbClr val="DADADA"/>
                </a:solidFill>
                <a:latin typeface="Arial"/>
                <a:ea typeface="Arial"/>
              </a:rPr>
              <a:t>02  Explain authorised sponsor benefits</a:t>
            </a:r>
            <a:endParaRPr lang="en-US" sz="2175" b="1">
              <a:solidFill>
                <a:srgbClr val="DADADA"/>
              </a:solidFill>
              <a:latin typeface="Arial"/>
              <a:ea typeface="Arial"/>
            </a:endParaRPr>
          </a:p>
        </p:txBody>
      </p:sp>
      <p:sp>
        <p:nvSpPr>
          <p:cNvPr id="24" name="" descr="{&quot;isTemplate&quot;:true,&quot;type&quot;:&quot;text&quot;}"/>
          <p:cNvSpPr txBox="1"/>
          <p:nvPr/>
        </p:nvSpPr>
        <p:spPr>
          <a:xfrm rot="0" flipH="0" flipV="0">
            <a:off x="4457700" y="3476625"/>
            <a:ext cx="7162800" cy="800100"/>
          </a:xfrm>
          <a:prstGeom prst="rect"/>
        </p:spPr>
        <p:txBody>
          <a:bodyPr wrap="none" lIns="0" tIns="0" rIns="0" bIns="0"/>
          <a:p>
            <a:pPr>
              <a:lnSpc>
                <a:spcPct val="140000"/>
              </a:lnSpc>
            </a:pPr>
            <a:r>
              <a:rPr lang="zh-CN" sz="1875">
                <a:solidFill>
                  <a:srgbClr val="F1F5E9"/>
                </a:solidFill>
                <a:latin typeface="Arial"/>
                <a:ea typeface="Arial"/>
              </a:rPr>
              <a:t>Use organiser-stated benefits, with source evidence.
Do not invent sponsor rights or endorsement.</a:t>
            </a:r>
            <a:endParaRPr lang="zh-CN" sz="1875">
              <a:solidFill>
                <a:srgbClr val="F1F5E9"/>
              </a:solidFill>
              <a:latin typeface="Arial"/>
              <a:ea typeface="Arial"/>
            </a:endParaRPr>
          </a:p>
        </p:txBody>
      </p:sp>
      <p:sp>
        <p:nvSpPr>
          <p:cNvPr id="25" name="" descr="{&quot;isTemplate&quot;:true,&quot;type&quot;:&quot;text&quot;}"/>
          <p:cNvSpPr txBox="1"/>
          <p:nvPr/>
        </p:nvSpPr>
        <p:spPr>
          <a:xfrm rot="0" flipH="0" flipV="0">
            <a:off x="4457700" y="4572000"/>
            <a:ext cx="7162800" cy="333375"/>
          </a:xfrm>
          <a:prstGeom prst="rect"/>
        </p:spPr>
        <p:txBody>
          <a:bodyPr wrap="none" lIns="0" tIns="0" rIns="0" bIns="0"/>
          <a:p>
            <a:pPr>
              <a:lnSpc>
                <a:spcPct val="100000"/>
              </a:lnSpc>
            </a:pPr>
            <a:r>
              <a:rPr lang="zh-CN" sz="2175" b="1">
                <a:solidFill>
                  <a:srgbClr val="DADADA"/>
                </a:solidFill>
                <a:latin typeface="Arial"/>
                <a:ea typeface="Arial"/>
              </a:rPr>
              <a:t>03  Create reviewable sponsorship cards</a:t>
            </a:r>
            <a:endParaRPr lang="zh-CN" sz="2175" b="1">
              <a:solidFill>
                <a:srgbClr val="DADADA"/>
              </a:solidFill>
              <a:latin typeface="Arial"/>
              <a:ea typeface="Arial"/>
            </a:endParaRPr>
          </a:p>
        </p:txBody>
      </p:sp>
      <p:sp>
        <p:nvSpPr>
          <p:cNvPr id="26" name="" descr="{&quot;isTemplate&quot;:true,&quot;type&quot;:&quot;text&quot;}"/>
          <p:cNvSpPr txBox="1"/>
          <p:nvPr/>
        </p:nvSpPr>
        <p:spPr>
          <a:xfrm rot="0" flipH="0" flipV="0">
            <a:off x="4457700" y="5000625"/>
            <a:ext cx="7162800" cy="800100"/>
          </a:xfrm>
          <a:prstGeom prst="rect"/>
        </p:spPr>
        <p:txBody>
          <a:bodyPr wrap="none" lIns="0" tIns="0" rIns="0" bIns="0"/>
          <a:p>
            <a:pPr>
              <a:lnSpc>
                <a:spcPct val="140000"/>
              </a:lnSpc>
            </a:pPr>
            <a:r>
              <a:rPr lang="zh-CN" sz="1875">
                <a:solidFill>
                  <a:srgbClr val="F1F5E9"/>
                </a:solidFill>
                <a:latin typeface="Arial"/>
                <a:ea typeface="Arial"/>
              </a:rPr>
              <a:t>Turn the answers into saved drafts with
contributions, timing and outstanding conditions.</a:t>
            </a:r>
            <a:endParaRPr lang="zh-CN" sz="1875">
              <a:solidFill>
                <a:srgbClr val="F1F5E9"/>
              </a:solidFill>
              <a:latin typeface="Arial"/>
              <a:ea typeface="Arial"/>
            </a:endParaRPr>
          </a:p>
        </p:txBody>
      </p:sp>
      <p:sp>
        <p:nvSpPr>
          <p:cNvPr id="27" name="" descr="{&quot;isTemplate&quot;:true,&quot;type&quot;:&quot;text&quot;}"/>
          <p:cNvSpPr txBox="1"/>
          <p:nvPr/>
        </p:nvSpPr>
        <p:spPr>
          <a:xfrm rot="0" flipH="0" flipV="0">
            <a:off x="571500" y="6391275"/>
            <a:ext cx="4191000" cy="171450"/>
          </a:xfrm>
          <a:prstGeom prst="rect"/>
        </p:spPr>
        <p:txBody>
          <a:bodyPr wrap="none" lIns="0" tIns="0" rIns="0" bIns="0"/>
          <a:p>
            <a:pPr>
              <a:lnSpc>
                <a:spcPct val="100000"/>
              </a:lnSpc>
            </a:pPr>
            <a:r>
              <a:rPr lang="en-US" sz="1125">
                <a:solidFill>
                  <a:srgbClr val="F1F5E9"/>
                </a:solidFill>
                <a:latin typeface="Arial"/>
                <a:ea typeface="Arial"/>
              </a:rPr>
              <a:t>Problem framing only · No market statistics or user-research claim</a:t>
            </a:r>
            <a:endParaRPr/>
          </a:p>
        </p:txBody>
      </p:sp>
      <p:sp>
        <p:nvSpPr>
          <p:cNvPr id="28"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02 / 06</a:t>
            </a:r>
            <a:endParaRPr/>
          </a:p>
        </p:txBody>
      </p:sp>
      <p:pic>
        <p:nvPicPr>
          <p:cNvPr id="29" name=""/>
          <p:cNvPicPr/>
          <p:nvPr/>
        </p:nvPicPr>
        <p:blipFill>
          <a:blip r:embed="rId2"/>
          <a:stretch/>
        </p:blipFill>
        <p:spPr>
          <a:xfrm>
            <a:off x="11607800" y="228600"/>
            <a:ext cx="381000" cy="381000"/>
          </a:xfrm>
          <a:prstGeom prst="rect"/>
        </p:spPr>
      </p:pic>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30" name=""/>
        <p:cNvGrpSpPr/>
        <p:nvPr/>
      </p:nvGrpSpPr>
      <p:grpSpPr>
        <a:xfrm>
          <a:off x="0" y="0"/>
          <a:ext cx="0" cy="0"/>
          <a:chOff x="0" y="0"/>
          <a:chExt cx="0" cy="0"/>
        </a:xfrm>
      </p:grpSpPr>
      <p:sp>
        <p:nvSpPr>
          <p:cNvPr id="31" name=""/>
          <p:cNvSpPr/>
          <p:nvPr/>
        </p:nvSpPr>
        <p:spPr>
          <a:xfrm rot="0" flipH="0" flipV="0">
            <a:off x="0" y="0"/>
            <a:ext cx="12192000" cy="6858000"/>
          </a:xfrm>
          <a:prstGeom prst="rect">
            <a:avLst/>
          </a:prstGeom>
          <a:solidFill>
            <a:srgbClr val="202020">
              <a:alpha val="100000"/>
            </a:srgbClr>
          </a:solidFill>
          <a:ln/>
        </p:spPr>
        <p:txBody>
          <a:bodyPr/>
          <a:p>
            <a:pPr/>
            <a:endParaRPr/>
          </a:p>
        </p:txBody>
      </p:sp>
      <p:sp>
        <p:nvSpPr>
          <p:cNvPr id="32"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DADADA"/>
                </a:solidFill>
                <a:latin typeface="Arial"/>
                <a:ea typeface="Arial"/>
              </a:rPr>
              <a:t>SIMPLIFIED DRAFTING INTERFACE</a:t>
            </a:r>
            <a:endParaRPr lang="zh-CN" sz="1350">
              <a:solidFill>
                <a:srgbClr val="DADADA"/>
              </a:solidFill>
              <a:latin typeface="Arial"/>
              <a:ea typeface="Arial"/>
            </a:endParaRPr>
          </a:p>
        </p:txBody>
      </p:sp>
      <p:sp>
        <p:nvSpPr>
          <p:cNvPr id="33"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850" b="1">
                <a:solidFill>
                  <a:srgbClr val="F1F5E9"/>
                </a:solidFill>
                <a:latin typeface="Arial"/>
                <a:ea typeface="Arial"/>
              </a:rPr>
              <a:t>Prepare questions first. Draft cards after answers.</a:t>
            </a:r>
            <a:endParaRPr lang="zh-CN" sz="2850" b="1">
              <a:solidFill>
                <a:srgbClr val="F1F5E9"/>
              </a:solidFill>
              <a:latin typeface="Arial"/>
              <a:ea typeface="Arial"/>
            </a:endParaRPr>
          </a:p>
        </p:txBody>
      </p:sp>
      <p:sp>
        <p:nvSpPr>
          <p:cNvPr id="34" name="" descr="{&quot;isTemplate&quot;:true,&quot;type&quot;:&quot;text&quot;}"/>
          <p:cNvSpPr txBox="1"/>
          <p:nvPr/>
        </p:nvSpPr>
        <p:spPr>
          <a:xfrm rot="0" flipH="0" flipV="0">
            <a:off x="571500" y="6391275"/>
            <a:ext cx="4086225" cy="171450"/>
          </a:xfrm>
          <a:prstGeom prst="rect"/>
        </p:spPr>
        <p:txBody>
          <a:bodyPr wrap="none" lIns="0" tIns="0" rIns="0" bIns="0"/>
          <a:p>
            <a:pPr>
              <a:lnSpc>
                <a:spcPct val="100000"/>
              </a:lnSpc>
            </a:pPr>
            <a:r>
              <a:rPr lang="zh-CN" sz="1125">
                <a:solidFill>
                  <a:srgbClr val="F1F5E9"/>
                </a:solidFill>
                <a:latin typeface="Arial"/>
                <a:ea typeface="Arial"/>
              </a:rPr>
              <a:t>Explicit runs · Saving answers alone does not start AI</a:t>
            </a:r>
            <a:endParaRPr lang="zh-CN" sz="1125">
              <a:solidFill>
                <a:srgbClr val="F1F5E9"/>
              </a:solidFill>
              <a:latin typeface="Arial"/>
              <a:ea typeface="Arial"/>
            </a:endParaRPr>
          </a:p>
        </p:txBody>
      </p:sp>
      <p:sp>
        <p:nvSpPr>
          <p:cNvPr id="35"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03 / 06</a:t>
            </a:r>
            <a:endParaRPr/>
          </a:p>
        </p:txBody>
      </p:sp>
      <p:sp>
        <p:nvSpPr>
          <p:cNvPr id="36" name=""/>
          <p:cNvSpPr/>
          <p:nvPr/>
        </p:nvSpPr>
        <p:spPr>
          <a:xfrm>
            <a:off x="571500" y="4000500"/>
            <a:ext cx="3429000" cy="1917700"/>
          </a:xfrm>
          <a:prstGeom prst="roundRect">
            <a:avLst>
              <a:gd name="adj" fmla="val 4376"/>
            </a:avLst>
          </a:prstGeom>
          <a:solidFill>
            <a:srgbClr val="303030">
              <a:alpha val="100000"/>
            </a:srgbClr>
          </a:solidFill>
          <a:ln>
            <a:noFill/>
          </a:ln>
        </p:spPr>
        <p:txBody>
          <a:bodyPr/>
          <a:p>
            <a:pPr/>
            <a:endParaRPr/>
          </a:p>
        </p:txBody>
      </p:sp>
      <p:sp>
        <p:nvSpPr>
          <p:cNvPr id="37" name=""/>
          <p:cNvSpPr/>
          <p:nvPr/>
        </p:nvSpPr>
        <p:spPr>
          <a:xfrm>
            <a:off x="4381500" y="4000500"/>
            <a:ext cx="3429000" cy="1917700"/>
          </a:xfrm>
          <a:prstGeom prst="roundRect">
            <a:avLst>
              <a:gd name="adj" fmla="val 4376"/>
            </a:avLst>
          </a:prstGeom>
          <a:solidFill>
            <a:srgbClr val="303030">
              <a:alpha val="100000"/>
            </a:srgbClr>
          </a:solidFill>
          <a:ln>
            <a:noFill/>
          </a:ln>
        </p:spPr>
        <p:txBody>
          <a:bodyPr/>
          <a:p>
            <a:pPr/>
            <a:endParaRPr/>
          </a:p>
        </p:txBody>
      </p:sp>
      <p:sp>
        <p:nvSpPr>
          <p:cNvPr id="38" name=""/>
          <p:cNvSpPr/>
          <p:nvPr/>
        </p:nvSpPr>
        <p:spPr>
          <a:xfrm>
            <a:off x="8191500" y="4000500"/>
            <a:ext cx="3429000" cy="1917700"/>
          </a:xfrm>
          <a:prstGeom prst="roundRect">
            <a:avLst>
              <a:gd name="adj" fmla="val 4376"/>
            </a:avLst>
          </a:prstGeom>
          <a:solidFill>
            <a:srgbClr val="303030">
              <a:alpha val="100000"/>
            </a:srgbClr>
          </a:solidFill>
          <a:ln>
            <a:noFill/>
          </a:ln>
        </p:spPr>
        <p:txBody>
          <a:bodyPr/>
          <a:p>
            <a:pPr/>
            <a:endParaRPr/>
          </a:p>
        </p:txBody>
      </p:sp>
      <p:sp>
        <p:nvSpPr>
          <p:cNvPr id="39" name=""/>
          <p:cNvSpPr/>
          <p:nvPr/>
        </p:nvSpPr>
        <p:spPr>
          <a:xfrm>
            <a:off x="787400" y="4203700"/>
            <a:ext cx="2997200" cy="317500"/>
          </a:xfrm>
          <a:prstGeom prst="rect">
            <a:avLst/>
          </a:prstGeom>
          <a:noFill/>
          <a:ln>
            <a:noFill/>
          </a:ln>
        </p:spPr>
        <p:txBody>
          <a:bodyPr/>
          <a:p>
            <a:pPr/>
            <a:r>
              <a:rPr lang="zh-CN" sz="2100">
                <a:solidFill>
                  <a:srgbClr val="DADADA"/>
                </a:solidFill>
                <a:latin typeface="Arial"/>
                <a:ea typeface="Arial"/>
              </a:rPr>
              <a:t>01  First run</a:t>
            </a:r>
            <a:endParaRPr lang="zh-CN" sz="2100">
              <a:solidFill>
                <a:srgbClr val="DADADA"/>
              </a:solidFill>
              <a:latin typeface="Arial"/>
              <a:ea typeface="Arial"/>
            </a:endParaRPr>
          </a:p>
        </p:txBody>
      </p:sp>
      <p:sp>
        <p:nvSpPr>
          <p:cNvPr id="40" name=""/>
          <p:cNvSpPr/>
          <p:nvPr/>
        </p:nvSpPr>
        <p:spPr>
          <a:xfrm>
            <a:off x="787400" y="4686300"/>
            <a:ext cx="2997200" cy="977900"/>
          </a:xfrm>
          <a:prstGeom prst="rect">
            <a:avLst/>
          </a:prstGeom>
          <a:noFill/>
          <a:ln>
            <a:noFill/>
          </a:ln>
        </p:spPr>
        <p:txBody>
          <a:bodyPr/>
          <a:p>
            <a:pPr/>
            <a:r>
              <a:rPr lang="zh-CN" sz="1800">
                <a:solidFill>
                  <a:srgbClr val="F1F5E9"/>
                </a:solidFill>
                <a:latin typeface="Arial"/>
                <a:ea typeface="Arial"/>
              </a:rPr>
              <a:t>Reads the proposal and goal.
Prepares details and
clarification questions.</a:t>
            </a:r>
            <a:endParaRPr/>
          </a:p>
        </p:txBody>
      </p:sp>
      <p:sp>
        <p:nvSpPr>
          <p:cNvPr id="41" name=""/>
          <p:cNvSpPr/>
          <p:nvPr/>
        </p:nvSpPr>
        <p:spPr>
          <a:xfrm>
            <a:off x="4597400" y="4203700"/>
            <a:ext cx="2997200" cy="317500"/>
          </a:xfrm>
          <a:prstGeom prst="rect">
            <a:avLst/>
          </a:prstGeom>
          <a:noFill/>
          <a:ln>
            <a:noFill/>
          </a:ln>
        </p:spPr>
        <p:txBody>
          <a:bodyPr/>
          <a:p>
            <a:pPr/>
            <a:r>
              <a:rPr lang="zh-CN" sz="2100">
                <a:solidFill>
                  <a:srgbClr val="DADADA"/>
                </a:solidFill>
                <a:latin typeface="Arial"/>
                <a:ea typeface="Arial"/>
              </a:rPr>
              <a:t>02  Organiser answers</a:t>
            </a:r>
            <a:endParaRPr lang="zh-CN" sz="2100">
              <a:solidFill>
                <a:srgbClr val="DADADA"/>
              </a:solidFill>
              <a:latin typeface="Arial"/>
              <a:ea typeface="Arial"/>
            </a:endParaRPr>
          </a:p>
        </p:txBody>
      </p:sp>
      <p:sp>
        <p:nvSpPr>
          <p:cNvPr id="42" name=""/>
          <p:cNvSpPr/>
          <p:nvPr/>
        </p:nvSpPr>
        <p:spPr>
          <a:xfrm>
            <a:off x="4597400" y="4686300"/>
            <a:ext cx="2997200" cy="977900"/>
          </a:xfrm>
          <a:prstGeom prst="rect">
            <a:avLst/>
          </a:prstGeom>
          <a:noFill/>
          <a:ln>
            <a:noFill/>
          </a:ln>
        </p:spPr>
        <p:txBody>
          <a:bodyPr/>
          <a:p>
            <a:pPr/>
            <a:r>
              <a:rPr lang="zh-CN" sz="1800">
                <a:solidFill>
                  <a:srgbClr val="F1F5E9"/>
                </a:solidFill>
                <a:latin typeface="Arial"/>
                <a:ea typeface="Arial"/>
              </a:rPr>
              <a:t>Save the supplied answers.
Unknowns remain unconfirmed.
No automatic second run.</a:t>
            </a:r>
            <a:endParaRPr/>
          </a:p>
        </p:txBody>
      </p:sp>
      <p:sp>
        <p:nvSpPr>
          <p:cNvPr id="43" name=""/>
          <p:cNvSpPr/>
          <p:nvPr/>
        </p:nvSpPr>
        <p:spPr>
          <a:xfrm>
            <a:off x="8407400" y="4203700"/>
            <a:ext cx="2997200" cy="317500"/>
          </a:xfrm>
          <a:prstGeom prst="rect">
            <a:avLst/>
          </a:prstGeom>
          <a:noFill/>
          <a:ln>
            <a:noFill/>
          </a:ln>
        </p:spPr>
        <p:txBody>
          <a:bodyPr/>
          <a:p>
            <a:pPr/>
            <a:r>
              <a:rPr lang="zh-CN" sz="2100">
                <a:solidFill>
                  <a:srgbClr val="DADADA"/>
                </a:solidFill>
                <a:latin typeface="Arial"/>
                <a:ea typeface="Arial"/>
              </a:rPr>
              <a:t>03  Later explicit run</a:t>
            </a:r>
            <a:endParaRPr lang="zh-CN" sz="2100">
              <a:solidFill>
                <a:srgbClr val="DADADA"/>
              </a:solidFill>
              <a:latin typeface="Arial"/>
              <a:ea typeface="Arial"/>
            </a:endParaRPr>
          </a:p>
        </p:txBody>
      </p:sp>
      <p:sp>
        <p:nvSpPr>
          <p:cNvPr id="44" name=""/>
          <p:cNvSpPr/>
          <p:nvPr/>
        </p:nvSpPr>
        <p:spPr>
          <a:xfrm>
            <a:off x="8407400" y="4686300"/>
            <a:ext cx="2997200" cy="977900"/>
          </a:xfrm>
          <a:prstGeom prst="rect">
            <a:avLst/>
          </a:prstGeom>
          <a:noFill/>
          <a:ln>
            <a:noFill/>
          </a:ln>
        </p:spPr>
        <p:txBody>
          <a:bodyPr/>
          <a:p>
            <a:pPr/>
            <a:r>
              <a:rPr lang="zh-CN" sz="1800">
                <a:solidFill>
                  <a:srgbClr val="F1F5E9"/>
                </a:solidFill>
                <a:latin typeface="Arial"/>
                <a:ea typeface="Arial"/>
              </a:rPr>
              <a:t>Draft source-linked cards.
Organiser edits and reviews.
Review is not approval.</a:t>
            </a:r>
            <a:endParaRPr/>
          </a:p>
        </p:txBody>
      </p:sp>
      <p:pic>
        <p:nvPicPr>
          <p:cNvPr id="45" name=""/>
          <p:cNvPicPr/>
          <p:nvPr/>
        </p:nvPicPr>
        <p:blipFill>
          <a:blip r:embed="rId2"/>
          <a:stretch/>
        </p:blipFill>
        <p:spPr>
          <a:xfrm>
            <a:off x="571500" y="1371600"/>
            <a:ext cx="9017858" cy="2362200"/>
          </a:xfrm>
          <a:prstGeom prst="rect"/>
        </p:spPr>
      </p:pic>
      <p:pic>
        <p:nvPicPr>
          <p:cNvPr id="46" name=""/>
          <p:cNvPicPr/>
          <p:nvPr/>
        </p:nvPicPr>
        <p:blipFill>
          <a:blip r:embed="rId3"/>
          <a:stretch/>
        </p:blipFill>
        <p:spPr>
          <a:xfrm>
            <a:off x="11607800" y="228600"/>
            <a:ext cx="381000" cy="381000"/>
          </a:xfrm>
          <a:prstGeom prst="rect"/>
        </p:spPr>
      </p:pic>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47" name=""/>
        <p:cNvGrpSpPr/>
        <p:nvPr/>
      </p:nvGrpSpPr>
      <p:grpSpPr>
        <a:xfrm>
          <a:off x="0" y="0"/>
          <a:ext cx="0" cy="0"/>
          <a:chOff x="0" y="0"/>
          <a:chExt cx="0" cy="0"/>
        </a:xfrm>
      </p:grpSpPr>
      <p:sp>
        <p:nvSpPr>
          <p:cNvPr id="48" name=""/>
          <p:cNvSpPr/>
          <p:nvPr/>
        </p:nvSpPr>
        <p:spPr>
          <a:xfrm rot="0" flipH="0" flipV="0">
            <a:off x="0" y="0"/>
            <a:ext cx="12192000" cy="6858000"/>
          </a:xfrm>
          <a:prstGeom prst="rect">
            <a:avLst/>
          </a:prstGeom>
          <a:solidFill>
            <a:srgbClr val="202020">
              <a:alpha val="100000"/>
            </a:srgbClr>
          </a:solidFill>
          <a:ln/>
        </p:spPr>
        <p:txBody>
          <a:bodyPr/>
          <a:p>
            <a:pPr/>
            <a:endParaRPr/>
          </a:p>
        </p:txBody>
      </p:sp>
      <p:sp>
        <p:nvSpPr>
          <p:cNvPr id="49"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DADADA"/>
                </a:solidFill>
                <a:latin typeface="Arial"/>
                <a:ea typeface="Arial"/>
              </a:rPr>
              <a:t>SAVED FICTIONAL CAMPUS SUSTAINABILITY FAIR</a:t>
            </a:r>
            <a:endParaRPr lang="zh-CN" sz="1350">
              <a:solidFill>
                <a:srgbClr val="DADADA"/>
              </a:solidFill>
              <a:latin typeface="Arial"/>
              <a:ea typeface="Arial"/>
            </a:endParaRPr>
          </a:p>
        </p:txBody>
      </p:sp>
      <p:sp>
        <p:nvSpPr>
          <p:cNvPr id="50"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850" b="1">
                <a:solidFill>
                  <a:srgbClr val="F1F5E9"/>
                </a:solidFill>
                <a:latin typeface="Arial"/>
                <a:ea typeface="Arial"/>
              </a:rPr>
              <a:t>Two in-kind cards. Unknowns stay unconfirmed.</a:t>
            </a:r>
            <a:endParaRPr lang="zh-CN" sz="2850" b="1">
              <a:solidFill>
                <a:srgbClr val="F1F5E9"/>
              </a:solidFill>
              <a:latin typeface="Arial"/>
              <a:ea typeface="Arial"/>
            </a:endParaRPr>
          </a:p>
        </p:txBody>
      </p:sp>
      <p:sp>
        <p:nvSpPr>
          <p:cNvPr id="51" name="" descr="{&quot;isTemplate&quot;:true,&quot;type&quot;:&quot;text&quot;}"/>
          <p:cNvSpPr txBox="1"/>
          <p:nvPr/>
        </p:nvSpPr>
        <p:spPr>
          <a:xfrm rot="0" flipH="0" flipV="0">
            <a:off x="571500" y="6391275"/>
            <a:ext cx="4371975" cy="171450"/>
          </a:xfrm>
          <a:prstGeom prst="rect"/>
        </p:spPr>
        <p:txBody>
          <a:bodyPr wrap="none" lIns="0" tIns="0" rIns="0" bIns="0"/>
          <a:p>
            <a:pPr>
              <a:lnSpc>
                <a:spcPct val="100000"/>
              </a:lnSpc>
            </a:pPr>
            <a:r>
              <a:rPr lang="zh-CN" sz="1100">
                <a:solidFill>
                  <a:srgbClr val="F1F5E9"/>
                </a:solidFill>
                <a:latin typeface="Arial"/>
                <a:ea typeface="Arial"/>
              </a:rPr>
              <a:t>Recovered live CodeBuddy content · Validated and saved · Not a fresh live run</a:t>
            </a:r>
            <a:endParaRPr lang="zh-CN" sz="1100">
              <a:solidFill>
                <a:srgbClr val="F1F5E9"/>
              </a:solidFill>
              <a:latin typeface="Arial"/>
              <a:ea typeface="Arial"/>
            </a:endParaRPr>
          </a:p>
        </p:txBody>
      </p:sp>
      <p:sp>
        <p:nvSpPr>
          <p:cNvPr id="52"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04 / 06</a:t>
            </a:r>
            <a:endParaRPr/>
          </a:p>
        </p:txBody>
      </p:sp>
      <p:sp>
        <p:nvSpPr>
          <p:cNvPr id="53" name=""/>
          <p:cNvSpPr/>
          <p:nvPr/>
        </p:nvSpPr>
        <p:spPr>
          <a:xfrm>
            <a:off x="7874000" y="1384300"/>
            <a:ext cx="3746500" cy="635000"/>
          </a:xfrm>
          <a:prstGeom prst="rect">
            <a:avLst/>
          </a:prstGeom>
          <a:noFill/>
          <a:ln>
            <a:noFill/>
          </a:ln>
        </p:spPr>
        <p:txBody>
          <a:bodyPr/>
          <a:p>
            <a:pPr/>
            <a:r>
              <a:rPr lang="zh-CN" sz="2200">
                <a:solidFill>
                  <a:srgbClr val="DADADA"/>
                </a:solidFill>
                <a:latin typeface="Arial"/>
                <a:ea typeface="Arial"/>
              </a:rPr>
              <a:t>Reusable bottles +
repair-workshop materials</a:t>
            </a:r>
            <a:endParaRPr lang="zh-CN" sz="2200">
              <a:solidFill>
                <a:srgbClr val="DADADA"/>
              </a:solidFill>
              <a:latin typeface="Arial"/>
              <a:ea typeface="Arial"/>
            </a:endParaRPr>
          </a:p>
        </p:txBody>
      </p:sp>
      <p:sp>
        <p:nvSpPr>
          <p:cNvPr id="54" name=""/>
          <p:cNvSpPr/>
          <p:nvPr/>
        </p:nvSpPr>
        <p:spPr>
          <a:xfrm>
            <a:off x="7874000" y="2260600"/>
            <a:ext cx="3746500" cy="304800"/>
          </a:xfrm>
          <a:prstGeom prst="rect">
            <a:avLst/>
          </a:prstGeom>
          <a:noFill/>
          <a:ln>
            <a:noFill/>
          </a:ln>
        </p:spPr>
        <p:txBody>
          <a:bodyPr/>
          <a:p>
            <a:pPr/>
            <a:r>
              <a:rPr lang="zh-CN" sz="1700">
                <a:solidFill>
                  <a:srgbClr val="DADADA"/>
                </a:solidFill>
                <a:latin typeface="Arial"/>
                <a:ea typeface="Arial"/>
              </a:rPr>
              <a:t>Organiser-stated draft benefits</a:t>
            </a:r>
            <a:endParaRPr lang="zh-CN" sz="1700">
              <a:solidFill>
                <a:srgbClr val="DADADA"/>
              </a:solidFill>
              <a:latin typeface="Arial"/>
              <a:ea typeface="Arial"/>
            </a:endParaRPr>
          </a:p>
        </p:txBody>
      </p:sp>
      <p:sp>
        <p:nvSpPr>
          <p:cNvPr id="55" name=""/>
          <p:cNvSpPr/>
          <p:nvPr/>
        </p:nvSpPr>
        <p:spPr>
          <a:xfrm>
            <a:off x="7874000" y="2679700"/>
            <a:ext cx="3746500" cy="927100"/>
          </a:xfrm>
          <a:prstGeom prst="rect">
            <a:avLst/>
          </a:prstGeom>
          <a:noFill/>
          <a:ln>
            <a:noFill/>
          </a:ln>
        </p:spPr>
        <p:txBody>
          <a:bodyPr/>
          <a:p>
            <a:pPr/>
            <a:r>
              <a:rPr lang="zh-CN" sz="1900">
                <a:solidFill>
                  <a:srgbClr val="F1F5E9"/>
                </a:solidFill>
                <a:latin typeface="Arial"/>
                <a:ea typeface="Arial"/>
              </a:rPr>
              <a:t>Logo on the event page.
Verbal thank-you during
opening remarks.</a:t>
            </a:r>
            <a:endParaRPr/>
          </a:p>
        </p:txBody>
      </p:sp>
      <p:sp>
        <p:nvSpPr>
          <p:cNvPr id="56" name=""/>
          <p:cNvSpPr/>
          <p:nvPr/>
        </p:nvSpPr>
        <p:spPr>
          <a:xfrm>
            <a:off x="7874000" y="3835400"/>
            <a:ext cx="3746500" cy="317500"/>
          </a:xfrm>
          <a:prstGeom prst="rect">
            <a:avLst/>
          </a:prstGeom>
          <a:noFill/>
          <a:ln>
            <a:noFill/>
          </a:ln>
        </p:spPr>
        <p:txBody>
          <a:bodyPr/>
          <a:p>
            <a:pPr/>
            <a:r>
              <a:rPr lang="zh-CN" sz="1800">
                <a:solidFill>
                  <a:srgbClr val="DADADA"/>
                </a:solidFill>
                <a:latin typeface="Arial"/>
                <a:ea typeface="Arial"/>
              </a:rPr>
              <a:t>Still unconfirmed</a:t>
            </a:r>
            <a:endParaRPr lang="zh-CN" sz="1800">
              <a:solidFill>
                <a:srgbClr val="DADADA"/>
              </a:solidFill>
              <a:latin typeface="Arial"/>
              <a:ea typeface="Arial"/>
            </a:endParaRPr>
          </a:p>
        </p:txBody>
      </p:sp>
      <p:sp>
        <p:nvSpPr>
          <p:cNvPr id="57" name=""/>
          <p:cNvSpPr/>
          <p:nvPr/>
        </p:nvSpPr>
        <p:spPr>
          <a:xfrm>
            <a:off x="7874000" y="4279900"/>
            <a:ext cx="3746500" cy="1422400"/>
          </a:xfrm>
          <a:prstGeom prst="rect">
            <a:avLst/>
          </a:prstGeom>
          <a:noFill/>
          <a:ln>
            <a:noFill/>
          </a:ln>
        </p:spPr>
        <p:txBody>
          <a:bodyPr/>
          <a:p>
            <a:pPr/>
            <a:r>
              <a:rPr lang="zh-CN" sz="1800">
                <a:solidFill>
                  <a:srgbClr val="F1F5E9"/>
                </a:solidFill>
                <a:latin typeface="Arial"/>
                <a:ea typeface="Arial"/>
              </a:rPr>
              <a:t>Items / quantities and timing.
Venue and event permissions.
Both cards await content review.
No sponsor acceptance.</a:t>
            </a:r>
            <a:endParaRPr/>
          </a:p>
        </p:txBody>
      </p:sp>
      <p:pic>
        <p:nvPicPr>
          <p:cNvPr id="58" name=""/>
          <p:cNvPicPr/>
          <p:nvPr/>
        </p:nvPicPr>
        <p:blipFill>
          <a:blip r:embed="rId2"/>
          <a:stretch/>
        </p:blipFill>
        <p:spPr>
          <a:xfrm>
            <a:off x="571500" y="1295400"/>
            <a:ext cx="2934698" cy="4622800"/>
          </a:xfrm>
          <a:prstGeom prst="rect"/>
        </p:spPr>
      </p:pic>
      <p:pic>
        <p:nvPicPr>
          <p:cNvPr id="59" name=""/>
          <p:cNvPicPr/>
          <p:nvPr/>
        </p:nvPicPr>
        <p:blipFill>
          <a:blip r:embed="rId3"/>
          <a:stretch/>
        </p:blipFill>
        <p:spPr>
          <a:xfrm>
            <a:off x="4191000" y="1295400"/>
            <a:ext cx="2934698" cy="4622800"/>
          </a:xfrm>
          <a:prstGeom prst="rect"/>
        </p:spPr>
      </p:pic>
      <p:pic>
        <p:nvPicPr>
          <p:cNvPr id="60" name=""/>
          <p:cNvPicPr/>
          <p:nvPr/>
        </p:nvPicPr>
        <p:blipFill>
          <a:blip r:embed="rId4"/>
          <a:stretch/>
        </p:blipFill>
        <p:spPr>
          <a:xfrm>
            <a:off x="11607800" y="228600"/>
            <a:ext cx="381000" cy="381000"/>
          </a:xfrm>
          <a:prstGeom prst="rect"/>
        </p:spPr>
      </p:pic>
    </p:spTree>
  </p:cSl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61" name=""/>
        <p:cNvGrpSpPr/>
        <p:nvPr/>
      </p:nvGrpSpPr>
      <p:grpSpPr>
        <a:xfrm>
          <a:off x="0" y="0"/>
          <a:ext cx="0" cy="0"/>
          <a:chOff x="0" y="0"/>
          <a:chExt cx="0" cy="0"/>
        </a:xfrm>
      </p:grpSpPr>
      <p:sp>
        <p:nvSpPr>
          <p:cNvPr id="62" name=""/>
          <p:cNvSpPr/>
          <p:nvPr/>
        </p:nvSpPr>
        <p:spPr>
          <a:xfrm rot="0" flipH="0" flipV="0">
            <a:off x="0" y="0"/>
            <a:ext cx="12192000" cy="6858000"/>
          </a:xfrm>
          <a:prstGeom prst="rect">
            <a:avLst/>
          </a:prstGeom>
          <a:solidFill>
            <a:srgbClr val="202020">
              <a:alpha val="100000"/>
            </a:srgbClr>
          </a:solidFill>
          <a:ln/>
        </p:spPr>
        <p:txBody>
          <a:bodyPr/>
          <a:p>
            <a:pPr/>
            <a:endParaRPr/>
          </a:p>
        </p:txBody>
      </p:sp>
      <p:sp>
        <p:nvSpPr>
          <p:cNvPr id="63"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DADADA"/>
                </a:solidFill>
                <a:latin typeface="Arial"/>
                <a:ea typeface="Arial"/>
              </a:rPr>
              <a:t>IMPLEMENTATION, KEY HANDLING AND EVIDENCE</a:t>
            </a:r>
            <a:endParaRPr lang="zh-CN" sz="1350">
              <a:solidFill>
                <a:srgbClr val="DADADA"/>
              </a:solidFill>
              <a:latin typeface="Arial"/>
              <a:ea typeface="Arial"/>
            </a:endParaRPr>
          </a:p>
        </p:txBody>
      </p:sp>
      <p:sp>
        <p:nvSpPr>
          <p:cNvPr id="64"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700" b="1">
                <a:solidFill>
                  <a:srgbClr val="F1F5E9"/>
                </a:solidFill>
                <a:latin typeface="Arial"/>
                <a:ea typeface="Arial"/>
              </a:rPr>
              <a:t>Local records. Traceable drafts. Honest test limits.</a:t>
            </a:r>
            <a:endParaRPr lang="zh-CN" sz="2700" b="1">
              <a:solidFill>
                <a:srgbClr val="F1F5E9"/>
              </a:solidFill>
              <a:latin typeface="Arial"/>
              <a:ea typeface="Arial"/>
            </a:endParaRPr>
          </a:p>
        </p:txBody>
      </p:sp>
      <p:sp>
        <p:nvSpPr>
          <p:cNvPr id="65" name=""/>
          <p:cNvSpPr/>
          <p:nvPr/>
        </p:nvSpPr>
        <p:spPr>
          <a:xfrm rot="0" flipH="0" flipV="0">
            <a:off x="571500" y="1409700"/>
            <a:ext cx="6191250" cy="1952625"/>
          </a:xfrm>
          <a:prstGeom prst="rect">
            <a:avLst/>
          </a:prstGeom>
          <a:solidFill>
            <a:srgbClr val="303030">
              <a:alpha val="100000"/>
            </a:srgbClr>
          </a:solidFill>
          <a:ln/>
        </p:spPr>
        <p:txBody>
          <a:bodyPr/>
          <a:p>
            <a:pPr/>
            <a:endParaRPr/>
          </a:p>
        </p:txBody>
      </p:sp>
      <p:sp>
        <p:nvSpPr>
          <p:cNvPr id="66" name="" descr="{&quot;isTemplate&quot;:true,&quot;type&quot;:&quot;text&quot;}"/>
          <p:cNvSpPr txBox="1"/>
          <p:nvPr/>
        </p:nvSpPr>
        <p:spPr>
          <a:xfrm rot="0" flipH="0" flipV="0">
            <a:off x="800100" y="1638300"/>
            <a:ext cx="5734050" cy="323850"/>
          </a:xfrm>
          <a:prstGeom prst="rect"/>
        </p:spPr>
        <p:txBody>
          <a:bodyPr wrap="none" lIns="0" tIns="0" rIns="0" bIns="0"/>
          <a:p>
            <a:pPr>
              <a:lnSpc>
                <a:spcPct val="100000"/>
              </a:lnSpc>
            </a:pPr>
            <a:r>
              <a:rPr lang="zh-CN" sz="2100" b="1">
                <a:solidFill>
                  <a:srgbClr val="DADADA"/>
                </a:solidFill>
                <a:latin typeface="Arial"/>
                <a:ea typeface="Arial"/>
              </a:rPr>
              <a:t>Browser → Node → local backend data</a:t>
            </a:r>
            <a:endParaRPr lang="zh-CN" sz="2100" b="1">
              <a:solidFill>
                <a:srgbClr val="DADADA"/>
              </a:solidFill>
              <a:latin typeface="Arial"/>
              <a:ea typeface="Arial"/>
            </a:endParaRPr>
          </a:p>
        </p:txBody>
      </p:sp>
      <p:sp>
        <p:nvSpPr>
          <p:cNvPr id="67" name="" descr="{&quot;isTemplate&quot;:true,&quot;type&quot;:&quot;text&quot;}"/>
          <p:cNvSpPr txBox="1"/>
          <p:nvPr/>
        </p:nvSpPr>
        <p:spPr>
          <a:xfrm rot="0" flipH="0" flipV="0">
            <a:off x="800100" y="2076450"/>
            <a:ext cx="5734050" cy="1238250"/>
          </a:xfrm>
          <a:prstGeom prst="rect"/>
        </p:spPr>
        <p:txBody>
          <a:bodyPr wrap="none" lIns="0" tIns="0" rIns="0" bIns="0"/>
          <a:p>
            <a:pPr>
              <a:lnSpc>
                <a:spcPct val="150000"/>
              </a:lnSpc>
            </a:pPr>
            <a:r>
              <a:rPr lang="zh-CN" sz="1700">
                <a:solidFill>
                  <a:srgbClr val="F1F5E9"/>
                </a:solidFill>
                <a:latin typeface="Arial"/>
                <a:ea typeface="Arial"/>
              </a:rPr>
              <a:t>HTML / CSS / JavaScript + Node 22+
No runtime npm dependencies
Original inputs + numbered saved revisions</a:t>
            </a:r>
            <a:endParaRPr lang="zh-CN" sz="1700">
              <a:solidFill>
                <a:srgbClr val="F1F5E9"/>
              </a:solidFill>
              <a:latin typeface="Arial"/>
              <a:ea typeface="Arial"/>
            </a:endParaRPr>
          </a:p>
        </p:txBody>
      </p:sp>
      <p:sp>
        <p:nvSpPr>
          <p:cNvPr id="68" name="" descr="{&quot;isTemplate&quot;:true,&quot;type&quot;:&quot;text&quot;}"/>
          <p:cNvSpPr txBox="1"/>
          <p:nvPr/>
        </p:nvSpPr>
        <p:spPr>
          <a:xfrm rot="0" flipH="0" flipV="0">
            <a:off x="571500" y="3514725"/>
            <a:ext cx="6191250" cy="285750"/>
          </a:xfrm>
          <a:prstGeom prst="rect"/>
        </p:spPr>
        <p:txBody>
          <a:bodyPr wrap="none" lIns="0" tIns="0" rIns="0" bIns="0"/>
          <a:p>
            <a:pPr>
              <a:lnSpc>
                <a:spcPct val="100000"/>
              </a:lnSpc>
            </a:pPr>
            <a:r>
              <a:rPr lang="zh-CN" sz="1900" b="1">
                <a:solidFill>
                  <a:srgbClr val="DADADA"/>
                </a:solidFill>
                <a:latin typeface="Arial"/>
                <a:ea typeface="Arial"/>
              </a:rPr>
              <a:t>CodeBuddy key stays out of GitHub</a:t>
            </a:r>
            <a:endParaRPr lang="zh-CN" sz="1900" b="1">
              <a:solidFill>
                <a:srgbClr val="DADADA"/>
              </a:solidFill>
              <a:latin typeface="Arial"/>
              <a:ea typeface="Arial"/>
            </a:endParaRPr>
          </a:p>
        </p:txBody>
      </p:sp>
      <p:sp>
        <p:nvSpPr>
          <p:cNvPr id="69" name="" descr="{&quot;isTemplate&quot;:true,&quot;type&quot;:&quot;text&quot;}"/>
          <p:cNvSpPr txBox="1"/>
          <p:nvPr/>
        </p:nvSpPr>
        <p:spPr>
          <a:xfrm rot="0" flipH="0" flipV="0">
            <a:off x="571500" y="3952875"/>
            <a:ext cx="6191250" cy="742950"/>
          </a:xfrm>
          <a:prstGeom prst="rect"/>
        </p:spPr>
        <p:txBody>
          <a:bodyPr wrap="none" lIns="0" tIns="0" rIns="0" bIns="0"/>
          <a:p>
            <a:pPr>
              <a:lnSpc>
                <a:spcPct val="140000"/>
              </a:lnSpc>
            </a:pPr>
            <a:r>
              <a:rPr lang="zh-CN" sz="1600">
                <a:solidFill>
                  <a:srgbClr val="F1F5E9"/>
                </a:solidFill>
                <a:latin typeface="Arial"/>
                <a:ea typeface="Arial"/>
              </a:rPr>
              <a:t>Saved only at local data/.codebuddy-key.
Not returned to the browser; data/ is Git-ignored.</a:t>
            </a:r>
            <a:endParaRPr lang="zh-CN" sz="1600">
              <a:solidFill>
                <a:srgbClr val="F1F5E9"/>
              </a:solidFill>
              <a:latin typeface="Arial"/>
              <a:ea typeface="Arial"/>
            </a:endParaRPr>
          </a:p>
        </p:txBody>
      </p:sp>
      <p:sp>
        <p:nvSpPr>
          <p:cNvPr id="70" name="" descr="{&quot;isTemplate&quot;:true,&quot;type&quot;:&quot;text&quot;}"/>
          <p:cNvSpPr txBox="1"/>
          <p:nvPr/>
        </p:nvSpPr>
        <p:spPr>
          <a:xfrm rot="0" flipH="0" flipV="0">
            <a:off x="571500" y="4848225"/>
            <a:ext cx="6191250" cy="285750"/>
          </a:xfrm>
          <a:prstGeom prst="rect"/>
        </p:spPr>
        <p:txBody>
          <a:bodyPr wrap="none" lIns="0" tIns="0" rIns="0" bIns="0"/>
          <a:p>
            <a:pPr>
              <a:lnSpc>
                <a:spcPct val="100000"/>
              </a:lnSpc>
            </a:pPr>
            <a:r>
              <a:rPr lang="zh-CN" sz="1875" b="1">
                <a:solidFill>
                  <a:srgbClr val="DADADA"/>
                </a:solidFill>
                <a:latin typeface="Arial"/>
                <a:ea typeface="Arial"/>
              </a:rPr>
              <a:t>Review state follows content changes</a:t>
            </a:r>
            <a:endParaRPr lang="zh-CN" sz="1875" b="1">
              <a:solidFill>
                <a:srgbClr val="DADADA"/>
              </a:solidFill>
              <a:latin typeface="Arial"/>
              <a:ea typeface="Arial"/>
            </a:endParaRPr>
          </a:p>
        </p:txBody>
      </p:sp>
      <p:sp>
        <p:nvSpPr>
          <p:cNvPr id="71" name="" descr="{&quot;isTemplate&quot;:true,&quot;type&quot;:&quot;text&quot;}"/>
          <p:cNvSpPr txBox="1"/>
          <p:nvPr/>
        </p:nvSpPr>
        <p:spPr>
          <a:xfrm rot="0" flipH="0" flipV="0">
            <a:off x="571500" y="5286375"/>
            <a:ext cx="6191250" cy="742950"/>
          </a:xfrm>
          <a:prstGeom prst="rect"/>
        </p:spPr>
        <p:txBody>
          <a:bodyPr wrap="none" lIns="0" tIns="0" rIns="0" bIns="0"/>
          <a:p>
            <a:pPr>
              <a:lnSpc>
                <a:spcPct val="140000"/>
              </a:lnSpc>
            </a:pPr>
            <a:r>
              <a:rPr lang="zh-CN" sz="1600">
                <a:solidFill>
                  <a:srgbClr val="F1F5E9"/>
                </a:solidFill>
                <a:latin typeface="Arial"/>
                <a:ea typeface="Arial"/>
              </a:rPr>
              <a:t>Edit → clear the affected content review.
New answers → stale drafts + invalidated reviews.</a:t>
            </a:r>
            <a:endParaRPr lang="zh-CN" sz="1600">
              <a:solidFill>
                <a:srgbClr val="F1F5E9"/>
              </a:solidFill>
              <a:latin typeface="Arial"/>
              <a:ea typeface="Arial"/>
            </a:endParaRPr>
          </a:p>
        </p:txBody>
      </p:sp>
      <p:sp>
        <p:nvSpPr>
          <p:cNvPr id="72" name=""/>
          <p:cNvSpPr/>
          <p:nvPr/>
        </p:nvSpPr>
        <p:spPr>
          <a:xfrm rot="0" flipH="0" flipV="0">
            <a:off x="7162800" y="1362075"/>
            <a:ext cx="4457700" cy="2133600"/>
          </a:xfrm>
          <a:prstGeom prst="rect">
            <a:avLst/>
          </a:prstGeom>
          <a:solidFill>
            <a:srgbClr val="303030">
              <a:alpha val="100000"/>
            </a:srgbClr>
          </a:solidFill>
          <a:ln/>
        </p:spPr>
        <p:txBody>
          <a:bodyPr/>
          <a:p>
            <a:pPr/>
            <a:endParaRPr/>
          </a:p>
        </p:txBody>
      </p:sp>
      <p:sp>
        <p:nvSpPr>
          <p:cNvPr id="73" name="" descr="{&quot;isTemplate&quot;:true,&quot;type&quot;:&quot;text&quot;}"/>
          <p:cNvSpPr txBox="1"/>
          <p:nvPr/>
        </p:nvSpPr>
        <p:spPr>
          <a:xfrm rot="0" flipH="0" flipV="0">
            <a:off x="7315200" y="1514475"/>
            <a:ext cx="4152900" cy="800100"/>
          </a:xfrm>
          <a:prstGeom prst="rect"/>
        </p:spPr>
        <p:txBody>
          <a:bodyPr wrap="none" lIns="0" tIns="0" rIns="0" bIns="0"/>
          <a:p>
            <a:pPr>
              <a:lnSpc>
                <a:spcPct val="100000"/>
              </a:lnSpc>
            </a:pPr>
            <a:r>
              <a:rPr lang="zh-CN" sz="5250" b="1">
                <a:solidFill>
                  <a:srgbClr val="DADADA"/>
                </a:solidFill>
                <a:latin typeface="Arial"/>
                <a:ea typeface="Arial"/>
              </a:rPr>
              <a:t>25</a:t>
            </a:r>
            <a:endParaRPr lang="zh-CN" sz="5250" b="1">
              <a:solidFill>
                <a:srgbClr val="DADADA"/>
              </a:solidFill>
              <a:latin typeface="Arial"/>
              <a:ea typeface="Arial"/>
            </a:endParaRPr>
          </a:p>
        </p:txBody>
      </p:sp>
      <p:sp>
        <p:nvSpPr>
          <p:cNvPr id="74" name="" descr="{&quot;isTemplate&quot;:true,&quot;type&quot;:&quot;text&quot;}"/>
          <p:cNvSpPr txBox="1"/>
          <p:nvPr/>
        </p:nvSpPr>
        <p:spPr>
          <a:xfrm rot="0" flipH="0" flipV="0">
            <a:off x="7315200" y="2409825"/>
            <a:ext cx="4152900" cy="285750"/>
          </a:xfrm>
          <a:prstGeom prst="rect"/>
        </p:spPr>
        <p:txBody>
          <a:bodyPr wrap="none" lIns="0" tIns="0" rIns="0" bIns="0"/>
          <a:p>
            <a:pPr>
              <a:lnSpc>
                <a:spcPct val="100000"/>
              </a:lnSpc>
            </a:pPr>
            <a:r>
              <a:rPr lang="zh-CN" sz="1875" b="1">
                <a:solidFill>
                  <a:srgbClr val="F1F5E9"/>
                </a:solidFill>
                <a:latin typeface="Arial"/>
                <a:ea typeface="Arial"/>
              </a:rPr>
              <a:t>Node checks passed</a:t>
            </a:r>
            <a:endParaRPr lang="zh-CN" sz="1875" b="1">
              <a:solidFill>
                <a:srgbClr val="F1F5E9"/>
              </a:solidFill>
              <a:latin typeface="Arial"/>
              <a:ea typeface="Arial"/>
            </a:endParaRPr>
          </a:p>
        </p:txBody>
      </p:sp>
      <p:sp>
        <p:nvSpPr>
          <p:cNvPr id="75" name="" descr="{&quot;isTemplate&quot;:true,&quot;type&quot;:&quot;text&quot;}"/>
          <p:cNvSpPr txBox="1"/>
          <p:nvPr/>
        </p:nvSpPr>
        <p:spPr>
          <a:xfrm rot="0" flipH="0" flipV="0">
            <a:off x="7315200" y="2790825"/>
            <a:ext cx="4152900" cy="647700"/>
          </a:xfrm>
          <a:prstGeom prst="rect"/>
        </p:spPr>
        <p:txBody>
          <a:bodyPr wrap="none" lIns="0" tIns="0" rIns="0" bIns="0"/>
          <a:p>
            <a:pPr>
              <a:lnSpc>
                <a:spcPct val="140000"/>
              </a:lnSpc>
            </a:pPr>
            <a:r>
              <a:rPr lang="zh-CN" sz="1500">
                <a:solidFill>
                  <a:srgbClr val="F1F5E9"/>
                </a:solidFill>
                <a:latin typeface="Arial"/>
                <a:ea typeface="Arial"/>
              </a:rPr>
              <a:t>Verified on 11 October 2026.
Fake-model fixtures; no paid AI demo.</a:t>
            </a:r>
            <a:endParaRPr lang="zh-CN" sz="1500">
              <a:solidFill>
                <a:srgbClr val="F1F5E9"/>
              </a:solidFill>
              <a:latin typeface="Arial"/>
              <a:ea typeface="Arial"/>
            </a:endParaRPr>
          </a:p>
        </p:txBody>
      </p:sp>
      <p:sp>
        <p:nvSpPr>
          <p:cNvPr id="76" name="" descr="{&quot;isTemplate&quot;:true,&quot;type&quot;:&quot;text&quot;}"/>
          <p:cNvSpPr txBox="1"/>
          <p:nvPr/>
        </p:nvSpPr>
        <p:spPr>
          <a:xfrm rot="0" flipH="0" flipV="0">
            <a:off x="7315200" y="3876675"/>
            <a:ext cx="4152900" cy="733425"/>
          </a:xfrm>
          <a:prstGeom prst="rect"/>
        </p:spPr>
        <p:txBody>
          <a:bodyPr wrap="none" lIns="0" tIns="0" rIns="0" bIns="0"/>
          <a:p>
            <a:pPr>
              <a:lnSpc>
                <a:spcPct val="100000"/>
              </a:lnSpc>
            </a:pPr>
            <a:r>
              <a:rPr lang="zh-CN" sz="3600" b="1">
                <a:solidFill>
                  <a:srgbClr val="DADADA"/>
                </a:solidFill>
                <a:latin typeface="Arial"/>
                <a:ea typeface="Arial"/>
              </a:rPr>
              <a:t>SAVED</a:t>
            </a:r>
            <a:endParaRPr lang="zh-CN" sz="3600" b="1">
              <a:solidFill>
                <a:srgbClr val="DADADA"/>
              </a:solidFill>
              <a:latin typeface="Arial"/>
              <a:ea typeface="Arial"/>
            </a:endParaRPr>
          </a:p>
        </p:txBody>
      </p:sp>
      <p:sp>
        <p:nvSpPr>
          <p:cNvPr id="77" name="" descr="{&quot;isTemplate&quot;:true,&quot;type&quot;:&quot;text&quot;}"/>
          <p:cNvSpPr txBox="1"/>
          <p:nvPr/>
        </p:nvSpPr>
        <p:spPr>
          <a:xfrm rot="0" flipH="0" flipV="0">
            <a:off x="7315200" y="4686300"/>
            <a:ext cx="4152900" cy="285750"/>
          </a:xfrm>
          <a:prstGeom prst="rect"/>
        </p:spPr>
        <p:txBody>
          <a:bodyPr wrap="none" lIns="0" tIns="0" rIns="0" bIns="0"/>
          <a:p>
            <a:pPr>
              <a:lnSpc>
                <a:spcPct val="100000"/>
              </a:lnSpc>
            </a:pPr>
            <a:r>
              <a:rPr lang="zh-CN" sz="1700" b="1">
                <a:solidFill>
                  <a:srgbClr val="F1F5E9"/>
                </a:solidFill>
                <a:latin typeface="Arial"/>
                <a:ea typeface="Arial"/>
              </a:rPr>
              <a:t>Content recovered + validated</a:t>
            </a:r>
            <a:endParaRPr lang="zh-CN" sz="1700" b="1">
              <a:solidFill>
                <a:srgbClr val="F1F5E9"/>
              </a:solidFill>
              <a:latin typeface="Arial"/>
              <a:ea typeface="Arial"/>
            </a:endParaRPr>
          </a:p>
        </p:txBody>
      </p:sp>
      <p:sp>
        <p:nvSpPr>
          <p:cNvPr id="78" name="" descr="{&quot;isTemplate&quot;:true,&quot;type&quot;:&quot;text&quot;}"/>
          <p:cNvSpPr txBox="1"/>
          <p:nvPr/>
        </p:nvSpPr>
        <p:spPr>
          <a:xfrm flipH="0" flipV="0">
            <a:off x="7315200" y="5041900"/>
            <a:ext cx="4152900" cy="1054100"/>
          </a:xfrm>
          <a:prstGeom prst="rect"/>
        </p:spPr>
        <p:txBody>
          <a:bodyPr wrap="none" lIns="0" tIns="0" rIns="0" bIns="0"/>
          <a:p>
            <a:pPr>
              <a:lnSpc>
                <a:spcPct val="140000"/>
              </a:lnSpc>
            </a:pPr>
            <a:r>
              <a:rPr lang="zh-CN" sz="1600">
                <a:solidFill>
                  <a:srgbClr val="F1F5E9"/>
                </a:solidFill>
                <a:latin typeface="Arial"/>
                <a:ea typeface="Arial"/>
              </a:rPr>
              <a:t>Saved CodeBuddy card content verified.
Final one-click path has NOT had
a fresh live end-to-end test.</a:t>
            </a:r>
            <a:endParaRPr lang="zh-CN" sz="1600">
              <a:solidFill>
                <a:srgbClr val="F1F5E9"/>
              </a:solidFill>
              <a:latin typeface="Arial"/>
              <a:ea typeface="Arial"/>
            </a:endParaRPr>
          </a:p>
        </p:txBody>
      </p:sp>
      <p:sp>
        <p:nvSpPr>
          <p:cNvPr id="79" name="" descr="{&quot;isTemplate&quot;:true,&quot;type&quot;:&quot;text&quot;}"/>
          <p:cNvSpPr txBox="1"/>
          <p:nvPr/>
        </p:nvSpPr>
        <p:spPr>
          <a:xfrm flipH="0" flipV="0">
            <a:off x="571500" y="6391275"/>
            <a:ext cx="9906000" cy="171450"/>
          </a:xfrm>
          <a:prstGeom prst="rect"/>
        </p:spPr>
        <p:txBody>
          <a:bodyPr wrap="none" lIns="0" tIns="0" rIns="0" bIns="0"/>
          <a:p>
            <a:pPr>
              <a:lnSpc>
                <a:spcPct val="100000"/>
              </a:lnSpc>
            </a:pPr>
            <a:r>
              <a:rPr lang="zh-CN" sz="1100">
                <a:solidFill>
                  <a:srgbClr val="F1F5E9"/>
                </a:solidFill>
                <a:latin typeface="Arial"/>
                <a:ea typeface="Arial"/>
              </a:rPr>
              <a:t>Plain-text local key: keep the data folder private · Not production authentication</a:t>
            </a:r>
            <a:endParaRPr lang="zh-CN" sz="1100">
              <a:solidFill>
                <a:srgbClr val="F1F5E9"/>
              </a:solidFill>
              <a:latin typeface="Arial"/>
              <a:ea typeface="Arial"/>
            </a:endParaRPr>
          </a:p>
        </p:txBody>
      </p:sp>
      <p:sp>
        <p:nvSpPr>
          <p:cNvPr id="80"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05 / 06</a:t>
            </a:r>
            <a:endParaRPr/>
          </a:p>
        </p:txBody>
      </p:sp>
      <p:pic>
        <p:nvPicPr>
          <p:cNvPr id="81" name=""/>
          <p:cNvPicPr/>
          <p:nvPr/>
        </p:nvPicPr>
        <p:blipFill>
          <a:blip r:embed="rId2"/>
          <a:stretch/>
        </p:blipFill>
        <p:spPr>
          <a:xfrm>
            <a:off x="11607800" y="228600"/>
            <a:ext cx="381000" cy="381000"/>
          </a:xfrm>
          <a:prstGeom prst="rect"/>
        </p:spPr>
      </p:pic>
    </p:spTree>
  </p:cSl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82" name=""/>
        <p:cNvGrpSpPr/>
        <p:nvPr/>
      </p:nvGrpSpPr>
      <p:grpSpPr>
        <a:xfrm>
          <a:off x="0" y="0"/>
          <a:ext cx="0" cy="0"/>
          <a:chOff x="0" y="0"/>
          <a:chExt cx="0" cy="0"/>
        </a:xfrm>
      </p:grpSpPr>
      <p:sp>
        <p:nvSpPr>
          <p:cNvPr id="83" name=""/>
          <p:cNvSpPr/>
          <p:nvPr/>
        </p:nvSpPr>
        <p:spPr>
          <a:xfrm rot="0" flipH="0" flipV="0">
            <a:off x="0" y="0"/>
            <a:ext cx="12192000" cy="6858000"/>
          </a:xfrm>
          <a:prstGeom prst="rect">
            <a:avLst/>
          </a:prstGeom>
          <a:solidFill>
            <a:srgbClr val="202020">
              <a:alpha val="100000"/>
            </a:srgbClr>
          </a:solidFill>
          <a:ln/>
        </p:spPr>
        <p:txBody>
          <a:bodyPr/>
          <a:p>
            <a:pPr/>
            <a:endParaRPr/>
          </a:p>
        </p:txBody>
      </p:sp>
      <p:sp>
        <p:nvSpPr>
          <p:cNvPr id="84"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DADADA"/>
                </a:solidFill>
                <a:latin typeface="Arial"/>
                <a:ea typeface="Arial"/>
              </a:rPr>
              <a:t>SUBMISSION AND NEXT STEPS</a:t>
            </a:r>
            <a:endParaRPr lang="zh-CN" sz="1350">
              <a:solidFill>
                <a:srgbClr val="DADADA"/>
              </a:solidFill>
              <a:latin typeface="Arial"/>
              <a:ea typeface="Arial"/>
            </a:endParaRPr>
          </a:p>
        </p:txBody>
      </p:sp>
      <p:sp>
        <p:nvSpPr>
          <p:cNvPr id="85"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850" b="1">
                <a:solidFill>
                  <a:srgbClr val="F1F5E9"/>
                </a:solidFill>
                <a:latin typeface="Arial"/>
                <a:ea typeface="Arial"/>
              </a:rPr>
              <a:t>Reviewable requests now. Full campaigns next.</a:t>
            </a:r>
            <a:endParaRPr lang="zh-CN" sz="2850" b="1">
              <a:solidFill>
                <a:srgbClr val="F1F5E9"/>
              </a:solidFill>
              <a:latin typeface="Arial"/>
              <a:ea typeface="Arial"/>
            </a:endParaRPr>
          </a:p>
        </p:txBody>
      </p:sp>
      <p:sp>
        <p:nvSpPr>
          <p:cNvPr id="86" name="" descr="{&quot;isTemplate&quot;:true,&quot;type&quot;:&quot;text&quot;}"/>
          <p:cNvSpPr txBox="1"/>
          <p:nvPr/>
        </p:nvSpPr>
        <p:spPr>
          <a:xfrm flipH="0" flipV="0">
            <a:off x="571500" y="4419600"/>
            <a:ext cx="3429000" cy="190500"/>
          </a:xfrm>
          <a:prstGeom prst="rect"/>
        </p:spPr>
        <p:txBody>
          <a:bodyPr wrap="none" lIns="0" tIns="0" rIns="0" bIns="0"/>
          <a:p>
            <a:pPr>
              <a:lnSpc>
                <a:spcPct val="100000"/>
              </a:lnSpc>
            </a:pPr>
            <a:r>
              <a:rPr lang="zh-CN" sz="1200">
                <a:solidFill>
                  <a:srgbClr val="DADADA"/>
                </a:solidFill>
                <a:latin typeface="Arial"/>
                <a:ea typeface="Arial"/>
              </a:rPr>
              <a:t>Current interface · saved fictional cards</a:t>
            </a:r>
            <a:endParaRPr lang="zh-CN" sz="1200">
              <a:solidFill>
                <a:srgbClr val="DADADA"/>
              </a:solidFill>
              <a:latin typeface="Arial"/>
              <a:ea typeface="Arial"/>
            </a:endParaRPr>
          </a:p>
        </p:txBody>
      </p:sp>
      <p:sp>
        <p:nvSpPr>
          <p:cNvPr id="87" name="" descr="{&quot;isTemplate&quot;:true,&quot;type&quot;:&quot;text&quot;}"/>
          <p:cNvSpPr txBox="1"/>
          <p:nvPr/>
        </p:nvSpPr>
        <p:spPr>
          <a:xfrm rot="0" flipH="0" flipV="0">
            <a:off x="4152900" y="1314450"/>
            <a:ext cx="3429000" cy="333375"/>
          </a:xfrm>
          <a:prstGeom prst="rect"/>
        </p:spPr>
        <p:txBody>
          <a:bodyPr wrap="none" lIns="0" tIns="0" rIns="0" bIns="0"/>
          <a:p>
            <a:pPr>
              <a:lnSpc>
                <a:spcPct val="100000"/>
              </a:lnSpc>
            </a:pPr>
            <a:r>
              <a:rPr lang="en-US" sz="2175" b="1">
                <a:solidFill>
                  <a:srgbClr val="DADADA"/>
                </a:solidFill>
                <a:latin typeface="Arial"/>
                <a:ea typeface="Arial"/>
              </a:rPr>
              <a:t>Implemented</a:t>
            </a:r>
            <a:endParaRPr lang="en-US" sz="2175" b="1">
              <a:solidFill>
                <a:srgbClr val="DADADA"/>
              </a:solidFill>
              <a:latin typeface="Arial"/>
              <a:ea typeface="Arial"/>
            </a:endParaRPr>
          </a:p>
        </p:txBody>
      </p:sp>
      <p:sp>
        <p:nvSpPr>
          <p:cNvPr id="88" name="" descr="{&quot;isTemplate&quot;:true,&quot;type&quot;:&quot;text&quot;}"/>
          <p:cNvSpPr txBox="1"/>
          <p:nvPr/>
        </p:nvSpPr>
        <p:spPr>
          <a:xfrm rot="0" flipH="0" flipV="0">
            <a:off x="4152900" y="1762125"/>
            <a:ext cx="3429000" cy="1714500"/>
          </a:xfrm>
          <a:prstGeom prst="rect"/>
        </p:spPr>
        <p:txBody>
          <a:bodyPr wrap="none" lIns="0" tIns="0" rIns="0" bIns="0"/>
          <a:p>
            <a:pPr>
              <a:lnSpc>
                <a:spcPct val="150000"/>
              </a:lnSpc>
            </a:pPr>
            <a:r>
              <a:rPr lang="zh-CN" sz="1700">
                <a:solidFill>
                  <a:srgbClr val="F1F5E9"/>
                </a:solidFill>
                <a:latin typeface="Arial"/>
                <a:ea typeface="Arial"/>
              </a:rPr>
              <a:t>Saved proposals + goals
Clarification questions + answers
Source-linked card drafts
Student editing + content review</a:t>
            </a:r>
            <a:endParaRPr lang="zh-CN" sz="1700">
              <a:solidFill>
                <a:srgbClr val="F1F5E9"/>
              </a:solidFill>
              <a:latin typeface="Arial"/>
              <a:ea typeface="Arial"/>
            </a:endParaRPr>
          </a:p>
        </p:txBody>
      </p:sp>
      <p:sp>
        <p:nvSpPr>
          <p:cNvPr id="89" name="" descr="{&quot;isTemplate&quot;:true,&quot;type&quot;:&quot;text&quot;}"/>
          <p:cNvSpPr txBox="1"/>
          <p:nvPr/>
        </p:nvSpPr>
        <p:spPr>
          <a:xfrm rot="0" flipH="0" flipV="0">
            <a:off x="4152900" y="3590925"/>
            <a:ext cx="3429000" cy="1057275"/>
          </a:xfrm>
          <a:prstGeom prst="rect"/>
        </p:spPr>
        <p:txBody>
          <a:bodyPr wrap="none" lIns="0" tIns="0" rIns="0" bIns="0"/>
          <a:p>
            <a:pPr>
              <a:lnSpc>
                <a:spcPct val="140000"/>
              </a:lnSpc>
            </a:pPr>
            <a:r>
              <a:rPr lang="zh-CN" sz="1600">
                <a:solidFill>
                  <a:srgbClr val="F1F5E9"/>
                </a:solidFill>
                <a:latin typeface="Arial"/>
                <a:ea typeface="Arial"/>
              </a:rPr>
              <a:t>Optional CodeBuddy CLI route
Manual WorkBuddy handoff
Local single-user prototype</a:t>
            </a:r>
            <a:endParaRPr lang="zh-CN" sz="1600">
              <a:solidFill>
                <a:srgbClr val="F1F5E9"/>
              </a:solidFill>
              <a:latin typeface="Arial"/>
              <a:ea typeface="Arial"/>
            </a:endParaRPr>
          </a:p>
        </p:txBody>
      </p:sp>
      <p:sp>
        <p:nvSpPr>
          <p:cNvPr id="90" name=""/>
          <p:cNvSpPr/>
          <p:nvPr/>
        </p:nvSpPr>
        <p:spPr>
          <a:xfrm rot="0" flipH="0" flipV="0">
            <a:off x="7962900" y="1295400"/>
            <a:ext cx="3657600" cy="3371850"/>
          </a:xfrm>
          <a:prstGeom prst="rect">
            <a:avLst/>
          </a:prstGeom>
          <a:solidFill>
            <a:srgbClr val="303030">
              <a:alpha val="100000"/>
            </a:srgbClr>
          </a:solidFill>
          <a:ln/>
        </p:spPr>
        <p:txBody>
          <a:bodyPr/>
          <a:p>
            <a:pPr/>
            <a:endParaRPr/>
          </a:p>
        </p:txBody>
      </p:sp>
      <p:sp>
        <p:nvSpPr>
          <p:cNvPr id="91" name="" descr="{&quot;isTemplate&quot;:true,&quot;type&quot;:&quot;text&quot;}"/>
          <p:cNvSpPr txBox="1"/>
          <p:nvPr/>
        </p:nvSpPr>
        <p:spPr>
          <a:xfrm rot="0" flipH="0" flipV="0">
            <a:off x="8191500" y="1571625"/>
            <a:ext cx="3200400" cy="333375"/>
          </a:xfrm>
          <a:prstGeom prst="rect"/>
        </p:spPr>
        <p:txBody>
          <a:bodyPr wrap="none" lIns="0" tIns="0" rIns="0" bIns="0"/>
          <a:p>
            <a:pPr>
              <a:lnSpc>
                <a:spcPct val="100000"/>
              </a:lnSpc>
            </a:pPr>
            <a:r>
              <a:rPr lang="zh-CN" sz="2175" b="1">
                <a:solidFill>
                  <a:srgbClr val="DADADA"/>
                </a:solidFill>
                <a:latin typeface="Arial"/>
                <a:ea typeface="Arial"/>
              </a:rPr>
              <a:t>Planned, not built</a:t>
            </a:r>
            <a:endParaRPr lang="zh-CN" sz="2175" b="1">
              <a:solidFill>
                <a:srgbClr val="DADADA"/>
              </a:solidFill>
              <a:latin typeface="Arial"/>
              <a:ea typeface="Arial"/>
            </a:endParaRPr>
          </a:p>
        </p:txBody>
      </p:sp>
      <p:sp>
        <p:nvSpPr>
          <p:cNvPr id="92" name="" descr="{&quot;isTemplate&quot;:true,&quot;type&quot;:&quot;text&quot;}"/>
          <p:cNvSpPr txBox="1"/>
          <p:nvPr/>
        </p:nvSpPr>
        <p:spPr>
          <a:xfrm rot="0" flipH="0" flipV="0">
            <a:off x="8191500" y="2095500"/>
            <a:ext cx="3200400" cy="2305050"/>
          </a:xfrm>
          <a:prstGeom prst="rect"/>
        </p:spPr>
        <p:txBody>
          <a:bodyPr wrap="none" lIns="0" tIns="0" rIns="0" bIns="0"/>
          <a:p>
            <a:pPr>
              <a:lnSpc>
                <a:spcPct val="155000"/>
              </a:lnSpc>
            </a:pPr>
            <a:r>
              <a:rPr lang="zh-CN" sz="1800">
                <a:solidFill>
                  <a:srgbClr val="F1F5E9"/>
                </a:solidFill>
                <a:latin typeface="Arial"/>
                <a:ea typeface="Arial"/>
              </a:rPr>
              <a:t>Business matching
Personalised pitches / outreach
Complete campaign export</a:t>
            </a:r>
            <a:endParaRPr lang="zh-CN" sz="1800">
              <a:solidFill>
                <a:srgbClr val="F1F5E9"/>
              </a:solidFill>
              <a:latin typeface="Arial"/>
              <a:ea typeface="Arial"/>
            </a:endParaRPr>
          </a:p>
        </p:txBody>
      </p:sp>
      <p:sp>
        <p:nvSpPr>
          <p:cNvPr id="93" name=""/>
          <p:cNvSpPr/>
          <p:nvPr/>
        </p:nvSpPr>
        <p:spPr>
          <a:xfrm rot="0" flipH="0" flipV="0">
            <a:off x="571500" y="4876800"/>
            <a:ext cx="11049000" cy="1257300"/>
          </a:xfrm>
          <a:prstGeom prst="rect">
            <a:avLst/>
          </a:prstGeom>
          <a:solidFill>
            <a:srgbClr val="303030">
              <a:alpha val="100000"/>
            </a:srgbClr>
          </a:solidFill>
          <a:ln/>
        </p:spPr>
        <p:txBody>
          <a:bodyPr/>
          <a:p>
            <a:pPr/>
            <a:endParaRPr/>
          </a:p>
        </p:txBody>
      </p:sp>
      <p:sp>
        <p:nvSpPr>
          <p:cNvPr id="94" name="" descr="{&quot;isTemplate&quot;:true,&quot;type&quot;:&quot;text&quot;}"/>
          <p:cNvSpPr txBox="1"/>
          <p:nvPr/>
        </p:nvSpPr>
        <p:spPr>
          <a:xfrm rot="0" flipH="0" flipV="0">
            <a:off x="781050" y="5086350"/>
            <a:ext cx="10629900" cy="304800"/>
          </a:xfrm>
          <a:prstGeom prst="rect"/>
        </p:spPr>
        <p:txBody>
          <a:bodyPr wrap="none" lIns="0" tIns="0" rIns="0" bIns="0"/>
          <a:p>
            <a:pPr>
              <a:lnSpc>
                <a:spcPct val="100000"/>
              </a:lnSpc>
            </a:pPr>
            <a:r>
              <a:rPr lang="zh-CN" sz="1800" b="1">
                <a:solidFill>
                  <a:srgbClr val="DADADA"/>
                </a:solidFill>
                <a:latin typeface="Arial"/>
                <a:ea typeface="Arial"/>
              </a:rPr>
              <a:t>Public GitHub repository · Run locally, not a hosted service</a:t>
            </a:r>
            <a:endParaRPr lang="zh-CN" sz="1800" b="1">
              <a:solidFill>
                <a:srgbClr val="DADADA"/>
              </a:solidFill>
              <a:latin typeface="Arial"/>
              <a:ea typeface="Arial"/>
            </a:endParaRPr>
          </a:p>
        </p:txBody>
      </p:sp>
      <p:sp>
        <p:nvSpPr>
          <p:cNvPr id="95" name="" descr="{&quot;isTemplate&quot;:true,&quot;type&quot;:&quot;text&quot;}">
            <a:hlinkClick r:id="rId2"/>
          </p:cNvPr>
          <p:cNvSpPr txBox="1"/>
          <p:nvPr/>
        </p:nvSpPr>
        <p:spPr>
          <a:xfrm rot="0" flipH="0" flipV="0">
            <a:off x="781050" y="5505450"/>
            <a:ext cx="10629900" cy="285750"/>
          </a:xfrm>
          <a:prstGeom prst="rect"/>
        </p:spPr>
        <p:txBody>
          <a:bodyPr wrap="none" lIns="0" tIns="0" rIns="0" bIns="0"/>
          <a:p>
            <a:pPr>
              <a:lnSpc>
                <a:spcPct val="100000"/>
              </a:lnSpc>
            </a:pPr>
            <a:r>
              <a:rPr lang="en-US" sz="1875">
                <a:solidFill>
                  <a:srgbClr val="DADADA"/>
                </a:solidFill>
                <a:latin typeface="Arial"/>
                <a:ea typeface="Arial"/>
              </a:rPr>
              <a:t>https://github.com/ryuhanbin/sponsorbridge-hackathon</a:t>
            </a:r>
            <a:endParaRPr lang="en-US" sz="1875">
              <a:solidFill>
                <a:srgbClr val="DADADA"/>
              </a:solidFill>
              <a:latin typeface="Arial"/>
              <a:ea typeface="Arial"/>
            </a:endParaRPr>
          </a:p>
        </p:txBody>
      </p:sp>
      <p:sp>
        <p:nvSpPr>
          <p:cNvPr id="96" name="" descr="{&quot;isTemplate&quot;:true,&quot;type&quot;:&quot;text&quot;}"/>
          <p:cNvSpPr txBox="1"/>
          <p:nvPr/>
        </p:nvSpPr>
        <p:spPr>
          <a:xfrm rot="0" flipH="0" flipV="0">
            <a:off x="781050" y="5905500"/>
            <a:ext cx="10629900" cy="228600"/>
          </a:xfrm>
          <a:prstGeom prst="rect"/>
        </p:spPr>
        <p:txBody>
          <a:bodyPr wrap="none" lIns="0" tIns="0" rIns="0" bIns="0"/>
          <a:p>
            <a:pPr>
              <a:lnSpc>
                <a:spcPct val="100000"/>
              </a:lnSpc>
            </a:pPr>
            <a:r>
              <a:rPr lang="zh-CN" sz="1400">
                <a:solidFill>
                  <a:srgbClr val="F1F5E9"/>
                </a:solidFill>
                <a:latin typeface="Arial"/>
                <a:ea typeface="Arial"/>
              </a:rPr>
              <a:t>No secured sponsors, business contact, payments, or university approval.</a:t>
            </a:r>
            <a:endParaRPr lang="zh-CN" sz="1400">
              <a:solidFill>
                <a:srgbClr val="F1F5E9"/>
              </a:solidFill>
              <a:latin typeface="Arial"/>
              <a:ea typeface="Arial"/>
            </a:endParaRPr>
          </a:p>
        </p:txBody>
      </p:sp>
      <p:sp>
        <p:nvSpPr>
          <p:cNvPr id="97" name="" descr="{&quot;isTemplate&quot;:true,&quot;type&quot;:&quot;text&quot;}"/>
          <p:cNvSpPr txBox="1"/>
          <p:nvPr/>
        </p:nvSpPr>
        <p:spPr>
          <a:xfrm rot="0" flipH="0" flipV="0">
            <a:off x="571500" y="6391275"/>
            <a:ext cx="2505075" cy="171450"/>
          </a:xfrm>
          <a:prstGeom prst="rect"/>
        </p:spPr>
        <p:txBody>
          <a:bodyPr wrap="none" lIns="0" tIns="0" rIns="0" bIns="0"/>
          <a:p>
            <a:pPr>
              <a:lnSpc>
                <a:spcPct val="100000"/>
              </a:lnSpc>
            </a:pPr>
            <a:r>
              <a:rPr lang="zh-CN" sz="1125">
                <a:solidFill>
                  <a:srgbClr val="F1F5E9"/>
                </a:solidFill>
                <a:latin typeface="Arial"/>
                <a:ea typeface="Arial"/>
              </a:rPr>
              <a:t>Afiq · PUTRApitch · 11 October 2026</a:t>
            </a:r>
            <a:endParaRPr lang="zh-CN" sz="1125">
              <a:solidFill>
                <a:srgbClr val="F1F5E9"/>
              </a:solidFill>
              <a:latin typeface="Arial"/>
              <a:ea typeface="Arial"/>
            </a:endParaRPr>
          </a:p>
        </p:txBody>
      </p:sp>
      <p:sp>
        <p:nvSpPr>
          <p:cNvPr id="98"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06 / 06</a:t>
            </a:r>
            <a:endParaRPr/>
          </a:p>
        </p:txBody>
      </p:sp>
      <p:pic>
        <p:nvPicPr>
          <p:cNvPr id="99" name=""/>
          <p:cNvPicPr/>
          <p:nvPr/>
        </p:nvPicPr>
        <p:blipFill>
          <a:blip r:embed="rId3"/>
          <a:stretch/>
        </p:blipFill>
        <p:spPr>
          <a:xfrm>
            <a:off x="571500" y="1320800"/>
            <a:ext cx="3200400" cy="2333625"/>
          </a:xfrm>
          <a:prstGeom prst="rect"/>
        </p:spPr>
      </p:pic>
      <p:pic>
        <p:nvPicPr>
          <p:cNvPr id="100" name=""/>
          <p:cNvPicPr/>
          <p:nvPr/>
        </p:nvPicPr>
        <p:blipFill>
          <a:blip r:embed="rId4"/>
          <a:stretch/>
        </p:blipFill>
        <p:spPr>
          <a:xfrm>
            <a:off x="11607800" y="228600"/>
            <a:ext cx="381000" cy="381000"/>
          </a:xfrm>
          <a:prstGeom prst="rect"/>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2026-10-11T08:04:42Z</dcterms:created>
  <dcterms:modified xsi:type="dcterms:W3CDTF">2026-10-11T08:04:42Z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{"AIGC":{"Label":"1","ContentProducer":"00119111010856365494821B355","ProduceID":"01a126dfcae773198dad865d20dd367d","ReservedCode1":"","ContentPropagator":"00119111010856365494821B355","PropagateID":"01a126dfcae773198dad865d20dd367d","ReservedCode2":""}}</vt:lpwstr>
  </property>
</Properties>
</file>