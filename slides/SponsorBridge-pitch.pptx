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theme/theme2.xml" ContentType="application/vnd.openxmlformats-officedocument.theme+xml"/>
  <Override PartName="/docProps/core.xml" ContentType="application/vnd.openxmlformats-package.core-properties+xml"/>
  <Override PartName="/docProps/custom.xml" ContentType="application/vnd.openxmlformats-officedocument.custom-properties+xml"/>
  <Override PartName="/ppt/slides/slide2.xml" ContentType="application/vnd.openxmlformats-officedocument.presentationml.slide+xml"/>
  <Override PartName="/ppt/presentation.xml" ContentType="application/vnd.openxmlformats-officedocument.presentationml.presentation.main+xml"/>
  <Override PartName="/ppt/slides/slide1.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Masters/slideMaster1.xml" ContentType="application/vnd.openxmlformats-officedocument.presentationml.slideMaster+xml"/>
  <Override PartName="/ppt/slides/slide4.xml" ContentType="application/vnd.openxmlformats-officedocument.presentationml.slide+xml"/>
  <Override PartName="/ppt/notesSlides/notesSlide4.xml" ContentType="application/vnd.openxmlformats-officedocument.presentationml.notesSlide+xml"/>
  <Override PartName="/ppt/tableStyles.xml" ContentType="application/vnd.openxmlformats-officedocument.presentationml.tableStyles+xml"/>
  <Override PartName="/ppt/viewProps.xml" ContentType="application/vnd.openxmlformats-officedocument.presentationml.viewProps+xml"/>
  <Override PartName="/ppt/slides/slide3.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theme/theme1.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3" Type="http://schemas.openxmlformats.org/officeDocument/2006/relationships/custom-properties" Target="docProps/custom.xml" /><Relationship Id="rId0" Type="http://schemas.openxmlformats.org/officeDocument/2006/relationships/officeDocument" Target="ppt/presentation.xml" /><Relationship Id="rId1" Type="http://schemas.openxmlformats.org/package/2006/relationships/metadata/core-properties" Target="docProps/core.xml" /><Relationship Id="rId2" Type="http://schemas.openxmlformats.org/officeDocument/2006/relationships/extended-properties" Target="docProps/app.xml" /></Relationships>
</file>

<file path=ppt/presentation.xml><?xml version="1.0" encoding="utf-8"?>
<p:presentation xmlns:p="http://schemas.openxmlformats.org/presentationml/2006/main" xmlns:a="http://schemas.openxmlformats.org/drawingml/2006/main" xmlns:r="http://schemas.openxmlformats.org/officeDocument/2006/relationships" firstSlideNum="1">
  <p:sldMasterIdLst>
    <p:sldMasterId id="2147483648" r:id="rId0"/>
  </p:sldMasterIdLst>
  <p:notesMasterIdLst>
    <p:notesMasterId r:id="rId7"/>
  </p:notesMasterIdLst>
  <p:sldIdLst>
    <p:sldId id="256" r:id="rId1"/>
    <p:sldId id="257" r:id="rId2"/>
    <p:sldId id="258" r:id="rId3"/>
    <p:sldId id="259" r:id="rId4"/>
    <p:sldId id="260" r:id="rId5"/>
    <p:sldId id="261" r:id="rId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uri="{E76CE94A-603C-4142-B9EB-6D1370010A27}"/>
    <p:ext uri="{D31A062A-798A-4329-ABDD-BBA856620510}"/>
    <p:ext uri="{FD5EFAAD-0ECE-453E-9831-46B23BE46B34}"/>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xmlns:a="http://schemas.openxmlformats.org/drawingml/2006/main" lastView="sldThumbnailView">
  <p:normalViewPr horzBarState="maximized">
    <p:restoredLeft sz="15611"/>
    <p:restoredTop sz="94610"/>
  </p:normalViewPr>
  <p:slideViewPr>
    <p:cSldViewPr snapToGrid="0" snapToObjects="1">
      <p:cViewPr varScale="1">
        <p:scale>
          <a:sx n="127" d="100"/>
          <a:sy n="127" d="100"/>
        </p:scale>
        <p:origin x="536" y="192"/>
      </p:cViewPr>
      <p:guideLst/>
    </p:cSldViewPr>
  </p:slideViewPr>
  <p:notesTextViewPr>
    <p:cViewPr>
      <p:scale>
        <a:sx n="1" d="1"/>
        <a:sy n="1" d="1"/>
      </p:scale>
      <p:origin x="0" y="0"/>
    </p:cViewPr>
  </p:notesTextViewPr>
  <p:gridSpacing cx="76200" cy="76200"/>
</p:viewPr>
</file>

<file path=ppt/_rels/presentation.xml.rels><?xml version="1.0" encoding="UTF-8" standalone="yes"?><Relationships xmlns="http://schemas.openxmlformats.org/package/2006/relationships"><Relationship Id="rId0" Type="http://schemas.openxmlformats.org/officeDocument/2006/relationships/slideMaster" Target="slideMasters/slideMaster1.xml" /><Relationship Id="rId2" Type="http://schemas.openxmlformats.org/officeDocument/2006/relationships/slide" Target="slides/slide2.xml" /><Relationship Id="rId1" Type="http://schemas.openxmlformats.org/officeDocument/2006/relationships/slide" Target="slides/slide1.xml" /><Relationship Id="rId4" Type="http://schemas.openxmlformats.org/officeDocument/2006/relationships/slide" Target="slides/slide4.xml" /><Relationship Id="rId9" Type="http://schemas.openxmlformats.org/officeDocument/2006/relationships/tableStyles" Target="tableStyles.xml" /><Relationship Id="rId10" Type="http://schemas.openxmlformats.org/officeDocument/2006/relationships/viewProps" Target="viewProps.xml" /><Relationship Id="rId3" Type="http://schemas.openxmlformats.org/officeDocument/2006/relationships/slide" Target="slides/slide3.xml" /><Relationship Id="rId6" Type="http://schemas.openxmlformats.org/officeDocument/2006/relationships/slide" Target="slides/slide6.xml" /><Relationship Id="rId5" Type="http://schemas.openxmlformats.org/officeDocument/2006/relationships/slide" Target="slides/slide5.xml" /><Relationship Id="rId7" Type="http://schemas.openxmlformats.org/officeDocument/2006/relationships/notesMaster" Target="notesMasters/notesMaster1.xml" /><Relationship Id="rId8" Type="http://schemas.openxmlformats.org/officeDocument/2006/relationships/presProps" Target="presProps.xml" /></Relationships>
</file>

<file path=ppt/notesMasters/_rels/notesMaster1.xml.rels><?xml version="1.0" encoding="UTF-8" standalone="yes"?><Relationships xmlns="http://schemas.openxmlformats.org/package/2006/relationships"><Relationship Id="rId0" Type="http://schemas.openxmlformats.org/officeDocument/2006/relationships/theme" Target="../theme/theme2.xml" /></Relationships>
</file>

<file path=ppt/notesMasters/notesMaster1.xml><?xml version="1.0" encoding="utf-8"?>
<p:notesMaster xmlns:p="http://schemas.openxmlformats.org/presentationml/2006/main" xmlns:a="http://schemas.openxmlformats.org/drawing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0" Type="http://schemas.openxmlformats.org/officeDocument/2006/relationships/slide" Target="../slides/slide1.xml" /><Relationship Id="rId1" Type="http://schemas.openxmlformats.org/officeDocument/2006/relationships/notesMaster" Target="../notesMasters/notesMaster1.xml" /></Relationships>
</file>

<file path=ppt/notesSlides/_rels/notesSlide2.xml.rels><?xml version="1.0" encoding="UTF-8" standalone="yes"?><Relationships xmlns="http://schemas.openxmlformats.org/package/2006/relationships"><Relationship Id="rId0" Type="http://schemas.openxmlformats.org/officeDocument/2006/relationships/slide" Target="../slides/slide2.xml" /><Relationship Id="rId1" Type="http://schemas.openxmlformats.org/officeDocument/2006/relationships/notesMaster" Target="../notesMasters/notesMaster1.xml" /></Relationships>
</file>

<file path=ppt/notesSlides/_rels/notesSlide3.xml.rels><?xml version="1.0" encoding="UTF-8" standalone="yes"?><Relationships xmlns="http://schemas.openxmlformats.org/package/2006/relationships"><Relationship Id="rId0" Type="http://schemas.openxmlformats.org/officeDocument/2006/relationships/slide" Target="../slides/slide3.xml" /><Relationship Id="rId1" Type="http://schemas.openxmlformats.org/officeDocument/2006/relationships/notesMaster" Target="../notesMasters/notesMaster1.xml" /></Relationships>
</file>

<file path=ppt/notesSlides/_rels/notesSlide4.xml.rels><?xml version="1.0" encoding="UTF-8" standalone="yes"?><Relationships xmlns="http://schemas.openxmlformats.org/package/2006/relationships"><Relationship Id="rId0" Type="http://schemas.openxmlformats.org/officeDocument/2006/relationships/slide" Target="../slides/slide4.xml" /><Relationship Id="rId1" Type="http://schemas.openxmlformats.org/officeDocument/2006/relationships/notesMaster" Target="../notesMasters/notesMaster1.xml" /></Relationships>
</file>

<file path=ppt/notesSlides/_rels/notesSlide5.xml.rels><?xml version="1.0" encoding="UTF-8" standalone="yes"?><Relationships xmlns="http://schemas.openxmlformats.org/package/2006/relationships"><Relationship Id="rId0" Type="http://schemas.openxmlformats.org/officeDocument/2006/relationships/slide" Target="../slides/slide5.xml" /><Relationship Id="rId1" Type="http://schemas.openxmlformats.org/officeDocument/2006/relationships/notesMaster" Target="../notesMasters/notesMaster1.xml" /></Relationships>
</file>

<file path=ppt/notesSlides/_rels/notesSlide6.xml.rels><?xml version="1.0" encoding="UTF-8" standalone="yes"?><Relationships xmlns="http://schemas.openxmlformats.org/package/2006/relationships"><Relationship Id="rId0" Type="http://schemas.openxmlformats.org/officeDocument/2006/relationships/slide" Target="../slides/slide6.xml" /><Relationship Id="rId1" Type="http://schemas.openxmlformats.org/officeDocument/2006/relationships/notesMaster" Target="../notesMasters/notesMaster1.xml"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
          <p:cNvSpPr/>
          <p:nvPr>
            <p:ph type="body"/>
          </p:nvPr>
        </p:nvSpPr>
        <p:spPr>
          <a:xfrm>
            <a:off x="0" y="0"/>
            <a:ext cx="177800" cy="444500"/>
          </a:xfrm>
        </p:spPr>
        <p:txBody>
          <a:bodyPr/>
          <a:p>
            <a:pPr/>
            <a:r>
              <a:rPr lang="en-US"/>
              <a:t>I'm Afiq. I built SponsorBridge to help UPM student organisers turn an event idea into a clear sponsorship request. WorkBuddy does the preparation work through local tools, while students stay in control of the draft. This is a local prototype, not an official UPM service.</a:t>
            </a:r>
            <a:endParaRPr/>
          </a:p>
        </p:txBody>
      </p:sp>
    </p:spTree>
  </p:cSld>
  <p:clrMapOvr>
    <a:masterClrMapping/>
  </p:clrMapOvr>
</p:notes>
</file>

<file path=ppt/notesSlides/notesSlide2.xml><?xml version="1.0" encoding="utf-8"?>
<p:notes xmlns:p="http://schemas.openxmlformats.org/presentationml/2006/main" xmlns:a="http://schemas.openxmlformats.org/drawingml/2006/main">
  <p:cSld>
    <p:spTree>
      <p:nvGrpSpPr>
        <p:cNvPr id="3" name=""/>
        <p:cNvGrpSpPr/>
        <p:nvPr/>
      </p:nvGrpSpPr>
      <p:grpSpPr>
        <a:xfrm>
          <a:off x="0" y="0"/>
          <a:ext cx="0" cy="0"/>
          <a:chOff x="0" y="0"/>
          <a:chExt cx="0" cy="0"/>
        </a:xfrm>
      </p:grpSpPr>
      <p:sp>
        <p:nvSpPr>
          <p:cNvPr id="4" name=""/>
          <p:cNvSpPr/>
          <p:nvPr>
            <p:ph type="body"/>
          </p:nvPr>
        </p:nvSpPr>
        <p:spPr>
          <a:xfrm>
            <a:off x="0" y="0"/>
            <a:ext cx="177800" cy="444500"/>
          </a:xfrm>
        </p:spPr>
        <p:txBody>
          <a:bodyPr/>
          <a:p>
            <a:pPr/>
            <a:r>
              <a:rPr lang="en-US"/>
              <a:t>I started with a practical preparation problem: an organiser has an idea, but the request may not yet explain quantities, deadlines or what can safely be offered to a sponsor. I frame this as the motivation for the prototype, not a finding from market statistics or user research. SponsorBridge keeps those unknowns visible and makes the ask reviewable.</a:t>
            </a:r>
            <a:endParaRPr/>
          </a:p>
        </p:txBody>
      </p:sp>
    </p:spTree>
  </p:cSld>
  <p:clrMapOvr>
    <a:masterClrMapping/>
  </p:clrMapOvr>
</p:notes>
</file>

<file path=ppt/notesSlides/notesSlide3.xml><?xml version="1.0" encoding="utf-8"?>
<p:notes xmlns:p="http://schemas.openxmlformats.org/presentationml/2006/main" xmlns:a="http://schemas.openxmlformats.org/drawingml/2006/main">
  <p:cSld>
    <p:spTree>
      <p:nvGrpSpPr>
        <p:cNvPr id="5" name=""/>
        <p:cNvGrpSpPr/>
        <p:nvPr/>
      </p:nvGrpSpPr>
      <p:grpSpPr>
        <a:xfrm>
          <a:off x="0" y="0"/>
          <a:ext cx="0" cy="0"/>
          <a:chOff x="0" y="0"/>
          <a:chExt cx="0" cy="0"/>
        </a:xfrm>
      </p:grpSpPr>
      <p:sp>
        <p:nvSpPr>
          <p:cNvPr id="6" name=""/>
          <p:cNvSpPr/>
          <p:nvPr>
            <p:ph type="body"/>
          </p:nvPr>
        </p:nvSpPr>
        <p:spPr>
          <a:xfrm>
            <a:off x="0" y="0"/>
            <a:ext cx="177800" cy="444500"/>
          </a:xfrm>
        </p:spPr>
        <p:txBody>
          <a:bodyPr/>
          <a:p>
            <a:pPr/>
            <a:r>
              <a:rPr lang="en-US"/>
              <a:t>WorkBuddy did more than help me code. In the recorded demonstration, I manually started it, it read the saved request through the local adapter, interpreted the inputs and saved a plan and clarification output. After browser-saved answers and my explicit resume, it reread the latest state and saved package drafts. Students then edited and reviewed content. Saving on the website never automatically launches the agent.</a:t>
            </a:r>
            <a:endParaRPr/>
          </a:p>
        </p:txBody>
      </p:sp>
    </p:spTree>
  </p:cSld>
  <p:clrMapOvr>
    <a:masterClrMapping/>
  </p:clrMapOvr>
</p:notes>
</file>

<file path=ppt/notesSlides/notesSlide4.xml><?xml version="1.0" encoding="utf-8"?>
<p:notes xmlns:p="http://schemas.openxmlformats.org/presentationml/2006/main" xmlns:a="http://schemas.openxmlformats.org/drawingml/2006/main">
  <p:cSld>
    <p:spTree>
      <p:nvGrpSpPr>
        <p:cNvPr id="7" name=""/>
        <p:cNvGrpSpPr/>
        <p:nvPr/>
      </p:nvGrpSpPr>
      <p:grpSpPr>
        <a:xfrm>
          <a:off x="0" y="0"/>
          <a:ext cx="0" cy="0"/>
          <a:chOff x="0" y="0"/>
          <a:chExt cx="0" cy="0"/>
        </a:xfrm>
      </p:grpSpPr>
      <p:sp>
        <p:nvSpPr>
          <p:cNvPr id="8" name=""/>
          <p:cNvSpPr/>
          <p:nvPr>
            <p:ph type="body"/>
          </p:nvPr>
        </p:nvSpPr>
        <p:spPr>
          <a:xfrm>
            <a:off x="0" y="0"/>
            <a:ext cx="177800" cy="444500"/>
          </a:xfrm>
        </p:spPr>
        <p:txBody>
          <a:bodyPr/>
          <a:p>
            <a:pPr/>
            <a:r>
              <a:rPr lang="en-US"/>
              <a:t>Our fictional Blue Lane group proposes First Splash Swimming Clinic for beginner students. The drafts request 48 sealed 500 millilitre bottles, a loan of 12 kickboards, and one coach for three hours. Only a written student-team thank-you is offered. The 7 November date and 24-person estimate are proposed; Demo Training Pool access and permissions remain unconfirmed. No contribution is secured, and coaching qualifications and supervision have not been verified.</a:t>
            </a:r>
            <a:endParaRPr/>
          </a:p>
        </p:txBody>
      </p:sp>
    </p:spTree>
  </p:cSld>
  <p:clrMapOvr>
    <a:masterClrMapping/>
  </p:clrMapOvr>
</p:notes>
</file>

<file path=ppt/notesSlides/notesSlide5.xml><?xml version="1.0" encoding="utf-8"?>
<p:notes xmlns:p="http://schemas.openxmlformats.org/presentationml/2006/main" xmlns:a="http://schemas.openxmlformats.org/drawingml/2006/main">
  <p:cSld>
    <p:spTree>
      <p:nvGrpSpPr>
        <p:cNvPr id="9" name=""/>
        <p:cNvGrpSpPr/>
        <p:nvPr/>
      </p:nvGrpSpPr>
      <p:grpSpPr>
        <a:xfrm>
          <a:off x="0" y="0"/>
          <a:ext cx="0" cy="0"/>
          <a:chOff x="0" y="0"/>
          <a:chExt cx="0" cy="0"/>
        </a:xfrm>
      </p:grpSpPr>
      <p:sp>
        <p:nvSpPr>
          <p:cNvPr id="10" name=""/>
          <p:cNvSpPr/>
          <p:nvPr>
            <p:ph type="body"/>
          </p:nvPr>
        </p:nvSpPr>
        <p:spPr>
          <a:xfrm>
            <a:off x="0" y="0"/>
            <a:ext cx="177800" cy="444500"/>
          </a:xfrm>
        </p:spPr>
        <p:txBody>
          <a:bodyPr/>
          <a:p>
            <a:pPr/>
            <a:r>
              <a:rPr lang="en-US"/>
              <a:t>I kept the runtime small: responsive HTML, CSS and JavaScript, a local Node service, and JSON persistence. The adapter bounds the agent's operations and requires a fresh read receipt for writes. Editing clears that package's review; new answers stale the continuation and invalidate reviews. The copied submission passed 22 existing Node checks on 11 October, as reported. The 63 browser UI checks are from earlier WorkBuddy reports on 10 October, not a fresh rerun for this submission.</a:t>
            </a:r>
            <a:endParaRPr/>
          </a:p>
        </p:txBody>
      </p:sp>
    </p:spTree>
  </p:cSld>
  <p:clrMapOvr>
    <a:masterClrMapping/>
  </p:clrMapOvr>
</p:notes>
</file>

<file path=ppt/notesSlides/notesSlide6.xml><?xml version="1.0" encoding="utf-8"?>
<p:notes xmlns:p="http://schemas.openxmlformats.org/presentationml/2006/main" xmlns:a="http://schemas.openxmlformats.org/drawingml/2006/main">
  <p:cSld>
    <p:spTree>
      <p:nvGrpSpPr>
        <p:cNvPr id="11" name=""/>
        <p:cNvGrpSpPr/>
        <p:nvPr/>
      </p:nvGrpSpPr>
      <p:grpSpPr>
        <a:xfrm>
          <a:off x="0" y="0"/>
          <a:ext cx="0" cy="0"/>
          <a:chOff x="0" y="0"/>
          <a:chExt cx="0" cy="0"/>
        </a:xfrm>
      </p:grpSpPr>
      <p:sp>
        <p:nvSpPr>
          <p:cNvPr id="12" name=""/>
          <p:cNvSpPr/>
          <p:nvPr>
            <p:ph type="body"/>
          </p:nvPr>
        </p:nvSpPr>
        <p:spPr>
          <a:xfrm>
            <a:off x="0" y="0"/>
            <a:ext cx="177800" cy="444500"/>
          </a:xfrm>
        </p:spPr>
        <p:txBody>
          <a:bodyPr/>
          <a:p>
            <a:pPr/>
            <a:r>
              <a:rPr lang="en-US"/>
              <a:t>SponsorBridge currently works through preparation and editable package drafts. Business matching, personalised pitches and complete campaign export are next steps, not features I am claiming today. The prototype uses fictional data and manual start and resume, and runs locally for a single user. I have not contacted businesses, secured sponsorship, processed payments or obtained university approval. The public GitHub link is source code, not a hosted web application.</a:t>
            </a:r>
            <a:endParaRPr/>
          </a:p>
        </p:txBody>
      </p:sp>
    </p:spTree>
  </p:cSld>
  <p:clrMapOvr>
    <a:masterClrMapping/>
  </p:clrMapOvr>
</p:notes>
</file>

<file path=ppt/slideLayouts/_rels/slideLayout1.xml.rels><?xml version="1.0" encoding="UTF-8" standalone="yes"?><Relationships xmlns="http://schemas.openxmlformats.org/package/2006/relationships"><Relationship Id="rId0" Type="http://schemas.openxmlformats.org/officeDocument/2006/relationships/slideMaster" Target="../slideMasters/slideMaster1.xml" /></Relationships>
</file>

<file path=ppt/slideLayouts/slideLayout1.xml><?xml version="1.0" encoding="utf-8"?>
<p:sldLayout xmlns:p="http://schemas.openxmlformats.org/presentationml/2006/main" xmlns:a="http://schemas.openxmlformats.org/drawing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theme" Target="../theme/theme1.xml" /></Relationships>
</file>

<file path=ppt/slideMasters/slideMaster1.xml><?xml version="1.0" encoding="utf-8"?>
<p:sldMaster xmlns:p="http://schemas.openxmlformats.org/presentationml/2006/main" xmlns:a="http://schemas.openxmlformats.org/drawing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0"/>
  </p:sldLayoutIdLst>
  <p:hf sldNum="0" hdr="0" ftr="0" dt="0"/>
  <p:txStyles>
    <p:titleStyle>
      <a:lvl1pPr algn="ctr" defTabSz="914400" rtl="0" eaLnBrk="1" latinLnBrk="0" hangingPunct="1">
        <a:spcBef>
          <a:spcPct val="1"/>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0" Type="http://schemas.openxmlformats.org/officeDocument/2006/relationships/slideLayout" Target="../slideLayouts/slideLayout1.xml" /><Relationship Id="rId2" Type="http://schemas.openxmlformats.org/officeDocument/2006/relationships/image" Target="media/image1.png" /><Relationship Id="rId1" Type="http://schemas.openxmlformats.org/officeDocument/2006/relationships/notesSlide" Target="../notesSlides/notesSlide1.xml" /></Relationships>
</file>

<file path=ppt/slides/_rels/slide2.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notesSlide" Target="../notesSlides/notesSlide2.xml" /></Relationships>
</file>

<file path=ppt/slides/_rels/slide3.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notesSlide" Target="../notesSlides/notesSlide3.xml" /></Relationships>
</file>

<file path=ppt/slides/_rels/slide4.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notesSlide" Target="../notesSlides/notesSlide4.xml" /><Relationship Id="rId2" Type="http://schemas.openxmlformats.org/officeDocument/2006/relationships/image" Target="media/image2.png" /></Relationships>
</file>

<file path=ppt/slides/_rels/slide5.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notesSlide" Target="../notesSlides/notesSlide5.xml" /></Relationships>
</file>

<file path=ppt/slides/_rels/slide6.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notesSlide" Target="../notesSlides/notesSlide6.xml" /><Relationship Id="rId2" Type="http://schemas.openxmlformats.org/officeDocument/2006/relationships/image" Target="media/image3.png" /><Relationship Id="rId3" Type="http://schemas.openxmlformats.org/officeDocument/2006/relationships/hyperlink" Target="https://github.com/ryuhanbin/sponsorbridge-hackathon" TargetMode="External"/></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descr="&lt;Slide notes=&quot;I'm Afiq. I built SponsorBridge to help UPM student organisers turn an event idea into a clear sponsorship request. WorkBuddy does the preparation work through local tools, while students stay in control of the draft. This is a local prototype, not an official UPM service.&quot; style={{width:1280,height:720,padding:'20px 60px',background:'#0E1915',fontFamily:'Arial',color:'#F1F5E9',gap:0}}&gt;&#10;&lt;Box style={{height:100,justifyContent:'center'}}&gt;&lt;Text style={{fontSize:19,color:'#CDEA9F',fontWeight:600,letterSpacing:2}}&gt;SPONSORBRIDGE / HACKATHON 2026&lt;/Text&gt;&lt;/Box&gt;&#10;&lt;Box style={{height:540,flexDirection:'row',gap:48,alignItems:'center'}}&gt;&#10;&lt;Box style={{width:610,height:490,justifyContent:'center',gap:26}}&gt;&#10;&lt;Text style={{fontSize:72,fontWeight:700,lineHeight:1.1}}&gt;SponsorBridge&lt;/Text&gt;&#10;&lt;Text style={{fontSize:36,fontWeight:600,lineHeight:1.25,color:'#CDEA9F'}}&gt;From an event idea&lt;br/&gt;to a clear sponsorship ask.&lt;/Text&gt;&#10;&lt;Text style={{fontSize:25,lineHeight:1.45}}&gt;Helping UPM student organisers&lt;br/&gt;prepare reviewable sponsorship requests.&lt;/Text&gt;&#10;&lt;Box style={{height:64,justifyContent:'center'}}&gt;&lt;Text style={{fontSize:22,fontWeight:600}}&gt;Presenter: Afiq&lt;/Text&gt;&lt;Text style={{fontSize:18}}&gt;Built with WorkBuddy · Local prototype&lt;/Text&gt;&lt;/Box&gt;&#10;&lt;/Box&gt;&#10;&lt;Box style={{width:502,height:490,background:'#1D3328',padding:18,justifyContent:'center',gap:12,borderRadius:12}}&gt;&#10;&lt;Image src=&quot;SponsorBridge-ui-new-request.png&quot; style={{width:466,height:417,objectFit:'contain'}}/&gt;&#10;&lt;Text style={{fontSize:17,color:'#CDEA9F'}}&gt;Actual app screenshot · 10 October 2026&lt;/Text&gt;&#10;&lt;/Box&gt;&lt;/Box&gt;&#10;&lt;Box style={{height:40,flexDirection:'row',justifyContent:'space-between',alignItems:'center'}}&gt;&lt;Text style={{fontSize:15}}&gt;Preparation, not a promise of sponsorship.&lt;/Text&gt;&lt;Text style={{fontSize:15}}&gt;01 / 06&lt;/Text&gt;&lt;/Box&gt;&#10;&lt;/Slide&gt;"/>
        <p:cNvGrpSpPr/>
        <p:nvPr/>
      </p:nvGrpSpPr>
      <p:grpSpPr>
        <a:xfrm>
          <a:off x="0" y="0"/>
          <a:ext cx="0" cy="0"/>
          <a:chOff x="0" y="0"/>
          <a:chExt cx="0" cy="0"/>
        </a:xfrm>
      </p:grpSpPr>
      <p:sp>
        <p:nvSpPr>
          <p:cNvPr id="2" name=""/>
          <p:cNvSpPr/>
          <p:nvPr/>
        </p:nvSpPr>
        <p:spPr>
          <a:xfrm rot="0" flipH="0" flipV="0">
            <a:off x="0" y="0"/>
            <a:ext cx="12192000" cy="6858000"/>
          </a:xfrm>
          <a:prstGeom prst="rect">
            <a:avLst/>
          </a:prstGeom>
          <a:solidFill>
            <a:srgbClr val="0E1915"/>
          </a:solidFill>
          <a:ln/>
        </p:spPr>
        <p:txBody>
          <a:bodyPr/>
          <a:p/>
        </p:txBody>
      </p:sp>
      <p:sp>
        <p:nvSpPr>
          <p:cNvPr id="3" name="" descr="{&quot;isTemplate&quot;:true,&quot;type&quot;:&quot;text&quot;}"/>
          <p:cNvSpPr txBox="1"/>
          <p:nvPr/>
        </p:nvSpPr>
        <p:spPr>
          <a:xfrm rot="0" flipH="0" flipV="0">
            <a:off x="571500" y="561975"/>
            <a:ext cx="11049000" cy="219075"/>
          </a:xfrm>
          <a:prstGeom prst="rect"/>
        </p:spPr>
        <p:txBody>
          <a:bodyPr wrap="none" lIns="0" tIns="0" rIns="0" bIns="0"/>
          <a:p>
            <a:pPr>
              <a:lnSpc>
                <a:spcPct val="100000"/>
              </a:lnSpc>
            </a:pPr>
            <a:r>
              <a:rPr lang="en-US" sz="1425" b="1" spc="150">
                <a:solidFill>
                  <a:srgbClr val="CDEA9F"/>
                </a:solidFill>
                <a:latin typeface="Arial"/>
                <a:ea typeface="Arial"/>
              </a:rPr>
              <a:t>SPONSORBRIDGE / HACKATHON 2026</a:t>
            </a:r>
            <a:endParaRPr/>
          </a:p>
        </p:txBody>
      </p:sp>
      <p:sp>
        <p:nvSpPr>
          <p:cNvPr id="4" name="" descr="{&quot;isTemplate&quot;:true,&quot;type&quot;:&quot;text&quot;}"/>
          <p:cNvSpPr txBox="1"/>
          <p:nvPr/>
        </p:nvSpPr>
        <p:spPr>
          <a:xfrm rot="0" flipH="0" flipV="0">
            <a:off x="571500" y="1657350"/>
            <a:ext cx="5810250" cy="914400"/>
          </a:xfrm>
          <a:prstGeom prst="rect"/>
        </p:spPr>
        <p:txBody>
          <a:bodyPr wrap="none" lIns="0" tIns="0" rIns="0" bIns="0"/>
          <a:p>
            <a:pPr>
              <a:lnSpc>
                <a:spcPct val="110000"/>
              </a:lnSpc>
            </a:pPr>
            <a:r>
              <a:rPr lang="en-US" sz="5400" b="1">
                <a:solidFill>
                  <a:srgbClr val="F1F5E9"/>
                </a:solidFill>
                <a:latin typeface="Arial"/>
                <a:ea typeface="Arial"/>
              </a:rPr>
              <a:t>SponsorBridge</a:t>
            </a:r>
            <a:endParaRPr/>
          </a:p>
        </p:txBody>
      </p:sp>
      <p:sp>
        <p:nvSpPr>
          <p:cNvPr id="5" name="" descr="{&quot;isTemplate&quot;:true,&quot;type&quot;:&quot;text&quot;}"/>
          <p:cNvSpPr txBox="1"/>
          <p:nvPr/>
        </p:nvSpPr>
        <p:spPr>
          <a:xfrm rot="0" flipH="0" flipV="0">
            <a:off x="571500" y="2819400"/>
            <a:ext cx="5810250" cy="1028700"/>
          </a:xfrm>
          <a:prstGeom prst="rect"/>
        </p:spPr>
        <p:txBody>
          <a:bodyPr wrap="none" lIns="0" tIns="0" rIns="0" bIns="0"/>
          <a:p>
            <a:pPr>
              <a:lnSpc>
                <a:spcPct val="125000"/>
              </a:lnSpc>
            </a:pPr>
            <a:r>
              <a:rPr lang="en-US" sz="2700" b="1">
                <a:solidFill>
                  <a:srgbClr val="CDEA9F"/>
                </a:solidFill>
                <a:latin typeface="Arial"/>
                <a:ea typeface="Arial"/>
              </a:rPr>
              <a:t>From an event idea</a:t>
            </a:r>
            <a:endParaRPr/>
          </a:p>
          <a:p>
            <a:pPr>
              <a:lnSpc>
                <a:spcPct val="125000"/>
              </a:lnSpc>
            </a:pPr>
            <a:r>
              <a:rPr lang="en-US" sz="2700" b="1">
                <a:solidFill>
                  <a:srgbClr val="CDEA9F"/>
                </a:solidFill>
                <a:latin typeface="Arial"/>
                <a:ea typeface="Arial"/>
              </a:rPr>
              <a:t>to a clear sponsorship ask.</a:t>
            </a:r>
            <a:endParaRPr/>
          </a:p>
        </p:txBody>
      </p:sp>
      <p:sp>
        <p:nvSpPr>
          <p:cNvPr id="6" name="" descr="{&quot;isTemplate&quot;:true,&quot;type&quot;:&quot;text&quot;}"/>
          <p:cNvSpPr txBox="1"/>
          <p:nvPr/>
        </p:nvSpPr>
        <p:spPr>
          <a:xfrm rot="0" flipH="0" flipV="0">
            <a:off x="571500" y="4095750"/>
            <a:ext cx="5810250" cy="828675"/>
          </a:xfrm>
          <a:prstGeom prst="rect"/>
        </p:spPr>
        <p:txBody>
          <a:bodyPr wrap="none" lIns="0" tIns="0" rIns="0" bIns="0"/>
          <a:p>
            <a:pPr>
              <a:lnSpc>
                <a:spcPct val="145000"/>
              </a:lnSpc>
            </a:pPr>
            <a:r>
              <a:rPr lang="en-US" sz="1875">
                <a:solidFill>
                  <a:srgbClr val="F1F5E9"/>
                </a:solidFill>
                <a:latin typeface="Arial"/>
                <a:ea typeface="Arial"/>
              </a:rPr>
              <a:t>Helping UPM student organisers</a:t>
            </a:r>
            <a:endParaRPr/>
          </a:p>
          <a:p>
            <a:pPr>
              <a:lnSpc>
                <a:spcPct val="145000"/>
              </a:lnSpc>
            </a:pPr>
            <a:r>
              <a:rPr lang="en-US" sz="1875">
                <a:solidFill>
                  <a:srgbClr val="F1F5E9"/>
                </a:solidFill>
                <a:latin typeface="Arial"/>
                <a:ea typeface="Arial"/>
              </a:rPr>
              <a:t>prepare reviewable sponsorship requests.</a:t>
            </a:r>
            <a:endParaRPr/>
          </a:p>
        </p:txBody>
      </p:sp>
      <p:sp>
        <p:nvSpPr>
          <p:cNvPr id="7" name="" descr="{&quot;isTemplate&quot;:true,&quot;type&quot;:&quot;text&quot;}"/>
          <p:cNvSpPr txBox="1"/>
          <p:nvPr/>
        </p:nvSpPr>
        <p:spPr>
          <a:xfrm rot="0" flipH="0" flipV="0">
            <a:off x="571500" y="5248275"/>
            <a:ext cx="5810250" cy="257175"/>
          </a:xfrm>
          <a:prstGeom prst="rect"/>
        </p:spPr>
        <p:txBody>
          <a:bodyPr wrap="none" lIns="0" tIns="0" rIns="0" bIns="0"/>
          <a:p>
            <a:pPr>
              <a:lnSpc>
                <a:spcPct val="100000"/>
              </a:lnSpc>
            </a:pPr>
            <a:r>
              <a:rPr lang="en-US" sz="1650" b="1">
                <a:solidFill>
                  <a:srgbClr val="F1F5E9"/>
                </a:solidFill>
                <a:latin typeface="Arial"/>
                <a:ea typeface="Arial"/>
              </a:rPr>
              <a:t>Presenter: Afiq</a:t>
            </a:r>
            <a:endParaRPr/>
          </a:p>
        </p:txBody>
      </p:sp>
      <p:sp>
        <p:nvSpPr>
          <p:cNvPr id="8" name="" descr="{&quot;isTemplate&quot;:true,&quot;type&quot;:&quot;text&quot;}"/>
          <p:cNvSpPr txBox="1"/>
          <p:nvPr/>
        </p:nvSpPr>
        <p:spPr>
          <a:xfrm rot="0" flipH="0" flipV="0">
            <a:off x="571500" y="5505450"/>
            <a:ext cx="5810250" cy="209550"/>
          </a:xfrm>
          <a:prstGeom prst="rect"/>
        </p:spPr>
        <p:txBody>
          <a:bodyPr wrap="none" lIns="0" tIns="0" rIns="0" bIns="0"/>
          <a:p>
            <a:pPr>
              <a:lnSpc>
                <a:spcPct val="100000"/>
              </a:lnSpc>
            </a:pPr>
            <a:r>
              <a:rPr lang="en-US" sz="1350">
                <a:solidFill>
                  <a:srgbClr val="F1F5E9"/>
                </a:solidFill>
                <a:latin typeface="Arial"/>
                <a:ea typeface="Arial"/>
              </a:rPr>
              <a:t>Built with WorkBuddy · Local prototype</a:t>
            </a:r>
            <a:endParaRPr/>
          </a:p>
        </p:txBody>
      </p:sp>
      <p:sp>
        <p:nvSpPr>
          <p:cNvPr id="9" name=""/>
          <p:cNvSpPr/>
          <p:nvPr/>
        </p:nvSpPr>
        <p:spPr>
          <a:xfrm rot="0" flipH="0" flipV="0">
            <a:off x="6838950" y="1381125"/>
            <a:ext cx="4781550" cy="4667250"/>
          </a:xfrm>
          <a:prstGeom prst="roundRect">
            <a:avLst>
              <a:gd name="adj" fmla="val 2449"/>
            </a:avLst>
          </a:prstGeom>
          <a:solidFill>
            <a:srgbClr val="1D3328"/>
          </a:solidFill>
          <a:ln/>
        </p:spPr>
        <p:txBody>
          <a:bodyPr/>
          <a:p/>
        </p:txBody>
      </p:sp>
      <p:pic>
        <p:nvPicPr>
          <p:cNvPr id="10" name=""/>
          <p:cNvPicPr>
            <a:picLocks noChangeAspect="1"/>
          </p:cNvPicPr>
          <p:nvPr/>
        </p:nvPicPr>
        <p:blipFill>
          <a:blip r:embed="rId2"/>
          <a:srcRect l="22" t="0" r="22" b="0"/>
          <a:stretch>
            <a:fillRect/>
          </a:stretch>
        </p:blipFill>
        <p:spPr>
          <a:xfrm rot="0" flipH="0" flipV="0">
            <a:off x="7010400" y="1571625"/>
            <a:ext cx="4438650" cy="3971925"/>
          </a:xfrm>
          <a:prstGeom prst="rect">
            <a:avLst/>
          </a:prstGeom>
          <a:ln/>
        </p:spPr>
      </p:pic>
      <p:sp>
        <p:nvSpPr>
          <p:cNvPr id="11" name="" descr="{&quot;isTemplate&quot;:true,&quot;type&quot;:&quot;text&quot;}"/>
          <p:cNvSpPr txBox="1"/>
          <p:nvPr/>
        </p:nvSpPr>
        <p:spPr>
          <a:xfrm rot="0" flipH="0" flipV="0">
            <a:off x="7010400" y="5657850"/>
            <a:ext cx="4438650" cy="200025"/>
          </a:xfrm>
          <a:prstGeom prst="rect"/>
        </p:spPr>
        <p:txBody>
          <a:bodyPr wrap="none" lIns="0" tIns="0" rIns="0" bIns="0"/>
          <a:p>
            <a:pPr>
              <a:lnSpc>
                <a:spcPct val="100000"/>
              </a:lnSpc>
            </a:pPr>
            <a:r>
              <a:rPr lang="en-US" sz="1275">
                <a:solidFill>
                  <a:srgbClr val="CDEA9F"/>
                </a:solidFill>
                <a:latin typeface="Arial"/>
                <a:ea typeface="Arial"/>
              </a:rPr>
              <a:t>Actual app screenshot · 10 October 2026</a:t>
            </a:r>
            <a:endParaRPr/>
          </a:p>
        </p:txBody>
      </p:sp>
      <p:sp>
        <p:nvSpPr>
          <p:cNvPr id="12" name="" descr="{&quot;isTemplate&quot;:true,&quot;type&quot;:&quot;text&quot;}"/>
          <p:cNvSpPr txBox="1"/>
          <p:nvPr/>
        </p:nvSpPr>
        <p:spPr>
          <a:xfrm rot="0" flipH="0" flipV="0">
            <a:off x="571500" y="6391275"/>
            <a:ext cx="2695575" cy="171450"/>
          </a:xfrm>
          <a:prstGeom prst="rect"/>
        </p:spPr>
        <p:txBody>
          <a:bodyPr wrap="none" lIns="0" tIns="0" rIns="0" bIns="0"/>
          <a:p>
            <a:pPr>
              <a:lnSpc>
                <a:spcPct val="100000"/>
              </a:lnSpc>
            </a:pPr>
            <a:r>
              <a:rPr lang="en-US" sz="1125">
                <a:solidFill>
                  <a:srgbClr val="F1F5E9"/>
                </a:solidFill>
                <a:latin typeface="Arial"/>
                <a:ea typeface="Arial"/>
              </a:rPr>
              <a:t>Preparation, not a promise of sponsorship.</a:t>
            </a:r>
            <a:endParaRPr/>
          </a:p>
        </p:txBody>
      </p:sp>
      <p:sp>
        <p:nvSpPr>
          <p:cNvPr id="13" name="" descr="{&quot;isTemplate&quot;:true,&quot;type&quot;:&quot;text&quot;}"/>
          <p:cNvSpPr txBox="1"/>
          <p:nvPr/>
        </p:nvSpPr>
        <p:spPr>
          <a:xfrm rot="0" flipH="0" flipV="0">
            <a:off x="11182350" y="6391275"/>
            <a:ext cx="438150" cy="171450"/>
          </a:xfrm>
          <a:prstGeom prst="rect"/>
        </p:spPr>
        <p:txBody>
          <a:bodyPr wrap="none" lIns="0" tIns="0" rIns="0" bIns="0"/>
          <a:p>
            <a:pPr>
              <a:lnSpc>
                <a:spcPct val="100000"/>
              </a:lnSpc>
            </a:pPr>
            <a:r>
              <a:rPr lang="en-US" sz="1125">
                <a:solidFill>
                  <a:srgbClr val="F1F5E9"/>
                </a:solidFill>
                <a:latin typeface="Arial"/>
                <a:ea typeface="Arial"/>
              </a:rPr>
              <a:t>01 / 06</a:t>
            </a:r>
            <a:endParaRPr/>
          </a:p>
        </p:txBody>
      </p:sp>
    </p:spTree>
  </p:cSld>
</p:sld>
</file>

<file path=ppt/slides/slide2.xml><?xml version="1.0" encoding="utf-8"?>
<p:sld xmlns:p="http://schemas.openxmlformats.org/presentationml/2006/main" xmlns:a="http://schemas.openxmlformats.org/drawingml/2006/main">
  <p:cSld>
    <p:spTree>
      <p:nvGrpSpPr>
        <p:cNvPr id="14" name="" descr="&lt;Slide notes=&quot;I started with a practical preparation problem: an organiser has an idea, but the request may not yet explain quantities, deadlines or what can safely be offered to a sponsor. I frame this as the motivation for the prototype, not a finding from market statistics or user research. SponsorBridge keeps those unknowns visible and makes the ask reviewable.&quot; style={{width:1280,height:720,padding:'20px 60px',background:'#0E1915',fontFamily:'Arial',color:'#F1F5E9'}}&gt;&#10;&lt;Box style={{height:100,justifyContent:'center',gap:8}}&gt;&lt;Text style={{fontSize:18,color:'#CDEA9F'}}&gt;THE PROBLEM MOTIVATING THE PROTOTYPE&lt;/Text&gt;&lt;Text style={{fontSize:38,fontWeight:700}}&gt;An event idea is not yet a sponsor-ready request.&lt;/Text&gt;&lt;/Box&gt;&#10;&lt;Box style={{height:540,flexDirection:'row',gap:48,alignItems:'center'}}&gt;&#10;&lt;Box style={{width:360,height:490,background:'#1D3328',padding:30,justifyContent:'space-between'}}&gt;&lt;Text style={{fontSize:48,fontWeight:700,lineHeight:1.15,color:'#CDEA9F'}}&gt;Clarify&lt;br/&gt;before&lt;br/&gt;committing.&lt;/Text&gt;&lt;Text style={{fontSize:25,lineHeight:1.45}}&gt;A clearer brief helps students explain the contribution they need and the benefits they can actually offer.&lt;/Text&gt;&lt;/Box&gt;&#10;&lt;Box style={{width:752,height:490,gap:20,justifyContent:'center'}}&gt;&#10;&lt;Box style={{height:140,gap:10}}&gt;&lt;Text style={{fontSize:29,fontWeight:700,color:'#CDEA9F'}}&gt;01  Define the support need&lt;/Text&gt;&lt;Text style={{fontSize:25,lineHeight:1.4}}&gt;Products, services or cash? What quantity,&lt;br/&gt;what deadline, and which details are still unknown?&lt;/Text&gt;&lt;/Box&gt;&#10;&lt;Box style={{height:140,gap:10}}&gt;&lt;Text style={{fontSize:29,fontWeight:700,color:'#CDEA9F'}}&gt;02  Explain authorised sponsor benefits&lt;/Text&gt;&lt;Text style={{fontSize:25,lineHeight:1.4}}&gt;Separate a student-team thank-you from unapproved&lt;br/&gt;logo rights, access or university endorsement.&lt;/Text&gt;&lt;/Box&gt;&#10;&lt;Box style={{height:140,gap:10}}&gt;&lt;Text style={{fontSize:29,fontWeight:700,color:'#CDEA9F'}}&gt;03  Prepare reviewable packages&lt;/Text&gt;&lt;Text style={{fontSize:25,lineHeight:1.4}}&gt;Turn the answers into concrete drafts with source&lt;br/&gt;evidence and outstanding conditions.&lt;/Text&gt;&lt;/Box&gt;&#10;&lt;/Box&gt;&lt;/Box&gt;&#10;&lt;Box style={{height:40,flexDirection:'row',justifyContent:'space-between',alignItems:'center'}}&gt;&lt;Text style={{fontSize:15}}&gt;Problem framing only · No market statistics or user-research claim&lt;/Text&gt;&lt;Text style={{fontSize:15}}&gt;02 / 06&lt;/Text&gt;&lt;/Box&gt;&#10;&lt;/Slide&gt;"/>
        <p:cNvGrpSpPr/>
        <p:nvPr/>
      </p:nvGrpSpPr>
      <p:grpSpPr>
        <a:xfrm>
          <a:off x="0" y="0"/>
          <a:ext cx="0" cy="0"/>
          <a:chOff x="0" y="0"/>
          <a:chExt cx="0" cy="0"/>
        </a:xfrm>
      </p:grpSpPr>
      <p:sp>
        <p:nvSpPr>
          <p:cNvPr id="15" name=""/>
          <p:cNvSpPr/>
          <p:nvPr/>
        </p:nvSpPr>
        <p:spPr>
          <a:xfrm rot="0" flipH="0" flipV="0">
            <a:off x="0" y="0"/>
            <a:ext cx="12192000" cy="6858000"/>
          </a:xfrm>
          <a:prstGeom prst="rect">
            <a:avLst/>
          </a:prstGeom>
          <a:solidFill>
            <a:srgbClr val="0E1915"/>
          </a:solidFill>
          <a:ln/>
        </p:spPr>
        <p:txBody>
          <a:bodyPr/>
          <a:p/>
        </p:txBody>
      </p:sp>
      <p:sp>
        <p:nvSpPr>
          <p:cNvPr id="16" name="" descr="{&quot;isTemplate&quot;:true,&quot;type&quot;:&quot;text&quot;}"/>
          <p:cNvSpPr txBox="1"/>
          <p:nvPr/>
        </p:nvSpPr>
        <p:spPr>
          <a:xfrm rot="0" flipH="0" flipV="0">
            <a:off x="571500" y="304800"/>
            <a:ext cx="11049000" cy="209550"/>
          </a:xfrm>
          <a:prstGeom prst="rect"/>
        </p:spPr>
        <p:txBody>
          <a:bodyPr wrap="none" lIns="0" tIns="0" rIns="0" bIns="0"/>
          <a:p>
            <a:pPr>
              <a:lnSpc>
                <a:spcPct val="100000"/>
              </a:lnSpc>
            </a:pPr>
            <a:r>
              <a:rPr lang="en-US" sz="1350">
                <a:solidFill>
                  <a:srgbClr val="CDEA9F"/>
                </a:solidFill>
                <a:latin typeface="Arial"/>
                <a:ea typeface="Arial"/>
              </a:rPr>
              <a:t>THE PROBLEM MOTIVATING THE PROTOTYPE</a:t>
            </a:r>
            <a:endParaRPr/>
          </a:p>
        </p:txBody>
      </p:sp>
      <p:sp>
        <p:nvSpPr>
          <p:cNvPr id="17" name="" descr="{&quot;isTemplate&quot;:true,&quot;type&quot;:&quot;text&quot;}"/>
          <p:cNvSpPr txBox="1"/>
          <p:nvPr/>
        </p:nvSpPr>
        <p:spPr>
          <a:xfrm rot="0" flipH="0" flipV="0">
            <a:off x="571500" y="590550"/>
            <a:ext cx="11049000" cy="438150"/>
          </a:xfrm>
          <a:prstGeom prst="rect"/>
        </p:spPr>
        <p:txBody>
          <a:bodyPr wrap="none" lIns="0" tIns="0" rIns="0" bIns="0"/>
          <a:p>
            <a:pPr>
              <a:lnSpc>
                <a:spcPct val="100000"/>
              </a:lnSpc>
            </a:pPr>
            <a:r>
              <a:rPr lang="en-US" sz="2850" b="1">
                <a:solidFill>
                  <a:srgbClr val="F1F5E9"/>
                </a:solidFill>
                <a:latin typeface="Arial"/>
                <a:ea typeface="Arial"/>
              </a:rPr>
              <a:t>An event idea is not yet a sponsor-ready request.</a:t>
            </a:r>
            <a:endParaRPr/>
          </a:p>
        </p:txBody>
      </p:sp>
      <p:sp>
        <p:nvSpPr>
          <p:cNvPr id="18" name=""/>
          <p:cNvSpPr/>
          <p:nvPr/>
        </p:nvSpPr>
        <p:spPr>
          <a:xfrm rot="0" flipH="0" flipV="0">
            <a:off x="571500" y="1381125"/>
            <a:ext cx="3429000" cy="4667250"/>
          </a:xfrm>
          <a:prstGeom prst="rect">
            <a:avLst/>
          </a:prstGeom>
          <a:solidFill>
            <a:srgbClr val="1D3328"/>
          </a:solidFill>
          <a:ln/>
        </p:spPr>
        <p:txBody>
          <a:bodyPr/>
          <a:p/>
        </p:txBody>
      </p:sp>
      <p:sp>
        <p:nvSpPr>
          <p:cNvPr id="19" name="" descr="{&quot;isTemplate&quot;:true,&quot;type&quot;:&quot;text&quot;}"/>
          <p:cNvSpPr txBox="1"/>
          <p:nvPr/>
        </p:nvSpPr>
        <p:spPr>
          <a:xfrm rot="0" flipH="0" flipV="0">
            <a:off x="857250" y="1666875"/>
            <a:ext cx="2857500" cy="1895475"/>
          </a:xfrm>
          <a:prstGeom prst="rect"/>
        </p:spPr>
        <p:txBody>
          <a:bodyPr wrap="none" lIns="0" tIns="0" rIns="0" bIns="0"/>
          <a:p>
            <a:pPr>
              <a:lnSpc>
                <a:spcPct val="114999"/>
              </a:lnSpc>
            </a:pPr>
            <a:r>
              <a:rPr lang="en-US" sz="3600" b="1">
                <a:solidFill>
                  <a:srgbClr val="CDEA9F"/>
                </a:solidFill>
                <a:latin typeface="Arial"/>
                <a:ea typeface="Arial"/>
              </a:rPr>
              <a:t>Clarify</a:t>
            </a:r>
            <a:endParaRPr/>
          </a:p>
          <a:p>
            <a:pPr>
              <a:lnSpc>
                <a:spcPct val="114999"/>
              </a:lnSpc>
            </a:pPr>
            <a:r>
              <a:rPr lang="en-US" sz="3600" b="1">
                <a:solidFill>
                  <a:srgbClr val="CDEA9F"/>
                </a:solidFill>
                <a:latin typeface="Arial"/>
                <a:ea typeface="Arial"/>
              </a:rPr>
              <a:t>before</a:t>
            </a:r>
            <a:endParaRPr/>
          </a:p>
          <a:p>
            <a:pPr>
              <a:lnSpc>
                <a:spcPct val="114999"/>
              </a:lnSpc>
            </a:pPr>
            <a:r>
              <a:rPr lang="en-US" sz="3600" b="1">
                <a:solidFill>
                  <a:srgbClr val="CDEA9F"/>
                </a:solidFill>
                <a:latin typeface="Arial"/>
                <a:ea typeface="Arial"/>
              </a:rPr>
              <a:t>committing.</a:t>
            </a:r>
            <a:endParaRPr/>
          </a:p>
        </p:txBody>
      </p:sp>
      <p:sp>
        <p:nvSpPr>
          <p:cNvPr id="20" name="" descr="{&quot;isTemplate&quot;:true,&quot;type&quot;:&quot;text&quot;}"/>
          <p:cNvSpPr txBox="1"/>
          <p:nvPr/>
        </p:nvSpPr>
        <p:spPr>
          <a:xfrm rot="0" flipH="0" flipV="0">
            <a:off x="857250" y="3686175"/>
            <a:ext cx="2857500" cy="2076450"/>
          </a:xfrm>
          <a:prstGeom prst="rect"/>
        </p:spPr>
        <p:txBody>
          <a:bodyPr wrap="square" lIns="0" tIns="0" rIns="0" bIns="0">
            <a:normAutofit/>
          </a:bodyPr>
          <a:p>
            <a:pPr>
              <a:lnSpc>
                <a:spcPct val="145000"/>
              </a:lnSpc>
            </a:pPr>
            <a:r>
              <a:rPr lang="zh-CN" sz="1875" b="0">
                <a:solidFill>
                  <a:srgbClr val="F1F5E9"/>
                </a:solidFill>
                <a:latin typeface="Arial"/>
                <a:ea typeface="Arial"/>
              </a:rPr>
              <a:t>A clearer brief helps
students explain the
contribution they need
and the benefits they
can actually offer.</a:t>
            </a:r>
            <a:endParaRPr lang="zh-CN" sz="1875" b="0">
              <a:solidFill>
                <a:srgbClr val="F1F5E9"/>
              </a:solidFill>
              <a:latin typeface="Arial"/>
              <a:ea typeface="Arial"/>
            </a:endParaRPr>
          </a:p>
        </p:txBody>
      </p:sp>
      <p:sp>
        <p:nvSpPr>
          <p:cNvPr id="21" name="" descr="{&quot;isTemplate&quot;:true,&quot;type&quot;:&quot;text&quot;}"/>
          <p:cNvSpPr txBox="1"/>
          <p:nvPr/>
        </p:nvSpPr>
        <p:spPr>
          <a:xfrm rot="0" flipH="0" flipV="0">
            <a:off x="4457700" y="1524000"/>
            <a:ext cx="7162800" cy="333375"/>
          </a:xfrm>
          <a:prstGeom prst="rect"/>
        </p:spPr>
        <p:txBody>
          <a:bodyPr wrap="none" lIns="0" tIns="0" rIns="0" bIns="0"/>
          <a:p>
            <a:pPr>
              <a:lnSpc>
                <a:spcPct val="100000"/>
              </a:lnSpc>
            </a:pPr>
            <a:r>
              <a:rPr lang="en-US" sz="2175" b="1">
                <a:solidFill>
                  <a:srgbClr val="CDEA9F"/>
                </a:solidFill>
                <a:latin typeface="Arial"/>
                <a:ea typeface="Arial"/>
              </a:rPr>
              <a:t>01  Define the support need</a:t>
            </a:r>
            <a:endParaRPr/>
          </a:p>
        </p:txBody>
      </p:sp>
      <p:sp>
        <p:nvSpPr>
          <p:cNvPr id="22" name="" descr="{&quot;isTemplate&quot;:true,&quot;type&quot;:&quot;text&quot;}"/>
          <p:cNvSpPr txBox="1"/>
          <p:nvPr/>
        </p:nvSpPr>
        <p:spPr>
          <a:xfrm rot="0" flipH="0" flipV="0">
            <a:off x="4457700" y="1952625"/>
            <a:ext cx="7162800" cy="800100"/>
          </a:xfrm>
          <a:prstGeom prst="rect"/>
        </p:spPr>
        <p:txBody>
          <a:bodyPr wrap="none" lIns="0" tIns="0" rIns="0" bIns="0"/>
          <a:p>
            <a:pPr>
              <a:lnSpc>
                <a:spcPct val="140000"/>
              </a:lnSpc>
            </a:pPr>
            <a:r>
              <a:rPr lang="en-US" sz="1875">
                <a:solidFill>
                  <a:srgbClr val="F1F5E9"/>
                </a:solidFill>
                <a:latin typeface="Arial"/>
                <a:ea typeface="Arial"/>
              </a:rPr>
              <a:t>Products, services or cash? What quantity,</a:t>
            </a:r>
            <a:endParaRPr/>
          </a:p>
          <a:p>
            <a:pPr>
              <a:lnSpc>
                <a:spcPct val="140000"/>
              </a:lnSpc>
            </a:pPr>
            <a:r>
              <a:rPr lang="en-US" sz="1875">
                <a:solidFill>
                  <a:srgbClr val="F1F5E9"/>
                </a:solidFill>
                <a:latin typeface="Arial"/>
                <a:ea typeface="Arial"/>
              </a:rPr>
              <a:t>what deadline, and which details are still unknown?</a:t>
            </a:r>
            <a:endParaRPr/>
          </a:p>
        </p:txBody>
      </p:sp>
      <p:sp>
        <p:nvSpPr>
          <p:cNvPr id="23" name="" descr="{&quot;isTemplate&quot;:true,&quot;type&quot;:&quot;text&quot;}"/>
          <p:cNvSpPr txBox="1"/>
          <p:nvPr/>
        </p:nvSpPr>
        <p:spPr>
          <a:xfrm rot="0" flipH="0" flipV="0">
            <a:off x="4457700" y="3048000"/>
            <a:ext cx="7162800" cy="333375"/>
          </a:xfrm>
          <a:prstGeom prst="rect"/>
        </p:spPr>
        <p:txBody>
          <a:bodyPr wrap="none" lIns="0" tIns="0" rIns="0" bIns="0"/>
          <a:p>
            <a:pPr>
              <a:lnSpc>
                <a:spcPct val="100000"/>
              </a:lnSpc>
            </a:pPr>
            <a:r>
              <a:rPr lang="en-US" sz="2175" b="1">
                <a:solidFill>
                  <a:srgbClr val="CDEA9F"/>
                </a:solidFill>
                <a:latin typeface="Arial"/>
                <a:ea typeface="Arial"/>
              </a:rPr>
              <a:t>02  Explain authorised sponsor benefits</a:t>
            </a:r>
            <a:endParaRPr/>
          </a:p>
        </p:txBody>
      </p:sp>
      <p:sp>
        <p:nvSpPr>
          <p:cNvPr id="24" name="" descr="{&quot;isTemplate&quot;:true,&quot;type&quot;:&quot;text&quot;}"/>
          <p:cNvSpPr txBox="1"/>
          <p:nvPr/>
        </p:nvSpPr>
        <p:spPr>
          <a:xfrm rot="0" flipH="0" flipV="0">
            <a:off x="4457700" y="3476625"/>
            <a:ext cx="7162800" cy="800100"/>
          </a:xfrm>
          <a:prstGeom prst="rect"/>
        </p:spPr>
        <p:txBody>
          <a:bodyPr wrap="none" lIns="0" tIns="0" rIns="0" bIns="0"/>
          <a:p>
            <a:pPr>
              <a:lnSpc>
                <a:spcPct val="140000"/>
              </a:lnSpc>
            </a:pPr>
            <a:r>
              <a:rPr lang="en-US" sz="1875">
                <a:solidFill>
                  <a:srgbClr val="F1F5E9"/>
                </a:solidFill>
                <a:latin typeface="Arial"/>
                <a:ea typeface="Arial"/>
              </a:rPr>
              <a:t>Separate a student-team thank-you from unapproved</a:t>
            </a:r>
            <a:endParaRPr/>
          </a:p>
          <a:p>
            <a:pPr>
              <a:lnSpc>
                <a:spcPct val="140000"/>
              </a:lnSpc>
            </a:pPr>
            <a:r>
              <a:rPr lang="en-US" sz="1875">
                <a:solidFill>
                  <a:srgbClr val="F1F5E9"/>
                </a:solidFill>
                <a:latin typeface="Arial"/>
                <a:ea typeface="Arial"/>
              </a:rPr>
              <a:t>logo rights, access or university endorsement.</a:t>
            </a:r>
            <a:endParaRPr/>
          </a:p>
        </p:txBody>
      </p:sp>
      <p:sp>
        <p:nvSpPr>
          <p:cNvPr id="25" name="" descr="{&quot;isTemplate&quot;:true,&quot;type&quot;:&quot;text&quot;}"/>
          <p:cNvSpPr txBox="1"/>
          <p:nvPr/>
        </p:nvSpPr>
        <p:spPr>
          <a:xfrm rot="0" flipH="0" flipV="0">
            <a:off x="4457700" y="4572000"/>
            <a:ext cx="7162800" cy="333375"/>
          </a:xfrm>
          <a:prstGeom prst="rect"/>
        </p:spPr>
        <p:txBody>
          <a:bodyPr wrap="none" lIns="0" tIns="0" rIns="0" bIns="0"/>
          <a:p>
            <a:pPr>
              <a:lnSpc>
                <a:spcPct val="100000"/>
              </a:lnSpc>
            </a:pPr>
            <a:r>
              <a:rPr lang="en-US" sz="2175" b="1">
                <a:solidFill>
                  <a:srgbClr val="CDEA9F"/>
                </a:solidFill>
                <a:latin typeface="Arial"/>
                <a:ea typeface="Arial"/>
              </a:rPr>
              <a:t>03  Prepare reviewable packages</a:t>
            </a:r>
            <a:endParaRPr/>
          </a:p>
        </p:txBody>
      </p:sp>
      <p:sp>
        <p:nvSpPr>
          <p:cNvPr id="26" name="" descr="{&quot;isTemplate&quot;:true,&quot;type&quot;:&quot;text&quot;}"/>
          <p:cNvSpPr txBox="1"/>
          <p:nvPr/>
        </p:nvSpPr>
        <p:spPr>
          <a:xfrm rot="0" flipH="0" flipV="0">
            <a:off x="4457700" y="5000625"/>
            <a:ext cx="7162800" cy="800100"/>
          </a:xfrm>
          <a:prstGeom prst="rect"/>
        </p:spPr>
        <p:txBody>
          <a:bodyPr wrap="none" lIns="0" tIns="0" rIns="0" bIns="0"/>
          <a:p>
            <a:pPr>
              <a:lnSpc>
                <a:spcPct val="140000"/>
              </a:lnSpc>
            </a:pPr>
            <a:r>
              <a:rPr lang="en-US" sz="1875">
                <a:solidFill>
                  <a:srgbClr val="F1F5E9"/>
                </a:solidFill>
                <a:latin typeface="Arial"/>
                <a:ea typeface="Arial"/>
              </a:rPr>
              <a:t>Turn the answers into concrete drafts with source</a:t>
            </a:r>
            <a:endParaRPr/>
          </a:p>
          <a:p>
            <a:pPr>
              <a:lnSpc>
                <a:spcPct val="140000"/>
              </a:lnSpc>
            </a:pPr>
            <a:r>
              <a:rPr lang="en-US" sz="1875">
                <a:solidFill>
                  <a:srgbClr val="F1F5E9"/>
                </a:solidFill>
                <a:latin typeface="Arial"/>
                <a:ea typeface="Arial"/>
              </a:rPr>
              <a:t>evidence and outstanding conditions.</a:t>
            </a:r>
            <a:endParaRPr/>
          </a:p>
        </p:txBody>
      </p:sp>
      <p:sp>
        <p:nvSpPr>
          <p:cNvPr id="27" name="" descr="{&quot;isTemplate&quot;:true,&quot;type&quot;:&quot;text&quot;}"/>
          <p:cNvSpPr txBox="1"/>
          <p:nvPr/>
        </p:nvSpPr>
        <p:spPr>
          <a:xfrm rot="0" flipH="0" flipV="0">
            <a:off x="571500" y="6391275"/>
            <a:ext cx="4191000" cy="171450"/>
          </a:xfrm>
          <a:prstGeom prst="rect"/>
        </p:spPr>
        <p:txBody>
          <a:bodyPr wrap="none" lIns="0" tIns="0" rIns="0" bIns="0"/>
          <a:p>
            <a:pPr>
              <a:lnSpc>
                <a:spcPct val="100000"/>
              </a:lnSpc>
            </a:pPr>
            <a:r>
              <a:rPr lang="en-US" sz="1125">
                <a:solidFill>
                  <a:srgbClr val="F1F5E9"/>
                </a:solidFill>
                <a:latin typeface="Arial"/>
                <a:ea typeface="Arial"/>
              </a:rPr>
              <a:t>Problem framing only · No market statistics or user-research claim</a:t>
            </a:r>
            <a:endParaRPr/>
          </a:p>
        </p:txBody>
      </p:sp>
      <p:sp>
        <p:nvSpPr>
          <p:cNvPr id="28" name="" descr="{&quot;isTemplate&quot;:true,&quot;type&quot;:&quot;text&quot;}"/>
          <p:cNvSpPr txBox="1"/>
          <p:nvPr/>
        </p:nvSpPr>
        <p:spPr>
          <a:xfrm rot="0" flipH="0" flipV="0">
            <a:off x="11182350" y="6391275"/>
            <a:ext cx="438150" cy="171450"/>
          </a:xfrm>
          <a:prstGeom prst="rect"/>
        </p:spPr>
        <p:txBody>
          <a:bodyPr wrap="none" lIns="0" tIns="0" rIns="0" bIns="0"/>
          <a:p>
            <a:pPr>
              <a:lnSpc>
                <a:spcPct val="100000"/>
              </a:lnSpc>
            </a:pPr>
            <a:r>
              <a:rPr lang="en-US" sz="1125">
                <a:solidFill>
                  <a:srgbClr val="F1F5E9"/>
                </a:solidFill>
                <a:latin typeface="Arial"/>
                <a:ea typeface="Arial"/>
              </a:rPr>
              <a:t>02 / 06</a:t>
            </a:r>
            <a:endParaRPr/>
          </a:p>
        </p:txBody>
      </p:sp>
    </p:spTree>
  </p:cSld>
</p:sld>
</file>

<file path=ppt/slides/slide3.xml><?xml version="1.0" encoding="utf-8"?>
<p:sld xmlns:p="http://schemas.openxmlformats.org/presentationml/2006/main" xmlns:a="http://schemas.openxmlformats.org/drawingml/2006/main">
  <p:cSld>
    <p:spTree>
      <p:nvGrpSpPr>
        <p:cNvPr id="29" name="" descr="&lt;Slide notes=&quot;WorkBuddy did more than help me code. In the recorded demonstration, I manually started it, it read the saved request through the local adapter, interpreted the inputs and saved a plan and clarification output. After browser-saved answers and my explicit resume, it reread the latest state and saved package drafts. Students then edited and reviewed content. Saving on the website never automatically launches the agent.&quot; style={{width:1280,height:720,padding:'20px 60px',background:'#0E1915',fontFamily:'Arial',color:'#F1F5E9'}}&gt;&#10;&lt;Box style={{height:100,justifyContent:'center',gap:8}}&gt;&lt;Text style={{fontSize:18,color:'#CDEA9F'}}&gt;ACTUAL WORKBUDDY WORKFLOW&lt;/Text&gt;&lt;Text style={{fontSize:38,fontWeight:700}}&gt;The agent reads, interprets and saves real results.&lt;/Text&gt;&lt;/Box&gt;&#10;&lt;Box style={{height:540,gap:22,justifyContent:'center'}}&gt;&#10;&lt;Box style={{height:328,flexDirection:'row',gap:36}}&gt;&#10;&lt;Box style={{width:550,height:328,background:'#1D3328',padding:26,gap:18}}&gt;&lt;Text style={{fontSize:26,fontWeight:700,color:'#CDEA9F'}}&gt;1–4  From proposal to clarification&lt;/Text&gt;&lt;Text style={{fontSize:25,lineHeight:1.55}}&gt;1. Browser saves proposal + goal&lt;br/&gt;→ 2. User starts WorkBuddy manually&lt;br/&gt;→ 3. WorkBuddy reads via local adapter&lt;br/&gt;→ 4. Agent saves plan + clarification&lt;/Text&gt;&lt;/Box&gt;&#10;&lt;Box style={{width:574,height:328,padding:26,gap:18}}&gt;&lt;Text style={{fontSize:26,fontWeight:700,color:'#CDEA9F'}}&gt;5–7  From answers to reviewed drafts&lt;/Text&gt;&lt;Text style={{fontSize:25,lineHeight:1.55}}&gt;5. Student saves answers in browser&lt;br/&gt;→ 6. Explicit resume + reread + drafts&lt;br/&gt;→ 7. Student edits and reviews content&lt;/Text&gt;&lt;Text style={{fontSize:21,lineHeight:1.4}}&gt;Browser polling displays actual saved outputs.&lt;br/&gt;Review remains separate from approval.&lt;/Text&gt;&lt;/Box&gt;&#10;&lt;/Box&gt;&#10;&lt;Box style={{height:148,background:'#1D3328',padding:22,gap:10}}&gt;&lt;Text style={{fontSize:26,fontWeight:700,color:'#CDEA9F'}}&gt;Execution evidence, not just coding assistance&lt;/Text&gt;&lt;Text style={{fontSize:23,lineHeight:1.4}}&gt;Recorded local adapter actions: read → plan → preparation → continuation.&lt;br/&gt;Reads precede validated writes; saved answers are reread on explicit resume.&lt;/Text&gt;&lt;/Box&gt;&#10;&lt;/Box&gt;&#10;&lt;Box style={{height:40,flexDirection:'row',justifyContent:'space-between',alignItems:'center'}}&gt;&lt;Text style={{fontSize:15}}&gt;Historical WorkBuddy execution · No automatic website dispatch&lt;/Text&gt;&lt;Text style={{fontSize:15}}&gt;03 / 06&lt;/Text&gt;&lt;/Box&gt;&#10;&lt;/Slide&gt;"/>
        <p:cNvGrpSpPr/>
        <p:nvPr/>
      </p:nvGrpSpPr>
      <p:grpSpPr>
        <a:xfrm>
          <a:off x="0" y="0"/>
          <a:ext cx="0" cy="0"/>
          <a:chOff x="0" y="0"/>
          <a:chExt cx="0" cy="0"/>
        </a:xfrm>
      </p:grpSpPr>
      <p:sp>
        <p:nvSpPr>
          <p:cNvPr id="30" name=""/>
          <p:cNvSpPr/>
          <p:nvPr/>
        </p:nvSpPr>
        <p:spPr>
          <a:xfrm rot="0" flipH="0" flipV="0">
            <a:off x="0" y="0"/>
            <a:ext cx="12192000" cy="6858000"/>
          </a:xfrm>
          <a:prstGeom prst="rect">
            <a:avLst/>
          </a:prstGeom>
          <a:solidFill>
            <a:srgbClr val="0E1915"/>
          </a:solidFill>
          <a:ln/>
        </p:spPr>
        <p:txBody>
          <a:bodyPr/>
          <a:p/>
        </p:txBody>
      </p:sp>
      <p:sp>
        <p:nvSpPr>
          <p:cNvPr id="31" name="" descr="{&quot;isTemplate&quot;:true,&quot;type&quot;:&quot;text&quot;}"/>
          <p:cNvSpPr txBox="1"/>
          <p:nvPr/>
        </p:nvSpPr>
        <p:spPr>
          <a:xfrm rot="0" flipH="0" flipV="0">
            <a:off x="571500" y="304800"/>
            <a:ext cx="11049000" cy="209550"/>
          </a:xfrm>
          <a:prstGeom prst="rect"/>
        </p:spPr>
        <p:txBody>
          <a:bodyPr wrap="none" lIns="0" tIns="0" rIns="0" bIns="0"/>
          <a:p>
            <a:pPr>
              <a:lnSpc>
                <a:spcPct val="100000"/>
              </a:lnSpc>
            </a:pPr>
            <a:r>
              <a:rPr lang="en-US" sz="1350">
                <a:solidFill>
                  <a:srgbClr val="CDEA9F"/>
                </a:solidFill>
                <a:latin typeface="Arial"/>
                <a:ea typeface="Arial"/>
              </a:rPr>
              <a:t>ACTUAL WORKBUDDY WORKFLOW</a:t>
            </a:r>
            <a:endParaRPr/>
          </a:p>
        </p:txBody>
      </p:sp>
      <p:sp>
        <p:nvSpPr>
          <p:cNvPr id="32" name="" descr="{&quot;isTemplate&quot;:true,&quot;type&quot;:&quot;text&quot;}"/>
          <p:cNvSpPr txBox="1"/>
          <p:nvPr/>
        </p:nvSpPr>
        <p:spPr>
          <a:xfrm rot="0" flipH="0" flipV="0">
            <a:off x="571500" y="590550"/>
            <a:ext cx="11049000" cy="438150"/>
          </a:xfrm>
          <a:prstGeom prst="rect"/>
        </p:spPr>
        <p:txBody>
          <a:bodyPr wrap="none" lIns="0" tIns="0" rIns="0" bIns="0"/>
          <a:p>
            <a:pPr>
              <a:lnSpc>
                <a:spcPct val="100000"/>
              </a:lnSpc>
            </a:pPr>
            <a:r>
              <a:rPr lang="en-US" sz="2850" b="1">
                <a:solidFill>
                  <a:srgbClr val="F1F5E9"/>
                </a:solidFill>
                <a:latin typeface="Arial"/>
                <a:ea typeface="Arial"/>
              </a:rPr>
              <a:t>The agent reads, interprets and saves real results.</a:t>
            </a:r>
            <a:endParaRPr/>
          </a:p>
        </p:txBody>
      </p:sp>
      <p:sp>
        <p:nvSpPr>
          <p:cNvPr id="33" name=""/>
          <p:cNvSpPr/>
          <p:nvPr/>
        </p:nvSpPr>
        <p:spPr>
          <a:xfrm rot="0" flipH="0" flipV="0">
            <a:off x="571500" y="1343025"/>
            <a:ext cx="5238750" cy="3124200"/>
          </a:xfrm>
          <a:prstGeom prst="rect">
            <a:avLst/>
          </a:prstGeom>
          <a:solidFill>
            <a:srgbClr val="1D3328"/>
          </a:solidFill>
          <a:ln/>
        </p:spPr>
        <p:txBody>
          <a:bodyPr/>
          <a:p/>
        </p:txBody>
      </p:sp>
      <p:sp>
        <p:nvSpPr>
          <p:cNvPr id="34" name="" descr="{&quot;isTemplate&quot;:true,&quot;type&quot;:&quot;text&quot;}"/>
          <p:cNvSpPr txBox="1"/>
          <p:nvPr/>
        </p:nvSpPr>
        <p:spPr>
          <a:xfrm rot="0" flipH="0" flipV="0">
            <a:off x="819150" y="1590675"/>
            <a:ext cx="4743450" cy="304800"/>
          </a:xfrm>
          <a:prstGeom prst="rect"/>
        </p:spPr>
        <p:txBody>
          <a:bodyPr wrap="none" lIns="0" tIns="0" rIns="0" bIns="0"/>
          <a:p>
            <a:pPr>
              <a:lnSpc>
                <a:spcPct val="100000"/>
              </a:lnSpc>
            </a:pPr>
            <a:r>
              <a:rPr lang="en-US" sz="1950" b="1">
                <a:solidFill>
                  <a:srgbClr val="CDEA9F"/>
                </a:solidFill>
                <a:latin typeface="Arial"/>
                <a:ea typeface="Arial"/>
              </a:rPr>
              <a:t>1–4  From proposal to clarification</a:t>
            </a:r>
            <a:endParaRPr/>
          </a:p>
        </p:txBody>
      </p:sp>
      <p:sp>
        <p:nvSpPr>
          <p:cNvPr id="35" name="" descr="{&quot;isTemplate&quot;:true,&quot;type&quot;:&quot;text&quot;}"/>
          <p:cNvSpPr txBox="1"/>
          <p:nvPr/>
        </p:nvSpPr>
        <p:spPr>
          <a:xfrm rot="0" flipH="0" flipV="0">
            <a:off x="819150" y="2066925"/>
            <a:ext cx="4743450" cy="1771650"/>
          </a:xfrm>
          <a:prstGeom prst="rect"/>
        </p:spPr>
        <p:txBody>
          <a:bodyPr wrap="none" lIns="0" tIns="0" rIns="0" bIns="0"/>
          <a:p>
            <a:pPr>
              <a:lnSpc>
                <a:spcPct val="155000"/>
              </a:lnSpc>
            </a:pPr>
            <a:r>
              <a:rPr lang="en-US" sz="1875">
                <a:solidFill>
                  <a:srgbClr val="F1F5E9"/>
                </a:solidFill>
                <a:latin typeface="Arial"/>
                <a:ea typeface="Arial"/>
              </a:rPr>
              <a:t>1. Browser saves proposal + goal</a:t>
            </a:r>
            <a:endParaRPr/>
          </a:p>
          <a:p>
            <a:pPr>
              <a:lnSpc>
                <a:spcPct val="155000"/>
              </a:lnSpc>
            </a:pPr>
            <a:r>
              <a:rPr lang="en-US" sz="1875">
                <a:solidFill>
                  <a:srgbClr val="F1F5E9"/>
                </a:solidFill>
                <a:latin typeface="Arial"/>
                <a:ea typeface="Arial"/>
              </a:rPr>
              <a:t>→ 2. User starts WorkBuddy manually</a:t>
            </a:r>
            <a:endParaRPr/>
          </a:p>
          <a:p>
            <a:pPr>
              <a:lnSpc>
                <a:spcPct val="155000"/>
              </a:lnSpc>
            </a:pPr>
            <a:r>
              <a:rPr lang="en-US" sz="1875">
                <a:solidFill>
                  <a:srgbClr val="F1F5E9"/>
                </a:solidFill>
                <a:latin typeface="Arial"/>
                <a:ea typeface="Arial"/>
              </a:rPr>
              <a:t>→ 3. WorkBuddy reads via local adapter</a:t>
            </a:r>
            <a:endParaRPr/>
          </a:p>
          <a:p>
            <a:pPr>
              <a:lnSpc>
                <a:spcPct val="155000"/>
              </a:lnSpc>
            </a:pPr>
            <a:r>
              <a:rPr lang="en-US" sz="1875">
                <a:solidFill>
                  <a:srgbClr val="F1F5E9"/>
                </a:solidFill>
                <a:latin typeface="Arial"/>
                <a:ea typeface="Arial"/>
              </a:rPr>
              <a:t>→ 4. Agent saves plan + clarification</a:t>
            </a:r>
            <a:endParaRPr/>
          </a:p>
        </p:txBody>
      </p:sp>
      <p:sp>
        <p:nvSpPr>
          <p:cNvPr id="36" name="" descr="{&quot;isTemplate&quot;:true,&quot;type&quot;:&quot;text&quot;}"/>
          <p:cNvSpPr txBox="1"/>
          <p:nvPr/>
        </p:nvSpPr>
        <p:spPr>
          <a:xfrm rot="0" flipH="0" flipV="0">
            <a:off x="6400800" y="1590675"/>
            <a:ext cx="4972050" cy="304800"/>
          </a:xfrm>
          <a:prstGeom prst="rect"/>
        </p:spPr>
        <p:txBody>
          <a:bodyPr wrap="none" lIns="0" tIns="0" rIns="0" bIns="0"/>
          <a:p>
            <a:pPr>
              <a:lnSpc>
                <a:spcPct val="100000"/>
              </a:lnSpc>
            </a:pPr>
            <a:r>
              <a:rPr lang="en-US" sz="1950" b="1">
                <a:solidFill>
                  <a:srgbClr val="CDEA9F"/>
                </a:solidFill>
                <a:latin typeface="Arial"/>
                <a:ea typeface="Arial"/>
              </a:rPr>
              <a:t>5–7  From answers to reviewed drafts</a:t>
            </a:r>
            <a:endParaRPr/>
          </a:p>
        </p:txBody>
      </p:sp>
      <p:sp>
        <p:nvSpPr>
          <p:cNvPr id="37" name="" descr="{&quot;isTemplate&quot;:true,&quot;type&quot;:&quot;text&quot;}"/>
          <p:cNvSpPr txBox="1"/>
          <p:nvPr/>
        </p:nvSpPr>
        <p:spPr>
          <a:xfrm rot="0" flipH="0" flipV="0">
            <a:off x="6400800" y="2066925"/>
            <a:ext cx="4972050" cy="1333500"/>
          </a:xfrm>
          <a:prstGeom prst="rect"/>
        </p:spPr>
        <p:txBody>
          <a:bodyPr wrap="none" lIns="0" tIns="0" rIns="0" bIns="0"/>
          <a:p>
            <a:pPr>
              <a:lnSpc>
                <a:spcPct val="155000"/>
              </a:lnSpc>
            </a:pPr>
            <a:r>
              <a:rPr lang="en-US" sz="1875">
                <a:solidFill>
                  <a:srgbClr val="F1F5E9"/>
                </a:solidFill>
                <a:latin typeface="Arial"/>
                <a:ea typeface="Arial"/>
              </a:rPr>
              <a:t>5. Student saves answers in browser</a:t>
            </a:r>
            <a:endParaRPr/>
          </a:p>
          <a:p>
            <a:pPr>
              <a:lnSpc>
                <a:spcPct val="155000"/>
              </a:lnSpc>
            </a:pPr>
            <a:r>
              <a:rPr lang="en-US" sz="1875">
                <a:solidFill>
                  <a:srgbClr val="F1F5E9"/>
                </a:solidFill>
                <a:latin typeface="Arial"/>
                <a:ea typeface="Arial"/>
              </a:rPr>
              <a:t>→ 6. Explicit resume + reread + drafts</a:t>
            </a:r>
            <a:endParaRPr/>
          </a:p>
          <a:p>
            <a:pPr>
              <a:lnSpc>
                <a:spcPct val="155000"/>
              </a:lnSpc>
            </a:pPr>
            <a:r>
              <a:rPr lang="en-US" sz="1875">
                <a:solidFill>
                  <a:srgbClr val="F1F5E9"/>
                </a:solidFill>
                <a:latin typeface="Arial"/>
                <a:ea typeface="Arial"/>
              </a:rPr>
              <a:t>→ 7. Student edits and reviews content</a:t>
            </a:r>
            <a:endParaRPr/>
          </a:p>
        </p:txBody>
      </p:sp>
      <p:sp>
        <p:nvSpPr>
          <p:cNvPr id="38" name="" descr="{&quot;isTemplate&quot;:true,&quot;type&quot;:&quot;text&quot;}"/>
          <p:cNvSpPr txBox="1"/>
          <p:nvPr/>
        </p:nvSpPr>
        <p:spPr>
          <a:xfrm rot="0" flipH="0" flipV="0">
            <a:off x="6400800" y="3571875"/>
            <a:ext cx="4972050" cy="676275"/>
          </a:xfrm>
          <a:prstGeom prst="rect"/>
        </p:spPr>
        <p:txBody>
          <a:bodyPr wrap="none" lIns="0" tIns="0" rIns="0" bIns="0"/>
          <a:p>
            <a:pPr>
              <a:lnSpc>
                <a:spcPct val="140000"/>
              </a:lnSpc>
            </a:pPr>
            <a:r>
              <a:rPr lang="en-US" sz="1575">
                <a:solidFill>
                  <a:srgbClr val="F1F5E9"/>
                </a:solidFill>
                <a:latin typeface="Arial"/>
                <a:ea typeface="Arial"/>
              </a:rPr>
              <a:t>Browser polling displays actual saved outputs.</a:t>
            </a:r>
            <a:endParaRPr/>
          </a:p>
          <a:p>
            <a:pPr>
              <a:lnSpc>
                <a:spcPct val="140000"/>
              </a:lnSpc>
            </a:pPr>
            <a:r>
              <a:rPr lang="en-US" sz="1575">
                <a:solidFill>
                  <a:srgbClr val="F1F5E9"/>
                </a:solidFill>
                <a:latin typeface="Arial"/>
                <a:ea typeface="Arial"/>
              </a:rPr>
              <a:t>Review remains separate from approval.</a:t>
            </a:r>
            <a:endParaRPr/>
          </a:p>
        </p:txBody>
      </p:sp>
      <p:sp>
        <p:nvSpPr>
          <p:cNvPr id="39" name=""/>
          <p:cNvSpPr/>
          <p:nvPr/>
        </p:nvSpPr>
        <p:spPr>
          <a:xfrm rot="0" flipH="0" flipV="0">
            <a:off x="571500" y="4676775"/>
            <a:ext cx="11049000" cy="1409700"/>
          </a:xfrm>
          <a:prstGeom prst="rect">
            <a:avLst/>
          </a:prstGeom>
          <a:solidFill>
            <a:srgbClr val="1D3328"/>
          </a:solidFill>
          <a:ln/>
        </p:spPr>
        <p:txBody>
          <a:bodyPr/>
          <a:p/>
        </p:txBody>
      </p:sp>
      <p:sp>
        <p:nvSpPr>
          <p:cNvPr id="40" name="" descr="{&quot;isTemplate&quot;:true,&quot;type&quot;:&quot;text&quot;}"/>
          <p:cNvSpPr txBox="1"/>
          <p:nvPr/>
        </p:nvSpPr>
        <p:spPr>
          <a:xfrm rot="0" flipH="0" flipV="0">
            <a:off x="781050" y="4886325"/>
            <a:ext cx="10629900" cy="304800"/>
          </a:xfrm>
          <a:prstGeom prst="rect"/>
        </p:spPr>
        <p:txBody>
          <a:bodyPr wrap="none" lIns="0" tIns="0" rIns="0" bIns="0"/>
          <a:p>
            <a:pPr>
              <a:lnSpc>
                <a:spcPct val="100000"/>
              </a:lnSpc>
            </a:pPr>
            <a:r>
              <a:rPr lang="en-US" sz="1950" b="1">
                <a:solidFill>
                  <a:srgbClr val="CDEA9F"/>
                </a:solidFill>
                <a:latin typeface="Arial"/>
                <a:ea typeface="Arial"/>
              </a:rPr>
              <a:t>Execution evidence, not just coding assistance</a:t>
            </a:r>
            <a:endParaRPr/>
          </a:p>
        </p:txBody>
      </p:sp>
      <p:sp>
        <p:nvSpPr>
          <p:cNvPr id="41" name="" descr="{&quot;isTemplate&quot;:true,&quot;type&quot;:&quot;text&quot;}"/>
          <p:cNvSpPr txBox="1"/>
          <p:nvPr/>
        </p:nvSpPr>
        <p:spPr>
          <a:xfrm rot="0" flipH="0" flipV="0">
            <a:off x="781050" y="5286375"/>
            <a:ext cx="10629900" cy="742950"/>
          </a:xfrm>
          <a:prstGeom prst="rect"/>
        </p:spPr>
        <p:txBody>
          <a:bodyPr wrap="none" lIns="0" tIns="0" rIns="0" bIns="0"/>
          <a:p>
            <a:pPr>
              <a:lnSpc>
                <a:spcPct val="140000"/>
              </a:lnSpc>
            </a:pPr>
            <a:r>
              <a:rPr lang="en-US" sz="1725">
                <a:solidFill>
                  <a:srgbClr val="F1F5E9"/>
                </a:solidFill>
                <a:latin typeface="Arial"/>
                <a:ea typeface="Arial"/>
              </a:rPr>
              <a:t>Recorded local adapter actions: read → plan → preparation → continuation.</a:t>
            </a:r>
            <a:endParaRPr/>
          </a:p>
          <a:p>
            <a:pPr>
              <a:lnSpc>
                <a:spcPct val="140000"/>
              </a:lnSpc>
            </a:pPr>
            <a:r>
              <a:rPr lang="en-US" sz="1725">
                <a:solidFill>
                  <a:srgbClr val="F1F5E9"/>
                </a:solidFill>
                <a:latin typeface="Arial"/>
                <a:ea typeface="Arial"/>
              </a:rPr>
              <a:t>Reads precede validated writes; saved answers are reread on explicit resume.</a:t>
            </a:r>
            <a:endParaRPr/>
          </a:p>
        </p:txBody>
      </p:sp>
      <p:sp>
        <p:nvSpPr>
          <p:cNvPr id="42" name="" descr="{&quot;isTemplate&quot;:true,&quot;type&quot;:&quot;text&quot;}"/>
          <p:cNvSpPr txBox="1"/>
          <p:nvPr/>
        </p:nvSpPr>
        <p:spPr>
          <a:xfrm rot="0" flipH="0" flipV="0">
            <a:off x="571500" y="6391275"/>
            <a:ext cx="4086225" cy="171450"/>
          </a:xfrm>
          <a:prstGeom prst="rect"/>
        </p:spPr>
        <p:txBody>
          <a:bodyPr wrap="none" lIns="0" tIns="0" rIns="0" bIns="0"/>
          <a:p>
            <a:pPr>
              <a:lnSpc>
                <a:spcPct val="100000"/>
              </a:lnSpc>
            </a:pPr>
            <a:r>
              <a:rPr lang="en-US" sz="1125">
                <a:solidFill>
                  <a:srgbClr val="F1F5E9"/>
                </a:solidFill>
                <a:latin typeface="Arial"/>
                <a:ea typeface="Arial"/>
              </a:rPr>
              <a:t>Historical WorkBuddy execution · No automatic website dispatch</a:t>
            </a:r>
            <a:endParaRPr/>
          </a:p>
        </p:txBody>
      </p:sp>
      <p:sp>
        <p:nvSpPr>
          <p:cNvPr id="43" name="" descr="{&quot;isTemplate&quot;:true,&quot;type&quot;:&quot;text&quot;}"/>
          <p:cNvSpPr txBox="1"/>
          <p:nvPr/>
        </p:nvSpPr>
        <p:spPr>
          <a:xfrm rot="0" flipH="0" flipV="0">
            <a:off x="11182350" y="6391275"/>
            <a:ext cx="438150" cy="171450"/>
          </a:xfrm>
          <a:prstGeom prst="rect"/>
        </p:spPr>
        <p:txBody>
          <a:bodyPr wrap="none" lIns="0" tIns="0" rIns="0" bIns="0"/>
          <a:p>
            <a:pPr>
              <a:lnSpc>
                <a:spcPct val="100000"/>
              </a:lnSpc>
            </a:pPr>
            <a:r>
              <a:rPr lang="en-US" sz="1125">
                <a:solidFill>
                  <a:srgbClr val="F1F5E9"/>
                </a:solidFill>
                <a:latin typeface="Arial"/>
                <a:ea typeface="Arial"/>
              </a:rPr>
              <a:t>03 / 06</a:t>
            </a:r>
            <a:endParaRPr/>
          </a:p>
        </p:txBody>
      </p:sp>
    </p:spTree>
  </p:cSld>
</p:sld>
</file>

<file path=ppt/slides/slide4.xml><?xml version="1.0" encoding="utf-8"?>
<p:sld xmlns:p="http://schemas.openxmlformats.org/presentationml/2006/main" xmlns:a="http://schemas.openxmlformats.org/drawingml/2006/main" xmlns:r="http://schemas.openxmlformats.org/officeDocument/2006/relationships">
  <p:cSld>
    <p:spTree>
      <p:nvGrpSpPr>
        <p:cNvPr id="44" name="" descr="&lt;Slide notes=&quot;Our fictional Blue Lane group proposes First Splash Swimming Clinic for beginner students. The drafts request 48 sealed 500 millilitre bottles, a loan of 12 kickboards, and one coach for three hours. Only a written student-team thank-you is offered. The 7 November date and 24-person estimate are proposed; Demo Training Pool access and permissions remain unconfirmed. No contribution is secured, and coaching qualifications and supervision have not been verified.&quot; style={{width:1280,height:720,padding:'20px 60px',background:'#0E1915',fontFamily:'Arial',color:'#F1F5E9'}}&gt;&#10;&lt;Box style={{height:100,justifyContent:'center',gap:8}}&gt;&lt;Text style={{fontSize:18,color:'#CDEA9F'}}&gt;FICTIONAL SWIMMING-CLINIC DEMO&lt;/Text&gt;&lt;Text style={{fontSize:38,fontWeight:700}}&gt;Three concrete requests. No invented commitments.&lt;/Text&gt;&lt;/Box&gt;&#10;&lt;Box style={{height:540,flexDirection:'row',gap:38,alignItems:'center'}}&gt;&#10;&lt;Box style={{width:710,height:512,justifyContent:'center',gap:8}}&gt;&lt;Image src=&quot;SponsorBridge-ui-package-card.png&quot; style={{width:710,height:510,objectFit:'contain'}}/&gt;&lt;/Box&gt;&#10;&lt;Box style={{width:412,height:512,gap:12,justifyContent:'center'}}&gt;&#10;&lt;Text style={{fontSize:52,fontWeight:700,color:'#CDEA9F'}}&gt;48 bottles&lt;/Text&gt;&lt;Text style={{fontSize:25,lineHeight:1.3}}&gt;Sealed 500 ml drinking water&lt;/Text&gt;&#10;&lt;Text style={{fontSize:28,fontWeight:700}}&gt;12 kickboards on loan&lt;/Text&gt;&lt;Text style={{fontSize:28,fontWeight:700}}&gt;1 coach × 3 hours&lt;/Text&gt;&#10;&lt;Box style={{height:130,background:'#1D3328',padding:18,gap:8}}&gt;&lt;Text style={{fontSize:24,fontWeight:700,color:'#CDEA9F'}}&gt;Thank-you only&lt;/Text&gt;&lt;Text style={{fontSize:21,lineHeight:1.35}}&gt;Written by the student team.&lt;br/&gt;No extra rights or endorsement.&lt;/Text&gt;&lt;/Box&gt;&#10;&lt;Text style={{fontSize:20,lineHeight:1.45}}&gt;Proposed: 7 Nov 2026, 09:00–12:00.&lt;br/&gt;24 participants is a planning estimate.&lt;br/&gt;Venue, permissions and acceptance&lt;br/&gt;remain unconfirmed.&lt;/Text&gt;&#10;&lt;/Box&gt;&lt;/Box&gt;&#10;&lt;Box style={{height:40,flexDirection:'row',justifyContent:'space-between',alignItems:'center'}}&gt;&lt;Text style={{fontSize:15}}&gt;Historical screenshot · Fictional test material · Review is not approval&lt;/Text&gt;&lt;Text style={{fontSize:15}}&gt;04 / 06&lt;/Text&gt;&lt;/Box&gt;&#10;&lt;/Slide&gt;"/>
        <p:cNvGrpSpPr/>
        <p:nvPr/>
      </p:nvGrpSpPr>
      <p:grpSpPr>
        <a:xfrm>
          <a:off x="0" y="0"/>
          <a:ext cx="0" cy="0"/>
          <a:chOff x="0" y="0"/>
          <a:chExt cx="0" cy="0"/>
        </a:xfrm>
      </p:grpSpPr>
      <p:sp>
        <p:nvSpPr>
          <p:cNvPr id="45" name=""/>
          <p:cNvSpPr/>
          <p:nvPr/>
        </p:nvSpPr>
        <p:spPr>
          <a:xfrm rot="0" flipH="0" flipV="0">
            <a:off x="0" y="0"/>
            <a:ext cx="12192000" cy="6858000"/>
          </a:xfrm>
          <a:prstGeom prst="rect">
            <a:avLst/>
          </a:prstGeom>
          <a:solidFill>
            <a:srgbClr val="0E1915"/>
          </a:solidFill>
          <a:ln/>
        </p:spPr>
        <p:txBody>
          <a:bodyPr/>
          <a:p/>
        </p:txBody>
      </p:sp>
      <p:sp>
        <p:nvSpPr>
          <p:cNvPr id="46" name="" descr="{&quot;isTemplate&quot;:true,&quot;type&quot;:&quot;text&quot;}"/>
          <p:cNvSpPr txBox="1"/>
          <p:nvPr/>
        </p:nvSpPr>
        <p:spPr>
          <a:xfrm rot="0" flipH="0" flipV="0">
            <a:off x="571500" y="304800"/>
            <a:ext cx="11049000" cy="209550"/>
          </a:xfrm>
          <a:prstGeom prst="rect"/>
        </p:spPr>
        <p:txBody>
          <a:bodyPr wrap="none" lIns="0" tIns="0" rIns="0" bIns="0"/>
          <a:p>
            <a:pPr>
              <a:lnSpc>
                <a:spcPct val="100000"/>
              </a:lnSpc>
            </a:pPr>
            <a:r>
              <a:rPr lang="en-US" sz="1350">
                <a:solidFill>
                  <a:srgbClr val="CDEA9F"/>
                </a:solidFill>
                <a:latin typeface="Arial"/>
                <a:ea typeface="Arial"/>
              </a:rPr>
              <a:t>FICTIONAL SWIMMING-CLINIC DEMO</a:t>
            </a:r>
            <a:endParaRPr/>
          </a:p>
        </p:txBody>
      </p:sp>
      <p:sp>
        <p:nvSpPr>
          <p:cNvPr id="47" name="" descr="{&quot;isTemplate&quot;:true,&quot;type&quot;:&quot;text&quot;}"/>
          <p:cNvSpPr txBox="1"/>
          <p:nvPr/>
        </p:nvSpPr>
        <p:spPr>
          <a:xfrm rot="0" flipH="0" flipV="0">
            <a:off x="571500" y="590550"/>
            <a:ext cx="11049000" cy="438150"/>
          </a:xfrm>
          <a:prstGeom prst="rect"/>
        </p:spPr>
        <p:txBody>
          <a:bodyPr wrap="none" lIns="0" tIns="0" rIns="0" bIns="0"/>
          <a:p>
            <a:pPr>
              <a:lnSpc>
                <a:spcPct val="100000"/>
              </a:lnSpc>
            </a:pPr>
            <a:r>
              <a:rPr lang="en-US" sz="2850" b="1">
                <a:solidFill>
                  <a:srgbClr val="F1F5E9"/>
                </a:solidFill>
                <a:latin typeface="Arial"/>
                <a:ea typeface="Arial"/>
              </a:rPr>
              <a:t>Three concrete requests. No invented commitments.</a:t>
            </a:r>
            <a:endParaRPr/>
          </a:p>
        </p:txBody>
      </p:sp>
      <p:pic>
        <p:nvPicPr>
          <p:cNvPr id="48" name=""/>
          <p:cNvPicPr>
            <a:picLocks noChangeAspect="1"/>
          </p:cNvPicPr>
          <p:nvPr/>
        </p:nvPicPr>
        <p:blipFill>
          <a:blip r:embed="rId2"/>
          <a:srcRect l="0" t="89" r="0" b="89"/>
          <a:stretch>
            <a:fillRect/>
          </a:stretch>
        </p:blipFill>
        <p:spPr>
          <a:xfrm rot="0" flipH="0" flipV="0">
            <a:off x="571500" y="1285875"/>
            <a:ext cx="6762750" cy="4857750"/>
          </a:xfrm>
          <a:prstGeom prst="rect">
            <a:avLst/>
          </a:prstGeom>
          <a:ln/>
        </p:spPr>
      </p:pic>
      <p:sp>
        <p:nvSpPr>
          <p:cNvPr id="49" name="" descr="{&quot;isTemplate&quot;:true,&quot;type&quot;:&quot;text&quot;}"/>
          <p:cNvSpPr txBox="1"/>
          <p:nvPr/>
        </p:nvSpPr>
        <p:spPr>
          <a:xfrm rot="0" flipH="0" flipV="0">
            <a:off x="7696200" y="1333500"/>
            <a:ext cx="3924300" cy="600075"/>
          </a:xfrm>
          <a:prstGeom prst="rect"/>
        </p:spPr>
        <p:txBody>
          <a:bodyPr wrap="none" lIns="0" tIns="0" rIns="0" bIns="0"/>
          <a:p>
            <a:pPr>
              <a:lnSpc>
                <a:spcPct val="100000"/>
              </a:lnSpc>
            </a:pPr>
            <a:r>
              <a:rPr lang="en-US" sz="3900" b="1">
                <a:solidFill>
                  <a:srgbClr val="CDEA9F"/>
                </a:solidFill>
                <a:latin typeface="Arial"/>
                <a:ea typeface="Arial"/>
              </a:rPr>
              <a:t>48 bottles</a:t>
            </a:r>
            <a:endParaRPr/>
          </a:p>
        </p:txBody>
      </p:sp>
      <p:sp>
        <p:nvSpPr>
          <p:cNvPr id="50" name="" descr="{&quot;isTemplate&quot;:true,&quot;type&quot;:&quot;text&quot;}"/>
          <p:cNvSpPr txBox="1"/>
          <p:nvPr/>
        </p:nvSpPr>
        <p:spPr>
          <a:xfrm rot="0" flipH="0" flipV="0">
            <a:off x="7696200" y="2047875"/>
            <a:ext cx="3924300" cy="371475"/>
          </a:xfrm>
          <a:prstGeom prst="rect"/>
        </p:spPr>
        <p:txBody>
          <a:bodyPr wrap="none" lIns="0" tIns="0" rIns="0" bIns="0"/>
          <a:p>
            <a:pPr>
              <a:lnSpc>
                <a:spcPct val="130000"/>
              </a:lnSpc>
            </a:pPr>
            <a:r>
              <a:rPr lang="en-US" sz="1875">
                <a:solidFill>
                  <a:srgbClr val="F1F5E9"/>
                </a:solidFill>
                <a:latin typeface="Arial"/>
                <a:ea typeface="Arial"/>
              </a:rPr>
              <a:t>Sealed 500 ml drinking water</a:t>
            </a:r>
            <a:endParaRPr/>
          </a:p>
        </p:txBody>
      </p:sp>
      <p:sp>
        <p:nvSpPr>
          <p:cNvPr id="51" name="" descr="{&quot;isTemplate&quot;:true,&quot;type&quot;:&quot;text&quot;}"/>
          <p:cNvSpPr txBox="1"/>
          <p:nvPr/>
        </p:nvSpPr>
        <p:spPr>
          <a:xfrm rot="0" flipH="0" flipV="0">
            <a:off x="7696200" y="2533650"/>
            <a:ext cx="3924300" cy="323850"/>
          </a:xfrm>
          <a:prstGeom prst="rect"/>
        </p:spPr>
        <p:txBody>
          <a:bodyPr wrap="none" lIns="0" tIns="0" rIns="0" bIns="0"/>
          <a:p>
            <a:pPr>
              <a:lnSpc>
                <a:spcPct val="100000"/>
              </a:lnSpc>
            </a:pPr>
            <a:r>
              <a:rPr lang="en-US" sz="2100" b="1">
                <a:solidFill>
                  <a:srgbClr val="F1F5E9"/>
                </a:solidFill>
                <a:latin typeface="Arial"/>
                <a:ea typeface="Arial"/>
              </a:rPr>
              <a:t>12 kickboards on loan</a:t>
            </a:r>
            <a:endParaRPr/>
          </a:p>
        </p:txBody>
      </p:sp>
      <p:sp>
        <p:nvSpPr>
          <p:cNvPr id="52" name="" descr="{&quot;isTemplate&quot;:true,&quot;type&quot;:&quot;text&quot;}"/>
          <p:cNvSpPr txBox="1"/>
          <p:nvPr/>
        </p:nvSpPr>
        <p:spPr>
          <a:xfrm rot="0" flipH="0" flipV="0">
            <a:off x="7696200" y="2971800"/>
            <a:ext cx="3924300" cy="323850"/>
          </a:xfrm>
          <a:prstGeom prst="rect"/>
        </p:spPr>
        <p:txBody>
          <a:bodyPr wrap="none" lIns="0" tIns="0" rIns="0" bIns="0"/>
          <a:p>
            <a:pPr>
              <a:lnSpc>
                <a:spcPct val="100000"/>
              </a:lnSpc>
            </a:pPr>
            <a:r>
              <a:rPr lang="en-US" sz="2100" b="1">
                <a:solidFill>
                  <a:srgbClr val="F1F5E9"/>
                </a:solidFill>
                <a:latin typeface="Arial"/>
                <a:ea typeface="Arial"/>
              </a:rPr>
              <a:t>1 coach × 3 hours</a:t>
            </a:r>
            <a:endParaRPr/>
          </a:p>
        </p:txBody>
      </p:sp>
      <p:sp>
        <p:nvSpPr>
          <p:cNvPr id="53" name=""/>
          <p:cNvSpPr/>
          <p:nvPr/>
        </p:nvSpPr>
        <p:spPr>
          <a:xfrm rot="0" flipH="0" flipV="0">
            <a:off x="7696200" y="3409950"/>
            <a:ext cx="3924300" cy="1238250"/>
          </a:xfrm>
          <a:prstGeom prst="rect">
            <a:avLst/>
          </a:prstGeom>
          <a:solidFill>
            <a:srgbClr val="1D3328"/>
          </a:solidFill>
          <a:ln/>
        </p:spPr>
        <p:txBody>
          <a:bodyPr/>
          <a:p/>
        </p:txBody>
      </p:sp>
      <p:sp>
        <p:nvSpPr>
          <p:cNvPr id="54" name="" descr="{&quot;isTemplate&quot;:true,&quot;type&quot;:&quot;text&quot;}"/>
          <p:cNvSpPr txBox="1"/>
          <p:nvPr/>
        </p:nvSpPr>
        <p:spPr>
          <a:xfrm rot="0" flipH="0" flipV="0">
            <a:off x="7867650" y="3581400"/>
            <a:ext cx="3581400" cy="276225"/>
          </a:xfrm>
          <a:prstGeom prst="rect"/>
        </p:spPr>
        <p:txBody>
          <a:bodyPr wrap="none" lIns="0" tIns="0" rIns="0" bIns="0"/>
          <a:p>
            <a:pPr>
              <a:lnSpc>
                <a:spcPct val="100000"/>
              </a:lnSpc>
            </a:pPr>
            <a:r>
              <a:rPr lang="en-US" sz="1800" b="1">
                <a:solidFill>
                  <a:srgbClr val="CDEA9F"/>
                </a:solidFill>
                <a:latin typeface="Arial"/>
                <a:ea typeface="Arial"/>
              </a:rPr>
              <a:t>Thank-you only</a:t>
            </a:r>
            <a:endParaRPr/>
          </a:p>
        </p:txBody>
      </p:sp>
      <p:sp>
        <p:nvSpPr>
          <p:cNvPr id="55" name="" descr="{&quot;isTemplate&quot;:true,&quot;type&quot;:&quot;text&quot;}"/>
          <p:cNvSpPr txBox="1"/>
          <p:nvPr/>
        </p:nvSpPr>
        <p:spPr>
          <a:xfrm rot="0" flipH="0" flipV="0">
            <a:off x="7867650" y="3933825"/>
            <a:ext cx="3581400" cy="657225"/>
          </a:xfrm>
          <a:prstGeom prst="rect"/>
        </p:spPr>
        <p:txBody>
          <a:bodyPr wrap="none" lIns="0" tIns="0" rIns="0" bIns="0"/>
          <a:p>
            <a:pPr>
              <a:lnSpc>
                <a:spcPct val="135000"/>
              </a:lnSpc>
            </a:pPr>
            <a:r>
              <a:rPr lang="en-US" sz="1575">
                <a:solidFill>
                  <a:srgbClr val="F1F5E9"/>
                </a:solidFill>
                <a:latin typeface="Arial"/>
                <a:ea typeface="Arial"/>
              </a:rPr>
              <a:t>Written by the student team.</a:t>
            </a:r>
            <a:endParaRPr/>
          </a:p>
          <a:p>
            <a:pPr>
              <a:lnSpc>
                <a:spcPct val="135000"/>
              </a:lnSpc>
            </a:pPr>
            <a:r>
              <a:rPr lang="en-US" sz="1575">
                <a:solidFill>
                  <a:srgbClr val="F1F5E9"/>
                </a:solidFill>
                <a:latin typeface="Arial"/>
                <a:ea typeface="Arial"/>
              </a:rPr>
              <a:t>No extra rights or endorsement.</a:t>
            </a:r>
            <a:endParaRPr/>
          </a:p>
        </p:txBody>
      </p:sp>
      <p:sp>
        <p:nvSpPr>
          <p:cNvPr id="56" name="" descr="{&quot;isTemplate&quot;:true,&quot;type&quot;:&quot;text&quot;}"/>
          <p:cNvSpPr txBox="1"/>
          <p:nvPr/>
        </p:nvSpPr>
        <p:spPr>
          <a:xfrm rot="0" flipH="0" flipV="0">
            <a:off x="7696200" y="4762500"/>
            <a:ext cx="3924300" cy="1333500"/>
          </a:xfrm>
          <a:prstGeom prst="rect"/>
        </p:spPr>
        <p:txBody>
          <a:bodyPr wrap="none" lIns="0" tIns="0" rIns="0" bIns="0"/>
          <a:p>
            <a:pPr>
              <a:lnSpc>
                <a:spcPct val="145000"/>
              </a:lnSpc>
            </a:pPr>
            <a:r>
              <a:rPr lang="en-US" sz="1500">
                <a:solidFill>
                  <a:srgbClr val="F1F5E9"/>
                </a:solidFill>
                <a:latin typeface="Arial"/>
                <a:ea typeface="Arial"/>
              </a:rPr>
              <a:t>Proposed: 7 Nov 2026, 09:00–12:00.</a:t>
            </a:r>
            <a:endParaRPr/>
          </a:p>
          <a:p>
            <a:pPr>
              <a:lnSpc>
                <a:spcPct val="145000"/>
              </a:lnSpc>
            </a:pPr>
            <a:r>
              <a:rPr lang="en-US" sz="1500">
                <a:solidFill>
                  <a:srgbClr val="F1F5E9"/>
                </a:solidFill>
                <a:latin typeface="Arial"/>
                <a:ea typeface="Arial"/>
              </a:rPr>
              <a:t>24 participants is a planning estimate.</a:t>
            </a:r>
            <a:endParaRPr/>
          </a:p>
          <a:p>
            <a:pPr>
              <a:lnSpc>
                <a:spcPct val="145000"/>
              </a:lnSpc>
            </a:pPr>
            <a:r>
              <a:rPr lang="en-US" sz="1500">
                <a:solidFill>
                  <a:srgbClr val="F1F5E9"/>
                </a:solidFill>
                <a:latin typeface="Arial"/>
                <a:ea typeface="Arial"/>
              </a:rPr>
              <a:t>Venue, permissions and acceptance</a:t>
            </a:r>
            <a:endParaRPr/>
          </a:p>
          <a:p>
            <a:pPr>
              <a:lnSpc>
                <a:spcPct val="145000"/>
              </a:lnSpc>
            </a:pPr>
            <a:r>
              <a:rPr lang="en-US" sz="1500">
                <a:solidFill>
                  <a:srgbClr val="F1F5E9"/>
                </a:solidFill>
                <a:latin typeface="Arial"/>
                <a:ea typeface="Arial"/>
              </a:rPr>
              <a:t>remain unconfirmed.</a:t>
            </a:r>
            <a:endParaRPr/>
          </a:p>
        </p:txBody>
      </p:sp>
      <p:sp>
        <p:nvSpPr>
          <p:cNvPr id="57" name="" descr="{&quot;isTemplate&quot;:true,&quot;type&quot;:&quot;text&quot;}"/>
          <p:cNvSpPr txBox="1"/>
          <p:nvPr/>
        </p:nvSpPr>
        <p:spPr>
          <a:xfrm rot="0" flipH="0" flipV="0">
            <a:off x="571500" y="6391275"/>
            <a:ext cx="4371975" cy="171450"/>
          </a:xfrm>
          <a:prstGeom prst="rect"/>
        </p:spPr>
        <p:txBody>
          <a:bodyPr wrap="none" lIns="0" tIns="0" rIns="0" bIns="0"/>
          <a:p>
            <a:pPr>
              <a:lnSpc>
                <a:spcPct val="100000"/>
              </a:lnSpc>
            </a:pPr>
            <a:r>
              <a:rPr lang="en-US" sz="1125">
                <a:solidFill>
                  <a:srgbClr val="F1F5E9"/>
                </a:solidFill>
                <a:latin typeface="Arial"/>
                <a:ea typeface="Arial"/>
              </a:rPr>
              <a:t>Historical screenshot · Fictional test material · Review is not approval</a:t>
            </a:r>
            <a:endParaRPr/>
          </a:p>
        </p:txBody>
      </p:sp>
      <p:sp>
        <p:nvSpPr>
          <p:cNvPr id="58" name="" descr="{&quot;isTemplate&quot;:true,&quot;type&quot;:&quot;text&quot;}"/>
          <p:cNvSpPr txBox="1"/>
          <p:nvPr/>
        </p:nvSpPr>
        <p:spPr>
          <a:xfrm rot="0" flipH="0" flipV="0">
            <a:off x="11182350" y="6391275"/>
            <a:ext cx="438150" cy="171450"/>
          </a:xfrm>
          <a:prstGeom prst="rect"/>
        </p:spPr>
        <p:txBody>
          <a:bodyPr wrap="none" lIns="0" tIns="0" rIns="0" bIns="0"/>
          <a:p>
            <a:pPr>
              <a:lnSpc>
                <a:spcPct val="100000"/>
              </a:lnSpc>
            </a:pPr>
            <a:r>
              <a:rPr lang="en-US" sz="1125">
                <a:solidFill>
                  <a:srgbClr val="F1F5E9"/>
                </a:solidFill>
                <a:latin typeface="Arial"/>
                <a:ea typeface="Arial"/>
              </a:rPr>
              <a:t>04 / 06</a:t>
            </a:r>
            <a:endParaRPr/>
          </a:p>
        </p:txBody>
      </p:sp>
    </p:spTree>
  </p:cSld>
</p:sld>
</file>

<file path=ppt/slides/slide5.xml><?xml version="1.0" encoding="utf-8"?>
<p:sld xmlns:p="http://schemas.openxmlformats.org/presentationml/2006/main" xmlns:a="http://schemas.openxmlformats.org/drawingml/2006/main">
  <p:cSld>
    <p:spTree>
      <p:nvGrpSpPr>
        <p:cNvPr id="59" name="" descr="&lt;Slide notes=&quot;I kept the runtime small: responsive HTML, CSS and JavaScript, a local Node service, and JSON persistence. The adapter bounds the agent's operations and requires a fresh read receipt for writes. Editing clears that package's review; new answers stale the continuation and invalidate reviews. The copied submission passed 22 existing Node checks on 11 October, as reported. The 63 browser UI checks are from earlier WorkBuddy reports on 10 October, not a fresh rerun for this submission.&quot; style={{width:1280,height:720,padding:'20px 60px',background:'#0E1915',fontFamily:'Arial',color:'#F1F5E9'}}&gt;&#10;&lt;Box style={{height:100,justifyContent:'center',gap:8}}&gt;&lt;Text style={{fontSize:18,color:'#CDEA9F'}}&gt;IMPLEMENTATION AND EVIDENCE&lt;/Text&gt;&lt;Text style={{fontSize:38,fontWeight:700}}&gt;Small local stack. Persistent, reviewable outputs.&lt;/Text&gt;&lt;/Box&gt;&#10;&lt;Box style={{height:540,flexDirection:'row',gap:42,alignItems:'center'}}&gt;&#10;&lt;Box style={{width:650,height:510,gap:16,justifyContent:'center'}}&gt;&#10;&lt;Box style={{height:205,background:'#1D3328',padding:24,gap:12}}&gt;&lt;Text style={{fontSize:28,fontWeight:700,color:'#CDEA9F'}}&gt;Browser → Node → local JSON&lt;/Text&gt;&lt;Text style={{fontSize:24,lineHeight:1.5}}&gt;Responsive HTML / CSS / JavaScript&lt;br/&gt;Node 22+ service · no runtime npm dependencies&lt;br/&gt;Immutable inputs + numbered saved revisions&lt;/Text&gt;&lt;/Box&gt;&#10;&lt;Text style={{fontSize:25,fontWeight:700,color:'#CDEA9F'}}&gt;Bounded local adapter operations&lt;/Text&gt;&lt;Text style={{fontSize:23,lineHeight:1.4}}&gt;read, ack, plan, preparation, continuation.&lt;br/&gt;Writes require a fresh request/revision-bound receipt.&lt;/Text&gt;&#10;&lt;Text style={{fontSize:25,fontWeight:700,color:'#CDEA9F'}}&gt;Reviews cannot silently stay current&lt;/Text&gt;&lt;Text style={{fontSize:23,lineHeight:1.4}}&gt;Edit → clear affected review.&lt;br/&gt;New answers → stale continuation + invalidated reviews.&lt;/Text&gt;&#10;&lt;/Box&gt;&#10;&lt;Box style={{width:468,height:496,gap:24,justifyContent:'center'}}&gt;&#10;&lt;Box style={{height:224,background:'#1D3328',padding:16,gap:10}}&gt;&lt;Text style={{fontSize:70,fontWeight:700,color:'#CDEA9F'}}&gt;22&lt;/Text&gt;&lt;Text style={{fontSize:25,fontWeight:700}}&gt;Existing Node checks passed&lt;/Text&gt;&lt;Text style={{fontSize:20,lineHeight:1.4}}&gt;Copied submission · 11 Oct 2026&lt;br/&gt;Reported result; not rerun for this deck.&lt;/Text&gt;&lt;/Box&gt;&#10;&lt;Box style={{height:246,padding:16,gap:8}}&gt;&lt;Text style={{fontSize:64,fontWeight:700,color:'#CDEA9F'}}&gt;63&lt;/Text&gt;&lt;Text style={{fontSize:25,fontWeight:700}}&gt;Earlier browser UI checks&lt;/Text&gt;&lt;Text style={{fontSize:20,lineHeight:1.4}}&gt;WorkBuddy reports · 10 Oct 2026&lt;br/&gt;Historical, not freshly rerun.&lt;br/&gt;Includes isolated in-memory UI mocks.&lt;/Text&gt;&lt;/Box&gt;&#10;&lt;/Box&gt;&lt;/Box&gt;&#10;&lt;Box style={{height:40,flexDirection:'row',justifyContent:'space-between',alignItems:'center'}}&gt;&lt;Text style={{fontSize:15}}&gt;Test provenance is explicit · No usability-study or production-readiness claim&lt;/Text&gt;&lt;Text style={{fontSize:15}}&gt;05 / 06&lt;/Text&gt;&lt;/Box&gt;&#10;&lt;/Slide&gt;"/>
        <p:cNvGrpSpPr/>
        <p:nvPr/>
      </p:nvGrpSpPr>
      <p:grpSpPr>
        <a:xfrm>
          <a:off x="0" y="0"/>
          <a:ext cx="0" cy="0"/>
          <a:chOff x="0" y="0"/>
          <a:chExt cx="0" cy="0"/>
        </a:xfrm>
      </p:grpSpPr>
      <p:sp>
        <p:nvSpPr>
          <p:cNvPr id="60" name=""/>
          <p:cNvSpPr/>
          <p:nvPr/>
        </p:nvSpPr>
        <p:spPr>
          <a:xfrm rot="0" flipH="0" flipV="0">
            <a:off x="0" y="0"/>
            <a:ext cx="12192000" cy="6858000"/>
          </a:xfrm>
          <a:prstGeom prst="rect">
            <a:avLst/>
          </a:prstGeom>
          <a:solidFill>
            <a:srgbClr val="0E1915"/>
          </a:solidFill>
          <a:ln/>
        </p:spPr>
        <p:txBody>
          <a:bodyPr/>
          <a:p/>
        </p:txBody>
      </p:sp>
      <p:sp>
        <p:nvSpPr>
          <p:cNvPr id="61" name="" descr="{&quot;isTemplate&quot;:true,&quot;type&quot;:&quot;text&quot;}"/>
          <p:cNvSpPr txBox="1"/>
          <p:nvPr/>
        </p:nvSpPr>
        <p:spPr>
          <a:xfrm rot="0" flipH="0" flipV="0">
            <a:off x="571500" y="304800"/>
            <a:ext cx="11049000" cy="209550"/>
          </a:xfrm>
          <a:prstGeom prst="rect"/>
        </p:spPr>
        <p:txBody>
          <a:bodyPr wrap="none" lIns="0" tIns="0" rIns="0" bIns="0"/>
          <a:p>
            <a:pPr>
              <a:lnSpc>
                <a:spcPct val="100000"/>
              </a:lnSpc>
            </a:pPr>
            <a:r>
              <a:rPr lang="en-US" sz="1350">
                <a:solidFill>
                  <a:srgbClr val="CDEA9F"/>
                </a:solidFill>
                <a:latin typeface="Arial"/>
                <a:ea typeface="Arial"/>
              </a:rPr>
              <a:t>IMPLEMENTATION AND EVIDENCE</a:t>
            </a:r>
            <a:endParaRPr/>
          </a:p>
        </p:txBody>
      </p:sp>
      <p:sp>
        <p:nvSpPr>
          <p:cNvPr id="62" name="" descr="{&quot;isTemplate&quot;:true,&quot;type&quot;:&quot;text&quot;}"/>
          <p:cNvSpPr txBox="1"/>
          <p:nvPr/>
        </p:nvSpPr>
        <p:spPr>
          <a:xfrm rot="0" flipH="0" flipV="0">
            <a:off x="571500" y="590550"/>
            <a:ext cx="11049000" cy="438150"/>
          </a:xfrm>
          <a:prstGeom prst="rect"/>
        </p:spPr>
        <p:txBody>
          <a:bodyPr wrap="none" lIns="0" tIns="0" rIns="0" bIns="0"/>
          <a:p>
            <a:pPr>
              <a:lnSpc>
                <a:spcPct val="100000"/>
              </a:lnSpc>
            </a:pPr>
            <a:r>
              <a:rPr lang="en-US" sz="2850" b="1">
                <a:solidFill>
                  <a:srgbClr val="F1F5E9"/>
                </a:solidFill>
                <a:latin typeface="Arial"/>
                <a:ea typeface="Arial"/>
              </a:rPr>
              <a:t>Small local stack. Persistent, reviewable outputs.</a:t>
            </a:r>
            <a:endParaRPr/>
          </a:p>
        </p:txBody>
      </p:sp>
      <p:sp>
        <p:nvSpPr>
          <p:cNvPr id="63" name=""/>
          <p:cNvSpPr/>
          <p:nvPr/>
        </p:nvSpPr>
        <p:spPr>
          <a:xfrm rot="0" flipH="0" flipV="0">
            <a:off x="571500" y="1409700"/>
            <a:ext cx="6191250" cy="1952625"/>
          </a:xfrm>
          <a:prstGeom prst="rect">
            <a:avLst/>
          </a:prstGeom>
          <a:solidFill>
            <a:srgbClr val="1D3328"/>
          </a:solidFill>
          <a:ln/>
        </p:spPr>
        <p:txBody>
          <a:bodyPr/>
          <a:p/>
        </p:txBody>
      </p:sp>
      <p:sp>
        <p:nvSpPr>
          <p:cNvPr id="64" name="" descr="{&quot;isTemplate&quot;:true,&quot;type&quot;:&quot;text&quot;}"/>
          <p:cNvSpPr txBox="1"/>
          <p:nvPr/>
        </p:nvSpPr>
        <p:spPr>
          <a:xfrm rot="0" flipH="0" flipV="0">
            <a:off x="800100" y="1638300"/>
            <a:ext cx="5734050" cy="323850"/>
          </a:xfrm>
          <a:prstGeom prst="rect"/>
        </p:spPr>
        <p:txBody>
          <a:bodyPr wrap="none" lIns="0" tIns="0" rIns="0" bIns="0"/>
          <a:p>
            <a:pPr>
              <a:lnSpc>
                <a:spcPct val="100000"/>
              </a:lnSpc>
            </a:pPr>
            <a:r>
              <a:rPr lang="en-US" sz="2100" b="1">
                <a:solidFill>
                  <a:srgbClr val="CDEA9F"/>
                </a:solidFill>
                <a:latin typeface="Arial"/>
                <a:ea typeface="Arial"/>
              </a:rPr>
              <a:t>Browser → Node → local JSON</a:t>
            </a:r>
            <a:endParaRPr/>
          </a:p>
        </p:txBody>
      </p:sp>
      <p:sp>
        <p:nvSpPr>
          <p:cNvPr id="65" name="" descr="{&quot;isTemplate&quot;:true,&quot;type&quot;:&quot;text&quot;}"/>
          <p:cNvSpPr txBox="1"/>
          <p:nvPr/>
        </p:nvSpPr>
        <p:spPr>
          <a:xfrm rot="0" flipH="0" flipV="0">
            <a:off x="800100" y="2076450"/>
            <a:ext cx="5734050" cy="1238250"/>
          </a:xfrm>
          <a:prstGeom prst="rect"/>
        </p:spPr>
        <p:txBody>
          <a:bodyPr wrap="none" lIns="0" tIns="0" rIns="0" bIns="0"/>
          <a:p>
            <a:pPr>
              <a:lnSpc>
                <a:spcPct val="150000"/>
              </a:lnSpc>
            </a:pPr>
            <a:r>
              <a:rPr lang="en-US" sz="1800">
                <a:solidFill>
                  <a:srgbClr val="F1F5E9"/>
                </a:solidFill>
                <a:latin typeface="Arial"/>
                <a:ea typeface="Arial"/>
              </a:rPr>
              <a:t>Responsive HTML / CSS / JavaScript</a:t>
            </a:r>
            <a:endParaRPr/>
          </a:p>
          <a:p>
            <a:pPr>
              <a:lnSpc>
                <a:spcPct val="150000"/>
              </a:lnSpc>
            </a:pPr>
            <a:r>
              <a:rPr lang="en-US" sz="1800">
                <a:solidFill>
                  <a:srgbClr val="F1F5E9"/>
                </a:solidFill>
                <a:latin typeface="Arial"/>
                <a:ea typeface="Arial"/>
              </a:rPr>
              <a:t>Node 22+ service · no runtime npm dependencies</a:t>
            </a:r>
            <a:endParaRPr/>
          </a:p>
          <a:p>
            <a:pPr>
              <a:lnSpc>
                <a:spcPct val="150000"/>
              </a:lnSpc>
            </a:pPr>
            <a:r>
              <a:rPr lang="en-US" sz="1800">
                <a:solidFill>
                  <a:srgbClr val="F1F5E9"/>
                </a:solidFill>
                <a:latin typeface="Arial"/>
                <a:ea typeface="Arial"/>
              </a:rPr>
              <a:t>Immutable inputs + numbered saved revisions</a:t>
            </a:r>
            <a:endParaRPr/>
          </a:p>
        </p:txBody>
      </p:sp>
      <p:sp>
        <p:nvSpPr>
          <p:cNvPr id="66" name="" descr="{&quot;isTemplate&quot;:true,&quot;type&quot;:&quot;text&quot;}"/>
          <p:cNvSpPr txBox="1"/>
          <p:nvPr/>
        </p:nvSpPr>
        <p:spPr>
          <a:xfrm rot="0" flipH="0" flipV="0">
            <a:off x="571500" y="3514725"/>
            <a:ext cx="6191250" cy="285750"/>
          </a:xfrm>
          <a:prstGeom prst="rect"/>
        </p:spPr>
        <p:txBody>
          <a:bodyPr wrap="none" lIns="0" tIns="0" rIns="0" bIns="0"/>
          <a:p>
            <a:pPr>
              <a:lnSpc>
                <a:spcPct val="100000"/>
              </a:lnSpc>
            </a:pPr>
            <a:r>
              <a:rPr lang="en-US" sz="1875" b="1">
                <a:solidFill>
                  <a:srgbClr val="CDEA9F"/>
                </a:solidFill>
                <a:latin typeface="Arial"/>
                <a:ea typeface="Arial"/>
              </a:rPr>
              <a:t>Bounded local adapter operations</a:t>
            </a:r>
            <a:endParaRPr/>
          </a:p>
        </p:txBody>
      </p:sp>
      <p:sp>
        <p:nvSpPr>
          <p:cNvPr id="67" name="" descr="{&quot;isTemplate&quot;:true,&quot;type&quot;:&quot;text&quot;}"/>
          <p:cNvSpPr txBox="1"/>
          <p:nvPr/>
        </p:nvSpPr>
        <p:spPr>
          <a:xfrm rot="0" flipH="0" flipV="0">
            <a:off x="571500" y="3952875"/>
            <a:ext cx="6191250" cy="742950"/>
          </a:xfrm>
          <a:prstGeom prst="rect"/>
        </p:spPr>
        <p:txBody>
          <a:bodyPr wrap="none" lIns="0" tIns="0" rIns="0" bIns="0"/>
          <a:p>
            <a:pPr>
              <a:lnSpc>
                <a:spcPct val="140000"/>
              </a:lnSpc>
            </a:pPr>
            <a:r>
              <a:rPr lang="en-US" sz="1725">
                <a:solidFill>
                  <a:srgbClr val="F1F5E9"/>
                </a:solidFill>
                <a:latin typeface="Arial"/>
                <a:ea typeface="Arial"/>
              </a:rPr>
              <a:t>read, ack, plan, preparation, continuation.</a:t>
            </a:r>
            <a:endParaRPr/>
          </a:p>
          <a:p>
            <a:pPr>
              <a:lnSpc>
                <a:spcPct val="140000"/>
              </a:lnSpc>
            </a:pPr>
            <a:r>
              <a:rPr lang="en-US" sz="1725">
                <a:solidFill>
                  <a:srgbClr val="F1F5E9"/>
                </a:solidFill>
                <a:latin typeface="Arial"/>
                <a:ea typeface="Arial"/>
              </a:rPr>
              <a:t>Writes require a fresh request/revision-bound receipt.</a:t>
            </a:r>
            <a:endParaRPr/>
          </a:p>
        </p:txBody>
      </p:sp>
      <p:sp>
        <p:nvSpPr>
          <p:cNvPr id="68" name="" descr="{&quot;isTemplate&quot;:true,&quot;type&quot;:&quot;text&quot;}"/>
          <p:cNvSpPr txBox="1"/>
          <p:nvPr/>
        </p:nvSpPr>
        <p:spPr>
          <a:xfrm rot="0" flipH="0" flipV="0">
            <a:off x="571500" y="4848225"/>
            <a:ext cx="6191250" cy="285750"/>
          </a:xfrm>
          <a:prstGeom prst="rect"/>
        </p:spPr>
        <p:txBody>
          <a:bodyPr wrap="none" lIns="0" tIns="0" rIns="0" bIns="0"/>
          <a:p>
            <a:pPr>
              <a:lnSpc>
                <a:spcPct val="100000"/>
              </a:lnSpc>
            </a:pPr>
            <a:r>
              <a:rPr lang="en-US" sz="1875" b="1">
                <a:solidFill>
                  <a:srgbClr val="CDEA9F"/>
                </a:solidFill>
                <a:latin typeface="Arial"/>
                <a:ea typeface="Arial"/>
              </a:rPr>
              <a:t>Reviews cannot silently stay current</a:t>
            </a:r>
            <a:endParaRPr/>
          </a:p>
        </p:txBody>
      </p:sp>
      <p:sp>
        <p:nvSpPr>
          <p:cNvPr id="69" name="" descr="{&quot;isTemplate&quot;:true,&quot;type&quot;:&quot;text&quot;}"/>
          <p:cNvSpPr txBox="1"/>
          <p:nvPr/>
        </p:nvSpPr>
        <p:spPr>
          <a:xfrm rot="0" flipH="0" flipV="0">
            <a:off x="571500" y="5286375"/>
            <a:ext cx="6191250" cy="742950"/>
          </a:xfrm>
          <a:prstGeom prst="rect"/>
        </p:spPr>
        <p:txBody>
          <a:bodyPr wrap="none" lIns="0" tIns="0" rIns="0" bIns="0"/>
          <a:p>
            <a:pPr>
              <a:lnSpc>
                <a:spcPct val="140000"/>
              </a:lnSpc>
            </a:pPr>
            <a:r>
              <a:rPr lang="en-US" sz="1725">
                <a:solidFill>
                  <a:srgbClr val="F1F5E9"/>
                </a:solidFill>
                <a:latin typeface="Arial"/>
                <a:ea typeface="Arial"/>
              </a:rPr>
              <a:t>Edit → clear affected review.</a:t>
            </a:r>
            <a:endParaRPr/>
          </a:p>
          <a:p>
            <a:pPr>
              <a:lnSpc>
                <a:spcPct val="140000"/>
              </a:lnSpc>
            </a:pPr>
            <a:r>
              <a:rPr lang="en-US" sz="1725">
                <a:solidFill>
                  <a:srgbClr val="F1F5E9"/>
                </a:solidFill>
                <a:latin typeface="Arial"/>
                <a:ea typeface="Arial"/>
              </a:rPr>
              <a:t>New answers → stale continuation + invalidated reviews.</a:t>
            </a:r>
            <a:endParaRPr/>
          </a:p>
        </p:txBody>
      </p:sp>
      <p:sp>
        <p:nvSpPr>
          <p:cNvPr id="70" name=""/>
          <p:cNvSpPr/>
          <p:nvPr/>
        </p:nvSpPr>
        <p:spPr>
          <a:xfrm rot="0" flipH="0" flipV="0">
            <a:off x="7162800" y="1362075"/>
            <a:ext cx="4457700" cy="2133600"/>
          </a:xfrm>
          <a:prstGeom prst="rect">
            <a:avLst/>
          </a:prstGeom>
          <a:solidFill>
            <a:srgbClr val="1D3328"/>
          </a:solidFill>
          <a:ln/>
        </p:spPr>
        <p:txBody>
          <a:bodyPr/>
          <a:p/>
        </p:txBody>
      </p:sp>
      <p:sp>
        <p:nvSpPr>
          <p:cNvPr id="71" name="" descr="{&quot;isTemplate&quot;:true,&quot;type&quot;:&quot;text&quot;}"/>
          <p:cNvSpPr txBox="1"/>
          <p:nvPr/>
        </p:nvSpPr>
        <p:spPr>
          <a:xfrm rot="0" flipH="0" flipV="0">
            <a:off x="7315200" y="1514475"/>
            <a:ext cx="4152900" cy="800100"/>
          </a:xfrm>
          <a:prstGeom prst="rect"/>
        </p:spPr>
        <p:txBody>
          <a:bodyPr wrap="none" lIns="0" tIns="0" rIns="0" bIns="0"/>
          <a:p>
            <a:pPr>
              <a:lnSpc>
                <a:spcPct val="100000"/>
              </a:lnSpc>
            </a:pPr>
            <a:r>
              <a:rPr lang="en-US" sz="5250" b="1">
                <a:solidFill>
                  <a:srgbClr val="CDEA9F"/>
                </a:solidFill>
                <a:latin typeface="Arial"/>
                <a:ea typeface="Arial"/>
              </a:rPr>
              <a:t>22</a:t>
            </a:r>
            <a:endParaRPr/>
          </a:p>
        </p:txBody>
      </p:sp>
      <p:sp>
        <p:nvSpPr>
          <p:cNvPr id="72" name="" descr="{&quot;isTemplate&quot;:true,&quot;type&quot;:&quot;text&quot;}"/>
          <p:cNvSpPr txBox="1"/>
          <p:nvPr/>
        </p:nvSpPr>
        <p:spPr>
          <a:xfrm rot="0" flipH="0" flipV="0">
            <a:off x="7315200" y="2409825"/>
            <a:ext cx="4152900" cy="285750"/>
          </a:xfrm>
          <a:prstGeom prst="rect"/>
        </p:spPr>
        <p:txBody>
          <a:bodyPr wrap="none" lIns="0" tIns="0" rIns="0" bIns="0"/>
          <a:p>
            <a:pPr>
              <a:lnSpc>
                <a:spcPct val="100000"/>
              </a:lnSpc>
            </a:pPr>
            <a:r>
              <a:rPr lang="en-US" sz="1875" b="1">
                <a:solidFill>
                  <a:srgbClr val="F1F5E9"/>
                </a:solidFill>
                <a:latin typeface="Arial"/>
                <a:ea typeface="Arial"/>
              </a:rPr>
              <a:t>Existing Node checks passed</a:t>
            </a:r>
            <a:endParaRPr/>
          </a:p>
        </p:txBody>
      </p:sp>
      <p:sp>
        <p:nvSpPr>
          <p:cNvPr id="73" name="" descr="{&quot;isTemplate&quot;:true,&quot;type&quot;:&quot;text&quot;}"/>
          <p:cNvSpPr txBox="1"/>
          <p:nvPr/>
        </p:nvSpPr>
        <p:spPr>
          <a:xfrm rot="0" flipH="0" flipV="0">
            <a:off x="7315200" y="2790825"/>
            <a:ext cx="4152900" cy="647700"/>
          </a:xfrm>
          <a:prstGeom prst="rect"/>
        </p:spPr>
        <p:txBody>
          <a:bodyPr wrap="none" lIns="0" tIns="0" rIns="0" bIns="0"/>
          <a:p>
            <a:pPr>
              <a:lnSpc>
                <a:spcPct val="140000"/>
              </a:lnSpc>
            </a:pPr>
            <a:r>
              <a:rPr lang="en-US" sz="1500">
                <a:solidFill>
                  <a:srgbClr val="F1F5E9"/>
                </a:solidFill>
                <a:latin typeface="Arial"/>
                <a:ea typeface="Arial"/>
              </a:rPr>
              <a:t>Copied submission · 11 Oct 2026</a:t>
            </a:r>
            <a:endParaRPr/>
          </a:p>
          <a:p>
            <a:pPr>
              <a:lnSpc>
                <a:spcPct val="140000"/>
              </a:lnSpc>
            </a:pPr>
            <a:r>
              <a:rPr lang="en-US" sz="1500">
                <a:solidFill>
                  <a:srgbClr val="F1F5E9"/>
                </a:solidFill>
                <a:latin typeface="Arial"/>
                <a:ea typeface="Arial"/>
              </a:rPr>
              <a:t>Reported result; not rerun for this deck.</a:t>
            </a:r>
            <a:endParaRPr/>
          </a:p>
        </p:txBody>
      </p:sp>
      <p:sp>
        <p:nvSpPr>
          <p:cNvPr id="74" name="" descr="{&quot;isTemplate&quot;:true,&quot;type&quot;:&quot;text&quot;}"/>
          <p:cNvSpPr txBox="1"/>
          <p:nvPr/>
        </p:nvSpPr>
        <p:spPr>
          <a:xfrm rot="0" flipH="0" flipV="0">
            <a:off x="7315200" y="3876675"/>
            <a:ext cx="4152900" cy="733425"/>
          </a:xfrm>
          <a:prstGeom prst="rect"/>
        </p:spPr>
        <p:txBody>
          <a:bodyPr wrap="none" lIns="0" tIns="0" rIns="0" bIns="0"/>
          <a:p>
            <a:pPr>
              <a:lnSpc>
                <a:spcPct val="100000"/>
              </a:lnSpc>
            </a:pPr>
            <a:r>
              <a:rPr lang="en-US" sz="4800" b="1">
                <a:solidFill>
                  <a:srgbClr val="CDEA9F"/>
                </a:solidFill>
                <a:latin typeface="Arial"/>
                <a:ea typeface="Arial"/>
              </a:rPr>
              <a:t>63</a:t>
            </a:r>
            <a:endParaRPr/>
          </a:p>
        </p:txBody>
      </p:sp>
      <p:sp>
        <p:nvSpPr>
          <p:cNvPr id="75" name="" descr="{&quot;isTemplate&quot;:true,&quot;type&quot;:&quot;text&quot;}"/>
          <p:cNvSpPr txBox="1"/>
          <p:nvPr/>
        </p:nvSpPr>
        <p:spPr>
          <a:xfrm rot="0" flipH="0" flipV="0">
            <a:off x="7315200" y="4686300"/>
            <a:ext cx="4152900" cy="285750"/>
          </a:xfrm>
          <a:prstGeom prst="rect"/>
        </p:spPr>
        <p:txBody>
          <a:bodyPr wrap="none" lIns="0" tIns="0" rIns="0" bIns="0"/>
          <a:p>
            <a:pPr>
              <a:lnSpc>
                <a:spcPct val="100000"/>
              </a:lnSpc>
            </a:pPr>
            <a:r>
              <a:rPr lang="en-US" sz="1875" b="1">
                <a:solidFill>
                  <a:srgbClr val="F1F5E9"/>
                </a:solidFill>
                <a:latin typeface="Arial"/>
                <a:ea typeface="Arial"/>
              </a:rPr>
              <a:t>Earlier browser UI checks</a:t>
            </a:r>
            <a:endParaRPr/>
          </a:p>
        </p:txBody>
      </p:sp>
      <p:sp>
        <p:nvSpPr>
          <p:cNvPr id="76" name="" descr="{&quot;isTemplate&quot;:true,&quot;type&quot;:&quot;text&quot;}"/>
          <p:cNvSpPr txBox="1"/>
          <p:nvPr/>
        </p:nvSpPr>
        <p:spPr>
          <a:xfrm rot="0" flipH="0" flipV="0">
            <a:off x="7315200" y="5048250"/>
            <a:ext cx="4152900" cy="962025"/>
          </a:xfrm>
          <a:prstGeom prst="rect"/>
        </p:spPr>
        <p:txBody>
          <a:bodyPr wrap="none" lIns="0" tIns="0" rIns="0" bIns="0"/>
          <a:p>
            <a:pPr>
              <a:lnSpc>
                <a:spcPct val="140000"/>
              </a:lnSpc>
            </a:pPr>
            <a:r>
              <a:rPr lang="en-US" sz="1500">
                <a:solidFill>
                  <a:srgbClr val="F1F5E9"/>
                </a:solidFill>
                <a:latin typeface="Arial"/>
                <a:ea typeface="Arial"/>
              </a:rPr>
              <a:t>WorkBuddy reports · 10 Oct 2026</a:t>
            </a:r>
            <a:endParaRPr/>
          </a:p>
          <a:p>
            <a:pPr>
              <a:lnSpc>
                <a:spcPct val="140000"/>
              </a:lnSpc>
            </a:pPr>
            <a:r>
              <a:rPr lang="en-US" sz="1500">
                <a:solidFill>
                  <a:srgbClr val="F1F5E9"/>
                </a:solidFill>
                <a:latin typeface="Arial"/>
                <a:ea typeface="Arial"/>
              </a:rPr>
              <a:t>Historical, not freshly rerun.</a:t>
            </a:r>
            <a:endParaRPr/>
          </a:p>
          <a:p>
            <a:pPr>
              <a:lnSpc>
                <a:spcPct val="140000"/>
              </a:lnSpc>
            </a:pPr>
            <a:r>
              <a:rPr lang="en-US" sz="1500">
                <a:solidFill>
                  <a:srgbClr val="F1F5E9"/>
                </a:solidFill>
                <a:latin typeface="Arial"/>
                <a:ea typeface="Arial"/>
              </a:rPr>
              <a:t>Includes isolated in-memory UI mocks.</a:t>
            </a:r>
            <a:endParaRPr/>
          </a:p>
        </p:txBody>
      </p:sp>
      <p:sp>
        <p:nvSpPr>
          <p:cNvPr id="77" name="" descr="{&quot;isTemplate&quot;:true,&quot;type&quot;:&quot;text&quot;}"/>
          <p:cNvSpPr txBox="1"/>
          <p:nvPr/>
        </p:nvSpPr>
        <p:spPr>
          <a:xfrm rot="0" flipH="0" flipV="0">
            <a:off x="571500" y="6391275"/>
            <a:ext cx="4838700" cy="171450"/>
          </a:xfrm>
          <a:prstGeom prst="rect"/>
        </p:spPr>
        <p:txBody>
          <a:bodyPr wrap="none" lIns="0" tIns="0" rIns="0" bIns="0"/>
          <a:p>
            <a:pPr>
              <a:lnSpc>
                <a:spcPct val="100000"/>
              </a:lnSpc>
            </a:pPr>
            <a:r>
              <a:rPr lang="en-US" sz="1125">
                <a:solidFill>
                  <a:srgbClr val="F1F5E9"/>
                </a:solidFill>
                <a:latin typeface="Arial"/>
                <a:ea typeface="Arial"/>
              </a:rPr>
              <a:t>Test provenance is explicit · No usability-study or production-readiness claim</a:t>
            </a:r>
            <a:endParaRPr/>
          </a:p>
        </p:txBody>
      </p:sp>
      <p:sp>
        <p:nvSpPr>
          <p:cNvPr id="78" name="" descr="{&quot;isTemplate&quot;:true,&quot;type&quot;:&quot;text&quot;}"/>
          <p:cNvSpPr txBox="1"/>
          <p:nvPr/>
        </p:nvSpPr>
        <p:spPr>
          <a:xfrm rot="0" flipH="0" flipV="0">
            <a:off x="11182350" y="6391275"/>
            <a:ext cx="438150" cy="171450"/>
          </a:xfrm>
          <a:prstGeom prst="rect"/>
        </p:spPr>
        <p:txBody>
          <a:bodyPr wrap="none" lIns="0" tIns="0" rIns="0" bIns="0"/>
          <a:p>
            <a:pPr>
              <a:lnSpc>
                <a:spcPct val="100000"/>
              </a:lnSpc>
            </a:pPr>
            <a:r>
              <a:rPr lang="en-US" sz="1125">
                <a:solidFill>
                  <a:srgbClr val="F1F5E9"/>
                </a:solidFill>
                <a:latin typeface="Arial"/>
                <a:ea typeface="Arial"/>
              </a:rPr>
              <a:t>05 / 06</a:t>
            </a:r>
            <a:endParaRPr/>
          </a:p>
        </p:txBody>
      </p:sp>
    </p:spTree>
  </p:cSld>
</p:sld>
</file>

<file path=ppt/slides/slide6.xml><?xml version="1.0" encoding="utf-8"?>
<p:sld xmlns:p="http://schemas.openxmlformats.org/presentationml/2006/main" xmlns:a="http://schemas.openxmlformats.org/drawingml/2006/main" xmlns:r="http://schemas.openxmlformats.org/officeDocument/2006/relationships">
  <p:cSld>
    <p:spTree>
      <p:nvGrpSpPr>
        <p:cNvPr id="79" name="" descr="&lt;Slide notes=&quot;SponsorBridge currently works through preparation and editable package drafts. Business matching, personalised pitches and complete campaign export are next steps, not features I am claiming today. The prototype uses fictional data and manual start and resume, and runs locally for a single user. I have not contacted businesses, secured sponsorship, processed payments or obtained university approval. The public GitHub link is source code, not a hosted web application.&quot; style={{width:1280,height:720,padding:'20px 60px',background:'#0E1915',fontFamily:'Arial',color:'#F1F5E9'}}&gt;&#10;&lt;Box style={{height:100,justifyContent:'center',gap:8}}&gt;&lt;Text style={{fontSize:18,color:'#CDEA9F'}}&gt;CURRENT SCOPE AND NEXT STEPS&lt;/Text&gt;&lt;Text style={{fontSize:38,fontWeight:700}}&gt;Working preparation today. Campaign workflow next.&lt;/Text&gt;&lt;/Box&gt;&#10;&lt;Box style={{height:540,gap:22,justifyContent:'center'}}&gt;&#10;&lt;Box style={{height:354,flexDirection:'row',gap:40}}&gt;&#10;&lt;Box style={{width:336,height:354,gap:12}}&gt;&lt;Image src=&quot;SponsorBridge-ui-overview.png&quot; style={{width:240,height:316,objectFit:'contain'}}/&gt;&lt;Text style={{fontSize:16,color:'#CDEA9F'}}&gt;Actual app · historical screenshot&lt;/Text&gt;&lt;/Box&gt;&#10;&lt;Box style={{width:360,height:354,gap:12,justifyContent:'center'}}&gt;&lt;Text style={{fontSize:29,fontWeight:700,color:'#CDEA9F'}}&gt;Implemented&lt;/Text&gt;&lt;Text style={{fontSize:25,lineHeight:1.5}}&gt;Saved proposals and goals&lt;br/&gt;Plan + clarification&lt;br/&gt;Answers + package drafts&lt;br/&gt;Student editing / review&lt;/Text&gt;&lt;Text style={{fontSize:22,lineHeight:1.4}}&gt;Manual start / resume&lt;br/&gt;Local single-user operation&lt;br/&gt;Conspicuously fictional data&lt;/Text&gt;&lt;/Box&gt;&#10;&lt;Box style={{width:384,height:354,background:'#1D3328',padding:24,gap:20,justifyContent:'center'}}&gt;&lt;Text style={{fontSize:29,fontWeight:700,color:'#CDEA9F'}}&gt;Planned, not built&lt;/Text&gt;&lt;Text style={{fontSize:26,lineHeight:1.55}}&gt;Business matching&lt;br/&gt;↓&lt;br/&gt;Personalised pitches&lt;br/&gt;↓&lt;br/&gt;Complete campaign export&lt;/Text&gt;&lt;/Box&gt;&#10;&lt;/Box&gt;&#10;&lt;Box style={{height:132,background:'#1D3328',padding:22,gap:12}}&gt;&lt;Text style={{fontSize:26,fontWeight:700,color:'#CDEA9F'}}&gt;Public source repository · Not a hosted web app&lt;/Text&gt;&lt;Text href=&quot;https://github.com/ryuhanbin/sponsorbridge-hackathon&quot; style={{fontSize:25}}&gt;https://github.com/ryuhanbin/sponsorbridge-hackathon&lt;/Text&gt;&lt;Text style={{fontSize:20}}&gt;No automatic dispatch, business outreach, payments, or university approval.&lt;/Text&gt;&lt;/Box&gt;&#10;&lt;/Box&gt;&#10;&lt;Box style={{height:40,flexDirection:'row',justifyContent:'space-between',alignItems:'center'}}&gt;&lt;Text style={{fontSize:15}}&gt;Afiq · SponsorBridge · 11 October 2026&lt;/Text&gt;&lt;Text style={{fontSize:15}}&gt;06 / 06&lt;/Text&gt;&lt;/Box&gt;&#10;&lt;/Slide&gt;"/>
        <p:cNvGrpSpPr/>
        <p:nvPr/>
      </p:nvGrpSpPr>
      <p:grpSpPr>
        <a:xfrm>
          <a:off x="0" y="0"/>
          <a:ext cx="0" cy="0"/>
          <a:chOff x="0" y="0"/>
          <a:chExt cx="0" cy="0"/>
        </a:xfrm>
      </p:grpSpPr>
      <p:sp>
        <p:nvSpPr>
          <p:cNvPr id="80" name=""/>
          <p:cNvSpPr/>
          <p:nvPr/>
        </p:nvSpPr>
        <p:spPr>
          <a:xfrm rot="0" flipH="0" flipV="0">
            <a:off x="0" y="0"/>
            <a:ext cx="12192000" cy="6858000"/>
          </a:xfrm>
          <a:prstGeom prst="rect">
            <a:avLst/>
          </a:prstGeom>
          <a:solidFill>
            <a:srgbClr val="0E1915"/>
          </a:solidFill>
          <a:ln/>
        </p:spPr>
        <p:txBody>
          <a:bodyPr/>
          <a:p/>
        </p:txBody>
      </p:sp>
      <p:sp>
        <p:nvSpPr>
          <p:cNvPr id="81" name="" descr="{&quot;isTemplate&quot;:true,&quot;type&quot;:&quot;text&quot;}"/>
          <p:cNvSpPr txBox="1"/>
          <p:nvPr/>
        </p:nvSpPr>
        <p:spPr>
          <a:xfrm rot="0" flipH="0" flipV="0">
            <a:off x="571500" y="304800"/>
            <a:ext cx="11049000" cy="209550"/>
          </a:xfrm>
          <a:prstGeom prst="rect"/>
        </p:spPr>
        <p:txBody>
          <a:bodyPr wrap="none" lIns="0" tIns="0" rIns="0" bIns="0"/>
          <a:p>
            <a:pPr>
              <a:lnSpc>
                <a:spcPct val="100000"/>
              </a:lnSpc>
            </a:pPr>
            <a:r>
              <a:rPr lang="en-US" sz="1350">
                <a:solidFill>
                  <a:srgbClr val="CDEA9F"/>
                </a:solidFill>
                <a:latin typeface="Arial"/>
                <a:ea typeface="Arial"/>
              </a:rPr>
              <a:t>CURRENT SCOPE AND NEXT STEPS</a:t>
            </a:r>
            <a:endParaRPr/>
          </a:p>
        </p:txBody>
      </p:sp>
      <p:sp>
        <p:nvSpPr>
          <p:cNvPr id="82" name="" descr="{&quot;isTemplate&quot;:true,&quot;type&quot;:&quot;text&quot;}"/>
          <p:cNvSpPr txBox="1"/>
          <p:nvPr/>
        </p:nvSpPr>
        <p:spPr>
          <a:xfrm rot="0" flipH="0" flipV="0">
            <a:off x="571500" y="590550"/>
            <a:ext cx="11049000" cy="438150"/>
          </a:xfrm>
          <a:prstGeom prst="rect"/>
        </p:spPr>
        <p:txBody>
          <a:bodyPr wrap="none" lIns="0" tIns="0" rIns="0" bIns="0"/>
          <a:p>
            <a:pPr>
              <a:lnSpc>
                <a:spcPct val="100000"/>
              </a:lnSpc>
            </a:pPr>
            <a:r>
              <a:rPr lang="en-US" sz="2850" b="1">
                <a:solidFill>
                  <a:srgbClr val="F1F5E9"/>
                </a:solidFill>
                <a:latin typeface="Arial"/>
                <a:ea typeface="Arial"/>
              </a:rPr>
              <a:t>Working preparation today. Campaign workflow next.</a:t>
            </a:r>
            <a:endParaRPr/>
          </a:p>
        </p:txBody>
      </p:sp>
      <p:pic>
        <p:nvPicPr>
          <p:cNvPr id="83" name=""/>
          <p:cNvPicPr>
            <a:picLocks noChangeAspect="1"/>
          </p:cNvPicPr>
          <p:nvPr/>
        </p:nvPicPr>
        <p:blipFill>
          <a:blip r:embed="rId2"/>
          <a:srcRect l="0" t="26" r="0" b="26"/>
          <a:stretch>
            <a:fillRect/>
          </a:stretch>
        </p:blipFill>
        <p:spPr>
          <a:xfrm rot="0" flipH="0" flipV="0">
            <a:off x="571500" y="1295400"/>
            <a:ext cx="2286000" cy="3009900"/>
          </a:xfrm>
          <a:prstGeom prst="rect">
            <a:avLst/>
          </a:prstGeom>
          <a:ln/>
        </p:spPr>
      </p:pic>
      <p:sp>
        <p:nvSpPr>
          <p:cNvPr id="84" name="" descr="{&quot;isTemplate&quot;:true,&quot;type&quot;:&quot;text&quot;}"/>
          <p:cNvSpPr txBox="1"/>
          <p:nvPr/>
        </p:nvSpPr>
        <p:spPr>
          <a:xfrm rot="0" flipH="0" flipV="0">
            <a:off x="571500" y="4419600"/>
            <a:ext cx="3200400" cy="190500"/>
          </a:xfrm>
          <a:prstGeom prst="rect"/>
        </p:spPr>
        <p:txBody>
          <a:bodyPr wrap="none" lIns="0" tIns="0" rIns="0" bIns="0"/>
          <a:p>
            <a:pPr>
              <a:lnSpc>
                <a:spcPct val="100000"/>
              </a:lnSpc>
            </a:pPr>
            <a:r>
              <a:rPr lang="en-US" sz="1200">
                <a:solidFill>
                  <a:srgbClr val="CDEA9F"/>
                </a:solidFill>
                <a:latin typeface="Arial"/>
                <a:ea typeface="Arial"/>
              </a:rPr>
              <a:t>Actual app · historical screenshot</a:t>
            </a:r>
            <a:endParaRPr/>
          </a:p>
        </p:txBody>
      </p:sp>
      <p:sp>
        <p:nvSpPr>
          <p:cNvPr id="85" name="" descr="{&quot;isTemplate&quot;:true,&quot;type&quot;:&quot;text&quot;}"/>
          <p:cNvSpPr txBox="1"/>
          <p:nvPr/>
        </p:nvSpPr>
        <p:spPr>
          <a:xfrm rot="0" flipH="0" flipV="0">
            <a:off x="4152900" y="1314450"/>
            <a:ext cx="3429000" cy="333375"/>
          </a:xfrm>
          <a:prstGeom prst="rect"/>
        </p:spPr>
        <p:txBody>
          <a:bodyPr wrap="none" lIns="0" tIns="0" rIns="0" bIns="0"/>
          <a:p>
            <a:pPr>
              <a:lnSpc>
                <a:spcPct val="100000"/>
              </a:lnSpc>
            </a:pPr>
            <a:r>
              <a:rPr lang="en-US" sz="2175" b="1">
                <a:solidFill>
                  <a:srgbClr val="CDEA9F"/>
                </a:solidFill>
                <a:latin typeface="Arial"/>
                <a:ea typeface="Arial"/>
              </a:rPr>
              <a:t>Implemented</a:t>
            </a:r>
            <a:endParaRPr/>
          </a:p>
        </p:txBody>
      </p:sp>
      <p:sp>
        <p:nvSpPr>
          <p:cNvPr id="86" name="" descr="{&quot;isTemplate&quot;:true,&quot;type&quot;:&quot;text&quot;}"/>
          <p:cNvSpPr txBox="1"/>
          <p:nvPr/>
        </p:nvSpPr>
        <p:spPr>
          <a:xfrm rot="0" flipH="0" flipV="0">
            <a:off x="4152900" y="1762125"/>
            <a:ext cx="3429000" cy="1714500"/>
          </a:xfrm>
          <a:prstGeom prst="rect"/>
        </p:spPr>
        <p:txBody>
          <a:bodyPr wrap="none" lIns="0" tIns="0" rIns="0" bIns="0"/>
          <a:p>
            <a:pPr>
              <a:lnSpc>
                <a:spcPct val="150000"/>
              </a:lnSpc>
            </a:pPr>
            <a:r>
              <a:rPr lang="en-US" sz="1875">
                <a:solidFill>
                  <a:srgbClr val="F1F5E9"/>
                </a:solidFill>
                <a:latin typeface="Arial"/>
                <a:ea typeface="Arial"/>
              </a:rPr>
              <a:t>Saved proposals and goals</a:t>
            </a:r>
            <a:endParaRPr/>
          </a:p>
          <a:p>
            <a:pPr>
              <a:lnSpc>
                <a:spcPct val="150000"/>
              </a:lnSpc>
            </a:pPr>
            <a:r>
              <a:rPr lang="en-US" sz="1875">
                <a:solidFill>
                  <a:srgbClr val="F1F5E9"/>
                </a:solidFill>
                <a:latin typeface="Arial"/>
                <a:ea typeface="Arial"/>
              </a:rPr>
              <a:t>Plan + clarification</a:t>
            </a:r>
            <a:endParaRPr/>
          </a:p>
          <a:p>
            <a:pPr>
              <a:lnSpc>
                <a:spcPct val="150000"/>
              </a:lnSpc>
            </a:pPr>
            <a:r>
              <a:rPr lang="en-US" sz="1875">
                <a:solidFill>
                  <a:srgbClr val="F1F5E9"/>
                </a:solidFill>
                <a:latin typeface="Arial"/>
                <a:ea typeface="Arial"/>
              </a:rPr>
              <a:t>Answers + package drafts</a:t>
            </a:r>
            <a:endParaRPr/>
          </a:p>
          <a:p>
            <a:pPr>
              <a:lnSpc>
                <a:spcPct val="150000"/>
              </a:lnSpc>
            </a:pPr>
            <a:r>
              <a:rPr lang="en-US" sz="1875">
                <a:solidFill>
                  <a:srgbClr val="F1F5E9"/>
                </a:solidFill>
                <a:latin typeface="Arial"/>
                <a:ea typeface="Arial"/>
              </a:rPr>
              <a:t>Student editing / review</a:t>
            </a:r>
            <a:endParaRPr/>
          </a:p>
        </p:txBody>
      </p:sp>
      <p:sp>
        <p:nvSpPr>
          <p:cNvPr id="87" name="" descr="{&quot;isTemplate&quot;:true,&quot;type&quot;:&quot;text&quot;}"/>
          <p:cNvSpPr txBox="1"/>
          <p:nvPr/>
        </p:nvSpPr>
        <p:spPr>
          <a:xfrm rot="0" flipH="0" flipV="0">
            <a:off x="4152900" y="3590925"/>
            <a:ext cx="3429000" cy="1057275"/>
          </a:xfrm>
          <a:prstGeom prst="rect"/>
        </p:spPr>
        <p:txBody>
          <a:bodyPr wrap="none" lIns="0" tIns="0" rIns="0" bIns="0"/>
          <a:p>
            <a:pPr>
              <a:lnSpc>
                <a:spcPct val="140000"/>
              </a:lnSpc>
            </a:pPr>
            <a:r>
              <a:rPr lang="en-US" sz="1650">
                <a:solidFill>
                  <a:srgbClr val="F1F5E9"/>
                </a:solidFill>
                <a:latin typeface="Arial"/>
                <a:ea typeface="Arial"/>
              </a:rPr>
              <a:t>Manual start / resume</a:t>
            </a:r>
            <a:endParaRPr/>
          </a:p>
          <a:p>
            <a:pPr>
              <a:lnSpc>
                <a:spcPct val="140000"/>
              </a:lnSpc>
            </a:pPr>
            <a:r>
              <a:rPr lang="en-US" sz="1650">
                <a:solidFill>
                  <a:srgbClr val="F1F5E9"/>
                </a:solidFill>
                <a:latin typeface="Arial"/>
                <a:ea typeface="Arial"/>
              </a:rPr>
              <a:t>Local single-user operation</a:t>
            </a:r>
            <a:endParaRPr/>
          </a:p>
          <a:p>
            <a:pPr>
              <a:lnSpc>
                <a:spcPct val="140000"/>
              </a:lnSpc>
            </a:pPr>
            <a:r>
              <a:rPr lang="en-US" sz="1650">
                <a:solidFill>
                  <a:srgbClr val="F1F5E9"/>
                </a:solidFill>
                <a:latin typeface="Arial"/>
                <a:ea typeface="Arial"/>
              </a:rPr>
              <a:t>Conspicuously fictional data</a:t>
            </a:r>
            <a:endParaRPr/>
          </a:p>
        </p:txBody>
      </p:sp>
      <p:sp>
        <p:nvSpPr>
          <p:cNvPr id="88" name=""/>
          <p:cNvSpPr/>
          <p:nvPr/>
        </p:nvSpPr>
        <p:spPr>
          <a:xfrm rot="0" flipH="0" flipV="0">
            <a:off x="7962900" y="1295400"/>
            <a:ext cx="3657600" cy="3371850"/>
          </a:xfrm>
          <a:prstGeom prst="rect">
            <a:avLst/>
          </a:prstGeom>
          <a:solidFill>
            <a:srgbClr val="1D3328"/>
          </a:solidFill>
          <a:ln/>
        </p:spPr>
        <p:txBody>
          <a:bodyPr/>
          <a:p/>
        </p:txBody>
      </p:sp>
      <p:sp>
        <p:nvSpPr>
          <p:cNvPr id="89" name="" descr="{&quot;isTemplate&quot;:true,&quot;type&quot;:&quot;text&quot;}"/>
          <p:cNvSpPr txBox="1"/>
          <p:nvPr/>
        </p:nvSpPr>
        <p:spPr>
          <a:xfrm rot="0" flipH="0" flipV="0">
            <a:off x="8191500" y="1571625"/>
            <a:ext cx="3200400" cy="333375"/>
          </a:xfrm>
          <a:prstGeom prst="rect"/>
        </p:spPr>
        <p:txBody>
          <a:bodyPr wrap="none" lIns="0" tIns="0" rIns="0" bIns="0"/>
          <a:p>
            <a:pPr>
              <a:lnSpc>
                <a:spcPct val="100000"/>
              </a:lnSpc>
            </a:pPr>
            <a:r>
              <a:rPr lang="en-US" sz="2175" b="1">
                <a:solidFill>
                  <a:srgbClr val="CDEA9F"/>
                </a:solidFill>
                <a:latin typeface="Arial"/>
                <a:ea typeface="Arial"/>
              </a:rPr>
              <a:t>Planned, not built</a:t>
            </a:r>
            <a:endParaRPr/>
          </a:p>
        </p:txBody>
      </p:sp>
      <p:sp>
        <p:nvSpPr>
          <p:cNvPr id="90" name="" descr="{&quot;isTemplate&quot;:true,&quot;type&quot;:&quot;text&quot;}"/>
          <p:cNvSpPr txBox="1"/>
          <p:nvPr/>
        </p:nvSpPr>
        <p:spPr>
          <a:xfrm rot="0" flipH="0" flipV="0">
            <a:off x="8191500" y="2095500"/>
            <a:ext cx="3200400" cy="2305050"/>
          </a:xfrm>
          <a:prstGeom prst="rect"/>
        </p:spPr>
        <p:txBody>
          <a:bodyPr wrap="none" lIns="0" tIns="0" rIns="0" bIns="0"/>
          <a:p>
            <a:pPr>
              <a:lnSpc>
                <a:spcPct val="155000"/>
              </a:lnSpc>
            </a:pPr>
            <a:r>
              <a:rPr lang="en-US" sz="1950">
                <a:solidFill>
                  <a:srgbClr val="F1F5E9"/>
                </a:solidFill>
                <a:latin typeface="Arial"/>
                <a:ea typeface="Arial"/>
              </a:rPr>
              <a:t>Business matching</a:t>
            </a:r>
            <a:endParaRPr/>
          </a:p>
          <a:p>
            <a:pPr>
              <a:lnSpc>
                <a:spcPct val="155000"/>
              </a:lnSpc>
            </a:pPr>
            <a:r>
              <a:rPr sz="1950">
                <a:solidFill>
                  <a:srgbClr val="F1F5E9"/>
                </a:solidFill>
                <a:latin typeface="Arial"/>
                <a:ea typeface="Arial"/>
              </a:rPr>
              <a:t>↓</a:t>
            </a:r>
            <a:endParaRPr/>
          </a:p>
          <a:p>
            <a:pPr>
              <a:lnSpc>
                <a:spcPct val="155000"/>
              </a:lnSpc>
            </a:pPr>
            <a:r>
              <a:rPr lang="en-US" sz="1950">
                <a:solidFill>
                  <a:srgbClr val="F1F5E9"/>
                </a:solidFill>
                <a:latin typeface="Arial"/>
                <a:ea typeface="Arial"/>
              </a:rPr>
              <a:t>Personalised pitches</a:t>
            </a:r>
            <a:endParaRPr/>
          </a:p>
          <a:p>
            <a:pPr>
              <a:lnSpc>
                <a:spcPct val="155000"/>
              </a:lnSpc>
            </a:pPr>
            <a:r>
              <a:rPr sz="1950">
                <a:solidFill>
                  <a:srgbClr val="F1F5E9"/>
                </a:solidFill>
                <a:latin typeface="Arial"/>
                <a:ea typeface="Arial"/>
              </a:rPr>
              <a:t>↓</a:t>
            </a:r>
            <a:endParaRPr/>
          </a:p>
          <a:p>
            <a:pPr>
              <a:lnSpc>
                <a:spcPct val="155000"/>
              </a:lnSpc>
            </a:pPr>
            <a:r>
              <a:rPr lang="en-US" sz="1950">
                <a:solidFill>
                  <a:srgbClr val="F1F5E9"/>
                </a:solidFill>
                <a:latin typeface="Arial"/>
                <a:ea typeface="Arial"/>
              </a:rPr>
              <a:t>Complete campaign export</a:t>
            </a:r>
            <a:endParaRPr/>
          </a:p>
        </p:txBody>
      </p:sp>
      <p:sp>
        <p:nvSpPr>
          <p:cNvPr id="91" name=""/>
          <p:cNvSpPr/>
          <p:nvPr/>
        </p:nvSpPr>
        <p:spPr>
          <a:xfrm rot="0" flipH="0" flipV="0">
            <a:off x="571500" y="4876800"/>
            <a:ext cx="11049000" cy="1257300"/>
          </a:xfrm>
          <a:prstGeom prst="rect">
            <a:avLst/>
          </a:prstGeom>
          <a:solidFill>
            <a:srgbClr val="1D3328"/>
          </a:solidFill>
          <a:ln/>
        </p:spPr>
        <p:txBody>
          <a:bodyPr/>
          <a:p/>
        </p:txBody>
      </p:sp>
      <p:sp>
        <p:nvSpPr>
          <p:cNvPr id="92" name="" descr="{&quot;isTemplate&quot;:true,&quot;type&quot;:&quot;text&quot;}"/>
          <p:cNvSpPr txBox="1"/>
          <p:nvPr/>
        </p:nvSpPr>
        <p:spPr>
          <a:xfrm rot="0" flipH="0" flipV="0">
            <a:off x="781050" y="5086350"/>
            <a:ext cx="10629900" cy="304800"/>
          </a:xfrm>
          <a:prstGeom prst="rect"/>
        </p:spPr>
        <p:txBody>
          <a:bodyPr wrap="none" lIns="0" tIns="0" rIns="0" bIns="0"/>
          <a:p>
            <a:pPr>
              <a:lnSpc>
                <a:spcPct val="100000"/>
              </a:lnSpc>
            </a:pPr>
            <a:r>
              <a:rPr lang="en-US" sz="1950" b="1">
                <a:solidFill>
                  <a:srgbClr val="CDEA9F"/>
                </a:solidFill>
                <a:latin typeface="Arial"/>
                <a:ea typeface="Arial"/>
              </a:rPr>
              <a:t>Public source repository · Not a hosted web app</a:t>
            </a:r>
            <a:endParaRPr/>
          </a:p>
        </p:txBody>
      </p:sp>
      <p:sp>
        <p:nvSpPr>
          <p:cNvPr id="93" name="" descr="{&quot;isTemplate&quot;:true,&quot;type&quot;:&quot;text&quot;}">
            <a:hlinkClick r:id="rId3"/>
          </p:cNvPr>
          <p:cNvSpPr txBox="1"/>
          <p:nvPr/>
        </p:nvSpPr>
        <p:spPr>
          <a:xfrm rot="0" flipH="0" flipV="0">
            <a:off x="781050" y="5505450"/>
            <a:ext cx="10629900" cy="285750"/>
          </a:xfrm>
          <a:prstGeom prst="rect"/>
        </p:spPr>
        <p:txBody>
          <a:bodyPr wrap="none" lIns="0" tIns="0" rIns="0" bIns="0"/>
          <a:p>
            <a:pPr>
              <a:lnSpc>
                <a:spcPct val="100000"/>
              </a:lnSpc>
            </a:pPr>
            <a:r>
              <a:rPr lang="en-US" sz="1875">
                <a:solidFill>
                  <a:srgbClr val="F1F5E9"/>
                </a:solidFill>
                <a:latin typeface="Arial"/>
                <a:ea typeface="Arial"/>
                <a:hlinkClick r:id="rId3"/>
              </a:rPr>
              <a:t>https://github.com/ryuhanbin/sponsorbridge-hackathon</a:t>
            </a:r>
            <a:endParaRPr/>
          </a:p>
        </p:txBody>
      </p:sp>
      <p:sp>
        <p:nvSpPr>
          <p:cNvPr id="94" name="" descr="{&quot;isTemplate&quot;:true,&quot;type&quot;:&quot;text&quot;}"/>
          <p:cNvSpPr txBox="1"/>
          <p:nvPr/>
        </p:nvSpPr>
        <p:spPr>
          <a:xfrm rot="0" flipH="0" flipV="0">
            <a:off x="781050" y="5905500"/>
            <a:ext cx="10629900" cy="228600"/>
          </a:xfrm>
          <a:prstGeom prst="rect"/>
        </p:spPr>
        <p:txBody>
          <a:bodyPr wrap="none" lIns="0" tIns="0" rIns="0" bIns="0"/>
          <a:p>
            <a:pPr>
              <a:lnSpc>
                <a:spcPct val="100000"/>
              </a:lnSpc>
            </a:pPr>
            <a:r>
              <a:rPr lang="en-US" sz="1500">
                <a:solidFill>
                  <a:srgbClr val="F1F5E9"/>
                </a:solidFill>
                <a:latin typeface="Arial"/>
                <a:ea typeface="Arial"/>
              </a:rPr>
              <a:t>No automatic dispatch, business outreach, payments, or university approval.</a:t>
            </a:r>
            <a:endParaRPr/>
          </a:p>
        </p:txBody>
      </p:sp>
      <p:sp>
        <p:nvSpPr>
          <p:cNvPr id="95" name="" descr="{&quot;isTemplate&quot;:true,&quot;type&quot;:&quot;text&quot;}"/>
          <p:cNvSpPr txBox="1"/>
          <p:nvPr/>
        </p:nvSpPr>
        <p:spPr>
          <a:xfrm rot="0" flipH="0" flipV="0">
            <a:off x="571500" y="6391275"/>
            <a:ext cx="2505075" cy="171450"/>
          </a:xfrm>
          <a:prstGeom prst="rect"/>
        </p:spPr>
        <p:txBody>
          <a:bodyPr wrap="none" lIns="0" tIns="0" rIns="0" bIns="0"/>
          <a:p>
            <a:pPr>
              <a:lnSpc>
                <a:spcPct val="100000"/>
              </a:lnSpc>
            </a:pPr>
            <a:r>
              <a:rPr lang="en-US" sz="1125">
                <a:solidFill>
                  <a:srgbClr val="F1F5E9"/>
                </a:solidFill>
                <a:latin typeface="Arial"/>
                <a:ea typeface="Arial"/>
              </a:rPr>
              <a:t>Afiq · SponsorBridge · 11 October 2026</a:t>
            </a:r>
            <a:endParaRPr/>
          </a:p>
        </p:txBody>
      </p:sp>
      <p:sp>
        <p:nvSpPr>
          <p:cNvPr id="96" name="" descr="{&quot;isTemplate&quot;:true,&quot;type&quot;:&quot;text&quot;}"/>
          <p:cNvSpPr txBox="1"/>
          <p:nvPr/>
        </p:nvSpPr>
        <p:spPr>
          <a:xfrm rot="0" flipH="0" flipV="0">
            <a:off x="11182350" y="6391275"/>
            <a:ext cx="438150" cy="171450"/>
          </a:xfrm>
          <a:prstGeom prst="rect"/>
        </p:spPr>
        <p:txBody>
          <a:bodyPr wrap="none" lIns="0" tIns="0" rIns="0" bIns="0"/>
          <a:p>
            <a:pPr>
              <a:lnSpc>
                <a:spcPct val="100000"/>
              </a:lnSpc>
            </a:pPr>
            <a:r>
              <a:rPr lang="en-US" sz="1125">
                <a:solidFill>
                  <a:srgbClr val="F1F5E9"/>
                </a:solidFill>
                <a:latin typeface="Arial"/>
                <a:ea typeface="Arial"/>
              </a:rPr>
              <a:t>06 / 06</a:t>
            </a:r>
            <a:endParaR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docProps/app.xml><?xml version="1.0" encoding="utf-8"?>
<Properties xmlns="http://schemas.openxmlformats.org/officeDocument/2006/extended-properties" xmlns:vt="http://schemas.openxmlformats.org/officeDocument/2006/docPropsVTypes">
  <Application>Tencent office</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2026-10-11T01:46:58Z</dcterms:created>
  <dcterms:modified xsi:type="dcterms:W3CDTF">2026-10-11T01:46:58Z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{"AIGC":{"Label":"1","ContentProducer":"00119111010856365494821B355","ProduceID":"01a126dfcae773198dad865d20dd367d","ReservedCode1":"","ContentPropagator":"00119111010856365494821B355","PropagateID":"01a126dfcae773198dad865d20dd367d","ReservedCode2":""}}</vt:lpwstr>
  </property>
</Properties>
</file>