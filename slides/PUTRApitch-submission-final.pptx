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theme/theme2.xml" ContentType="application/vnd.openxmlformats-officedocument.theme+xml"/>
  <Override PartName="/ppt/slides/slide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docProps/custom.xml" ContentType="application/vnd.openxmlformats-officedocument.custom-properties+xml"/>
  <Override PartName="/docProps/core.xml" ContentType="application/vnd.openxmlformats-package.core-properties+xml"/>
  <Override PartName="/ppt/notesMasters/notesMaster1.xml" ContentType="application/vnd.openxmlformats-officedocument.presentationml.notesMaster+xml"/>
  <Override PartName="/ppt/slides/slide5.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viewProps.xml" ContentType="application/vnd.openxmlformats-officedocument.presentationml.viewProps+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notesSlides/notesSlide2.xml" ContentType="application/vnd.openxmlformats-officedocument.presentationml.notesSlide+xml"/>
  <Override PartName="/ppt/theme/theme1.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 Id="rId3" Type="http://schemas.openxmlformats.org/officeDocument/2006/relationships/custom-properties" Target="docProps/custom.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7"/>
  </p:notesMasterIdLst>
  <p:sldIdLst>
    <p:sldId id="256" r:id="rId1"/>
    <p:sldId id="257" r:id="rId2"/>
    <p:sldId id="258" r:id="rId3"/>
    <p:sldId id="259" r:id="rId4"/>
    <p:sldId id="260" r:id="rId5"/>
    <p:sldId id="261"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5" Type="http://schemas.openxmlformats.org/officeDocument/2006/relationships/slide" Target="slides/slide5.xml" /><Relationship Id="rId4" Type="http://schemas.openxmlformats.org/officeDocument/2006/relationships/slide" Target="slides/slide4.xml" /><Relationship Id="rId0" Type="http://schemas.openxmlformats.org/officeDocument/2006/relationships/slideMaster" Target="slideMasters/slideMaster1.xml" /><Relationship Id="rId1" Type="http://schemas.openxmlformats.org/officeDocument/2006/relationships/slide" Target="slides/slide1.xml" /><Relationship Id="rId10" Type="http://schemas.openxmlformats.org/officeDocument/2006/relationships/viewProps" Target="viewProps.xml" /><Relationship Id="rId2" Type="http://schemas.openxmlformats.org/officeDocument/2006/relationships/slide" Target="slides/slide2.xml" /><Relationship Id="rId3" Type="http://schemas.openxmlformats.org/officeDocument/2006/relationships/slide" Target="slides/slide3.xml" /><Relationship Id="rId6" Type="http://schemas.openxmlformats.org/officeDocument/2006/relationships/slide" Target="slides/slide6.xml" /><Relationship Id="rId7" Type="http://schemas.openxmlformats.org/officeDocument/2006/relationships/notesMaster" Target="notesMasters/notesMaster1.xml" /><Relationship Id="rId8" Type="http://schemas.openxmlformats.org/officeDocument/2006/relationships/presProps" Target="presProps.xml" /><Relationship Id="rId9" Type="http://schemas.openxmlformats.org/officeDocument/2006/relationships/tableStyles" Target="tableStyles.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0"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0"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
          <p:cNvSpPr/>
          <p:nvPr>
            <p:ph type="body"/>
          </p:nvPr>
        </p:nvSpPr>
        <p:spPr>
          <a:xfrm>
            <a:off x="0" y="0"/>
            <a:ext cx="177800" cy="444500"/>
          </a:xfrm>
        </p:spPr>
        <p:txBody>
          <a:bodyPr/>
          <a:p>
            <a:pPr/>
            <a:r>
              <a:rPr lang="en-US"/>
              <a:t>Problem framing, not measured user research or market statistics. PUTRApitch is an independent student prototype, not an official UPM service. No university approval or sponsors secured.</a:t>
            </a:r>
            <a:endParaRP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3" name=""/>
        <p:cNvGrpSpPr/>
        <p:nvPr/>
      </p:nvGrpSpPr>
      <p:grpSpPr>
        <a:xfrm>
          <a:off x="0" y="0"/>
          <a:ext cx="0" cy="0"/>
          <a:chOff x="0" y="0"/>
          <a:chExt cx="0" cy="0"/>
        </a:xfrm>
      </p:grpSpPr>
      <p:sp>
        <p:nvSpPr>
          <p:cNvPr id="4" name=""/>
          <p:cNvSpPr/>
          <p:nvPr>
            <p:ph type="body"/>
          </p:nvPr>
        </p:nvSpPr>
        <p:spPr>
          <a:xfrm>
            <a:off x="0" y="0"/>
            <a:ext cx="177800" cy="444500"/>
          </a:xfrm>
        </p:spPr>
        <p:txBody>
          <a:bodyPr/>
          <a:p>
            <a:pPr/>
            <a:r>
              <a:rPr lang="en-US"/>
              <a:t>WorkBuddy uses adapter.mjs to read saved request, save a plan/preparation and after manual resume save continuation. Website save never automatically starts or wakes WorkBuddy. Read receipts bind request/answer revision. Separate optional CodeBuddy CLI route is tool-free model drafting, not WorkBuddy desktop execution. PDF import and full workflow are local; public website is a fictional preview only.</a:t>
            </a:r>
            <a:endParaRP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
          <p:cNvSpPr/>
          <p:nvPr>
            <p:ph type="body"/>
          </p:nvPr>
        </p:nvSpPr>
        <p:spPr>
          <a:xfrm>
            <a:off x="0" y="0"/>
            <a:ext cx="177800" cy="444500"/>
          </a:xfrm>
        </p:spPr>
        <p:txBody>
          <a:bodyPr/>
          <a:p>
            <a:pPr/>
            <a:r>
              <a:rPr lang="en-US"/>
              <a:t>Historical execution evidence: fictional request req_65163d02-e331-4d92-aa41-10bde1d63f56. Existing saved actor WorkBuddy via local adapter and corresponding package/preparation results, not cryptographic identity certification. Current capture is a read-only view of saved history; not a new run. Earlier conversation recorded actual read/plan/preparation/continuation adapter tool actions. Dates proposed, attendance estimated and pool access/permissions unconfirmed. No matching, endorsement, coach qualification verification, agreement or acceptance. Screenshot preserves the actual historical interface/actor rather than inventing an execution console.</a:t>
            </a:r>
            <a:endParaRP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7" name=""/>
        <p:cNvGrpSpPr/>
        <p:nvPr/>
      </p:nvGrpSpPr>
      <p:grpSpPr>
        <a:xfrm>
          <a:off x="0" y="0"/>
          <a:ext cx="0" cy="0"/>
          <a:chOff x="0" y="0"/>
          <a:chExt cx="0" cy="0"/>
        </a:xfrm>
      </p:grpSpPr>
      <p:sp>
        <p:nvSpPr>
          <p:cNvPr id="8" name=""/>
          <p:cNvSpPr/>
          <p:nvPr>
            <p:ph type="body"/>
          </p:nvPr>
        </p:nvSpPr>
        <p:spPr>
          <a:xfrm>
            <a:off x="0" y="0"/>
            <a:ext cx="177800" cy="444500"/>
          </a:xfrm>
        </p:spPr>
        <p:txBody>
          <a:bodyPr/>
          <a:p>
            <a:pPr/>
            <a:r>
              <a:rPr lang="en-US"/>
              <a:t>Public marketplace URL https://putrapitch-afiiq-demo.spryspoon8.chatgpt.site/marketplace. Current fictional matching example uses fixed rules. Copy WorkBuddy matching brief provides an explicit manual task, not an already completed AI match. Local application separately implements privacy-by-default reviewed-card publication with limited projection and stale/edit removal. Public site is a preview, not hosted private workflow or production business accounts. No businesses contacted or commitments.</a:t>
            </a:r>
            <a:endParaRP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9" name=""/>
        <p:cNvGrpSpPr/>
        <p:nvPr/>
      </p:nvGrpSpPr>
      <p:grpSpPr>
        <a:xfrm>
          <a:off x="0" y="0"/>
          <a:ext cx="0" cy="0"/>
          <a:chOff x="0" y="0"/>
          <a:chExt cx="0" cy="0"/>
        </a:xfrm>
      </p:grpSpPr>
      <p:sp>
        <p:nvSpPr>
          <p:cNvPr id="10" name=""/>
          <p:cNvSpPr/>
          <p:nvPr>
            <p:ph type="body"/>
          </p:nvPr>
        </p:nvSpPr>
        <p:spPr>
          <a:xfrm>
            <a:off x="0" y="0"/>
            <a:ext cx="177800" cy="444500"/>
          </a:xfrm>
        </p:spPr>
        <p:txBody>
          <a:bodyPr/>
          <a:p>
            <a:pPr/>
            <a:r>
              <a:rPr lang="en-US"/>
              <a:t>Demo walkthrough is a presenter journey, not a claim all steps run in hosted demo. Full PDF/proposal/AI workflow is local. First Splash proof is historical WorkBuddy manual-adapter execution. Two Campus Sustainability Fair cards are separately recovered/validated CodeBuddy CLI output; final repaired one-click path has no fresh live E2E test. Do not conflate actors or fictional examples. No new paid sponsorship run was started for these slides.</a:t>
            </a:r>
            <a:endParaRP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11" name=""/>
        <p:cNvGrpSpPr/>
        <p:nvPr/>
      </p:nvGrpSpPr>
      <p:grpSpPr>
        <a:xfrm>
          <a:off x="0" y="0"/>
          <a:ext cx="0" cy="0"/>
          <a:chOff x="0" y="0"/>
          <a:chExt cx="0" cy="0"/>
        </a:xfrm>
      </p:grpSpPr>
      <p:sp>
        <p:nvSpPr>
          <p:cNvPr id="12" name=""/>
          <p:cNvSpPr/>
          <p:nvPr>
            <p:ph type="body"/>
          </p:nvPr>
        </p:nvSpPr>
        <p:spPr>
          <a:xfrm>
            <a:off x="0" y="0"/>
            <a:ext cx="177800" cy="444500"/>
          </a:xfrm>
        </p:spPr>
        <p:txBody>
          <a:bodyPr/>
          <a:p>
            <a:pPr/>
            <a:r>
              <a:rPr lang="en-US"/>
              <a:t>Exact working submission links are embedded as clickable hyperlinks. GitHub checked anonymously public (private=false, main). Public demo is a hosted fictional preview, not the full local app. API keys, local data and private records are excluded from submission artifacts. Latest README reports 29 Node checks, earlier 138 rebrand browser checks; these are historical results and not represented as freshly rerun sponsorship-model proof.</a:t>
            </a:r>
            <a:endParaRP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 Id="rId2" Type="http://schemas.openxmlformats.org/officeDocument/2006/relationships/image" Target="media/image1.png" /><Relationship Id="rId1" Type="http://schemas.openxmlformats.org/officeDocument/2006/relationships/notesSlide" Target="../notesSlides/notesSlide1.xml" /></Relationships>
</file>

<file path=ppt/slides/_rels/slide2.xml.rels><?xml version="1.0" encoding="UTF-8" standalone="yes"?><Relationships xmlns="http://schemas.openxmlformats.org/package/2006/relationships"><Relationship Id="rId1" Type="http://schemas.openxmlformats.org/officeDocument/2006/relationships/notesSlide" Target="../notesSlides/notesSlide2.xml" /><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3.xml" /><Relationship Id="rId2" Type="http://schemas.openxmlformats.org/officeDocument/2006/relationships/image" Target="media/image2.png" /></Relationships>
</file>

<file path=ppt/slides/_rels/slide4.xml.rels><?xml version="1.0" encoding="UTF-8" standalone="yes"?><Relationships xmlns="http://schemas.openxmlformats.org/package/2006/relationships"><Relationship Id="rId2" Type="http://schemas.openxmlformats.org/officeDocument/2006/relationships/image" Target="media/image3.png" /><Relationship Id="rId0" Type="http://schemas.openxmlformats.org/officeDocument/2006/relationships/slideLayout" Target="../slideLayouts/slideLayout1.xml" /><Relationship Id="rId1" Type="http://schemas.openxmlformats.org/officeDocument/2006/relationships/notesSlide" Target="../notesSlides/notesSlide4.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5.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6.xml" /><Relationship Id="rId3" Type="http://schemas.openxmlformats.org/officeDocument/2006/relationships/hyperlink" Target="https://putrapitch-afiiq-demo.spryspoon8.chatgpt.site/marketplace" TargetMode="External"/><Relationship Id="rId2" Type="http://schemas.openxmlformats.org/officeDocument/2006/relationships/hyperlink" Target="https://putrapitch-afiiq-demo.spryspoon8.chatgpt.site" TargetMode="External"/><Relationship Id="rId4" Type="http://schemas.openxmlformats.org/officeDocument/2006/relationships/hyperlink" Target="https://github.com/ryuhanbin/sponsorbridge-hackathon" TargetMode="Externa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
          <p:cNvSpPr/>
          <p:nvPr/>
        </p:nvSpPr>
        <p:spPr>
          <a:xfrm>
            <a:off x="0" y="0"/>
            <a:ext cx="12192000" cy="6858000"/>
          </a:xfrm>
          <a:prstGeom prst="rect">
            <a:avLst/>
          </a:prstGeom>
          <a:solidFill>
            <a:srgbClr val="FAFAFA"/>
          </a:solidFill>
          <a:ln>
            <a:noFill/>
          </a:ln>
        </p:spPr>
        <p:txBody>
          <a:bodyPr/>
          <a:p/>
        </p:txBody>
      </p:sp>
      <p:sp>
        <p:nvSpPr>
          <p:cNvPr id="3" name=""/>
          <p:cNvSpPr/>
          <p:nvPr/>
        </p:nvSpPr>
        <p:spPr>
          <a:xfrm>
            <a:off x="8255000" y="1917700"/>
            <a:ext cx="3365500" cy="3937000"/>
          </a:xfrm>
          <a:prstGeom prst="rect">
            <a:avLst/>
          </a:prstGeom>
          <a:solidFill>
            <a:srgbClr val="202020"/>
          </a:solidFill>
          <a:ln>
            <a:noFill/>
          </a:ln>
        </p:spPr>
        <p:txBody>
          <a:bodyPr/>
          <a:p/>
        </p:txBody>
      </p:sp>
      <p:sp>
        <p:nvSpPr>
          <p:cNvPr id="4" name=""/>
          <p:cNvSpPr/>
          <p:nvPr/>
        </p:nvSpPr>
        <p:spPr>
          <a:xfrm>
            <a:off x="508000" y="279400"/>
            <a:ext cx="10795000" cy="304800"/>
          </a:xfrm>
          <a:prstGeom prst="rect">
            <a:avLst/>
          </a:prstGeom>
          <a:noFill/>
          <a:ln>
            <a:noFill/>
          </a:ln>
        </p:spPr>
        <p:txBody>
          <a:bodyPr/>
          <a:p>
            <a:pPr/>
            <a:r>
              <a:rPr lang="zh-CN" sz="1300">
                <a:solidFill>
                  <a:srgbClr val="666666"/>
                </a:solidFill>
                <a:latin typeface="Arial"/>
                <a:ea typeface="Arial"/>
              </a:rPr>
              <a:t>01 / THE STUDENT PROBLEM</a:t>
            </a:r>
            <a:endParaRPr/>
          </a:p>
        </p:txBody>
      </p:sp>
      <p:sp>
        <p:nvSpPr>
          <p:cNvPr id="5" name=""/>
          <p:cNvSpPr/>
          <p:nvPr/>
        </p:nvSpPr>
        <p:spPr>
          <a:xfrm>
            <a:off x="508000" y="825500"/>
            <a:ext cx="11049000" cy="1041400"/>
          </a:xfrm>
          <a:prstGeom prst="rect">
            <a:avLst/>
          </a:prstGeom>
          <a:noFill/>
          <a:ln>
            <a:noFill/>
          </a:ln>
        </p:spPr>
        <p:txBody>
          <a:bodyPr/>
          <a:p>
            <a:pPr/>
            <a:r>
              <a:rPr lang="zh-CN" sz="3200">
                <a:solidFill>
                  <a:srgbClr val="202020"/>
                </a:solidFill>
                <a:latin typeface="Arial"/>
                <a:ea typeface="Arial"/>
              </a:rPr>
              <a:t>Good events need a clearer sponsorship ask.</a:t>
            </a:r>
            <a:endParaRPr/>
          </a:p>
        </p:txBody>
      </p:sp>
      <p:sp>
        <p:nvSpPr>
          <p:cNvPr id="6" name=""/>
          <p:cNvSpPr/>
          <p:nvPr/>
        </p:nvSpPr>
        <p:spPr>
          <a:xfrm>
            <a:off x="508000" y="6477000"/>
            <a:ext cx="8890000" cy="228600"/>
          </a:xfrm>
          <a:prstGeom prst="rect">
            <a:avLst/>
          </a:prstGeom>
          <a:noFill/>
          <a:ln>
            <a:noFill/>
          </a:ln>
        </p:spPr>
        <p:txBody>
          <a:bodyPr/>
          <a:p>
            <a:pPr/>
            <a:r>
              <a:rPr lang="zh-CN" sz="1100">
                <a:solidFill>
                  <a:srgbClr val="666666"/>
                </a:solidFill>
                <a:latin typeface="Arial"/>
                <a:ea typeface="Arial"/>
              </a:rPr>
              <a:t>PUTRApitch | Afiq | 11 October 2026</a:t>
            </a:r>
            <a:endParaRPr/>
          </a:p>
        </p:txBody>
      </p:sp>
      <p:sp>
        <p:nvSpPr>
          <p:cNvPr id="7" name=""/>
          <p:cNvSpPr/>
          <p:nvPr/>
        </p:nvSpPr>
        <p:spPr>
          <a:xfrm>
            <a:off x="10795000" y="6477000"/>
            <a:ext cx="889000" cy="228600"/>
          </a:xfrm>
          <a:prstGeom prst="rect">
            <a:avLst/>
          </a:prstGeom>
          <a:noFill/>
          <a:ln>
            <a:noFill/>
          </a:ln>
        </p:spPr>
        <p:txBody>
          <a:bodyPr/>
          <a:p>
            <a:pPr/>
            <a:r>
              <a:rPr lang="zh-CN" sz="1100">
                <a:solidFill>
                  <a:srgbClr val="666666"/>
                </a:solidFill>
                <a:latin typeface="Arial"/>
                <a:ea typeface="Arial"/>
              </a:rPr>
              <a:t>01 / 06</a:t>
            </a:r>
            <a:endParaRPr/>
          </a:p>
        </p:txBody>
      </p:sp>
      <p:sp>
        <p:nvSpPr>
          <p:cNvPr id="8" name=""/>
          <p:cNvSpPr/>
          <p:nvPr/>
        </p:nvSpPr>
        <p:spPr>
          <a:xfrm>
            <a:off x="508000" y="1993900"/>
            <a:ext cx="6858000" cy="952500"/>
          </a:xfrm>
          <a:prstGeom prst="rect">
            <a:avLst/>
          </a:prstGeom>
          <a:noFill/>
          <a:ln>
            <a:noFill/>
          </a:ln>
        </p:spPr>
        <p:txBody>
          <a:bodyPr/>
          <a:p>
            <a:pPr/>
            <a:r>
              <a:rPr lang="zh-CN" sz="2400">
                <a:solidFill>
                  <a:srgbClr val="202020"/>
                </a:solidFill>
                <a:latin typeface="Arial"/>
                <a:ea typeface="Arial"/>
              </a:rPr>
              <a:t>PUTRApitch helps UPM student organisers turn
an event idea into reviewable sponsor cards.</a:t>
            </a:r>
            <a:endParaRPr/>
          </a:p>
        </p:txBody>
      </p:sp>
      <p:sp>
        <p:nvSpPr>
          <p:cNvPr id="9" name=""/>
          <p:cNvSpPr/>
          <p:nvPr/>
        </p:nvSpPr>
        <p:spPr>
          <a:xfrm>
            <a:off x="508000" y="3263900"/>
            <a:ext cx="6858000" cy="355600"/>
          </a:xfrm>
          <a:prstGeom prst="rect">
            <a:avLst/>
          </a:prstGeom>
          <a:noFill/>
          <a:ln>
            <a:noFill/>
          </a:ln>
        </p:spPr>
        <p:txBody>
          <a:bodyPr/>
          <a:p>
            <a:pPr/>
            <a:r>
              <a:rPr lang="zh-CN" sz="2100">
                <a:solidFill>
                  <a:srgbClr val="202020"/>
                </a:solidFill>
                <a:latin typeface="Arial"/>
                <a:ea typeface="Arial"/>
              </a:rPr>
              <a:t>Unclear needs</a:t>
            </a:r>
            <a:endParaRPr/>
          </a:p>
        </p:txBody>
      </p:sp>
      <p:sp>
        <p:nvSpPr>
          <p:cNvPr id="10" name=""/>
          <p:cNvSpPr/>
          <p:nvPr/>
        </p:nvSpPr>
        <p:spPr>
          <a:xfrm>
            <a:off x="508000" y="3657600"/>
            <a:ext cx="6985000" cy="533400"/>
          </a:xfrm>
          <a:prstGeom prst="rect">
            <a:avLst/>
          </a:prstGeom>
          <a:noFill/>
          <a:ln>
            <a:noFill/>
          </a:ln>
        </p:spPr>
        <p:txBody>
          <a:bodyPr/>
          <a:p>
            <a:pPr/>
            <a:r>
              <a:rPr lang="zh-CN" sz="1700">
                <a:solidFill>
                  <a:srgbClr val="666666"/>
                </a:solidFill>
                <a:latin typeface="Arial"/>
                <a:ea typeface="Arial"/>
              </a:rPr>
              <a:t>What products, services or quantities are needed?</a:t>
            </a:r>
            <a:endParaRPr/>
          </a:p>
        </p:txBody>
      </p:sp>
      <p:sp>
        <p:nvSpPr>
          <p:cNvPr id="11" name=""/>
          <p:cNvSpPr/>
          <p:nvPr/>
        </p:nvSpPr>
        <p:spPr>
          <a:xfrm>
            <a:off x="508000" y="4152900"/>
            <a:ext cx="6858000" cy="355600"/>
          </a:xfrm>
          <a:prstGeom prst="rect">
            <a:avLst/>
          </a:prstGeom>
          <a:noFill/>
          <a:ln>
            <a:noFill/>
          </a:ln>
        </p:spPr>
        <p:txBody>
          <a:bodyPr/>
          <a:p>
            <a:pPr/>
            <a:r>
              <a:rPr lang="zh-CN" sz="2100">
                <a:solidFill>
                  <a:srgbClr val="202020"/>
                </a:solidFill>
                <a:latin typeface="Arial"/>
                <a:ea typeface="Arial"/>
              </a:rPr>
              <a:t>Unconfirmed benefits</a:t>
            </a:r>
            <a:endParaRPr/>
          </a:p>
        </p:txBody>
      </p:sp>
      <p:sp>
        <p:nvSpPr>
          <p:cNvPr id="12" name=""/>
          <p:cNvSpPr/>
          <p:nvPr/>
        </p:nvSpPr>
        <p:spPr>
          <a:xfrm>
            <a:off x="508000" y="4546600"/>
            <a:ext cx="6985000" cy="533400"/>
          </a:xfrm>
          <a:prstGeom prst="rect">
            <a:avLst/>
          </a:prstGeom>
          <a:noFill/>
          <a:ln>
            <a:noFill/>
          </a:ln>
        </p:spPr>
        <p:txBody>
          <a:bodyPr/>
          <a:p>
            <a:pPr/>
            <a:r>
              <a:rPr lang="zh-CN" sz="1700">
                <a:solidFill>
                  <a:srgbClr val="666666"/>
                </a:solidFill>
                <a:latin typeface="Arial"/>
                <a:ea typeface="Arial"/>
              </a:rPr>
              <a:t>What can the student team actually offer?</a:t>
            </a:r>
            <a:endParaRPr/>
          </a:p>
        </p:txBody>
      </p:sp>
      <p:sp>
        <p:nvSpPr>
          <p:cNvPr id="13" name=""/>
          <p:cNvSpPr/>
          <p:nvPr/>
        </p:nvSpPr>
        <p:spPr>
          <a:xfrm>
            <a:off x="508000" y="5041900"/>
            <a:ext cx="6858000" cy="355600"/>
          </a:xfrm>
          <a:prstGeom prst="rect">
            <a:avLst/>
          </a:prstGeom>
          <a:noFill/>
          <a:ln>
            <a:noFill/>
          </a:ln>
        </p:spPr>
        <p:txBody>
          <a:bodyPr/>
          <a:p>
            <a:pPr/>
            <a:r>
              <a:rPr lang="zh-CN" sz="2100">
                <a:solidFill>
                  <a:srgbClr val="202020"/>
                </a:solidFill>
                <a:latin typeface="Arial"/>
                <a:ea typeface="Arial"/>
              </a:rPr>
              <a:t>Scattered preparation</a:t>
            </a:r>
            <a:endParaRPr/>
          </a:p>
        </p:txBody>
      </p:sp>
      <p:sp>
        <p:nvSpPr>
          <p:cNvPr id="14" name=""/>
          <p:cNvSpPr/>
          <p:nvPr/>
        </p:nvSpPr>
        <p:spPr>
          <a:xfrm>
            <a:off x="508000" y="5435600"/>
            <a:ext cx="6985000" cy="533400"/>
          </a:xfrm>
          <a:prstGeom prst="rect">
            <a:avLst/>
          </a:prstGeom>
          <a:noFill/>
          <a:ln>
            <a:noFill/>
          </a:ln>
        </p:spPr>
        <p:txBody>
          <a:bodyPr/>
          <a:p>
            <a:pPr/>
            <a:r>
              <a:rPr lang="zh-CN" sz="1700">
                <a:solidFill>
                  <a:srgbClr val="666666"/>
                </a:solidFill>
                <a:latin typeface="Arial"/>
                <a:ea typeface="Arial"/>
              </a:rPr>
              <a:t>How can a small business assess a concise request?</a:t>
            </a:r>
            <a:endParaRPr/>
          </a:p>
        </p:txBody>
      </p:sp>
      <p:sp>
        <p:nvSpPr>
          <p:cNvPr id="15" name=""/>
          <p:cNvSpPr/>
          <p:nvPr/>
        </p:nvSpPr>
        <p:spPr>
          <a:xfrm>
            <a:off x="8572500" y="2438400"/>
            <a:ext cx="2730500" cy="1955800"/>
          </a:xfrm>
          <a:prstGeom prst="rect">
            <a:avLst/>
          </a:prstGeom>
          <a:noFill/>
          <a:ln>
            <a:noFill/>
          </a:ln>
        </p:spPr>
        <p:txBody>
          <a:bodyPr/>
          <a:p>
            <a:pPr/>
            <a:r>
              <a:rPr lang="zh-CN" sz="3500">
                <a:solidFill>
                  <a:srgbClr val="FFFFFF"/>
                </a:solidFill>
                <a:latin typeface="Arial"/>
                <a:ea typeface="Arial"/>
              </a:rPr>
              <a:t>CLARIFY
DRAFT
REVIEW</a:t>
            </a:r>
            <a:endParaRPr/>
          </a:p>
        </p:txBody>
      </p:sp>
      <p:sp>
        <p:nvSpPr>
          <p:cNvPr id="16" name=""/>
          <p:cNvSpPr/>
          <p:nvPr/>
        </p:nvSpPr>
        <p:spPr>
          <a:xfrm>
            <a:off x="8572500" y="4838700"/>
            <a:ext cx="2730500" cy="711200"/>
          </a:xfrm>
          <a:prstGeom prst="rect">
            <a:avLst/>
          </a:prstGeom>
          <a:noFill/>
          <a:ln>
            <a:noFill/>
          </a:ln>
        </p:spPr>
        <p:txBody>
          <a:bodyPr/>
          <a:p>
            <a:pPr/>
            <a:r>
              <a:rPr lang="zh-CN" sz="1900">
                <a:solidFill>
                  <a:srgbClr val="DADADA"/>
                </a:solidFill>
                <a:latin typeface="Arial"/>
                <a:ea typeface="Arial"/>
              </a:rPr>
              <a:t>Before any commitment.</a:t>
            </a:r>
            <a:endParaRPr/>
          </a:p>
        </p:txBody>
      </p:sp>
      <p:pic>
        <p:nvPicPr>
          <p:cNvPr id="17" name=""/>
          <p:cNvPicPr/>
          <p:nvPr/>
        </p:nvPicPr>
        <p:blipFill>
          <a:blip r:embed="rId2"/>
          <a:stretch/>
        </p:blipFill>
        <p:spPr>
          <a:xfrm>
            <a:off x="10922000" y="254000"/>
            <a:ext cx="406400" cy="406400"/>
          </a:xfrm>
          <a:prstGeom prst="rect"/>
        </p:spPr>
      </p:pic>
    </p:spTree>
  </p:cSld>
</p:sld>
</file>

<file path=ppt/slides/slide2.xml><?xml version="1.0" encoding="utf-8"?>
<p:sld xmlns:p="http://schemas.openxmlformats.org/presentationml/2006/main" xmlns:a="http://schemas.openxmlformats.org/drawingml/2006/main">
  <p:cSld>
    <p:spTree>
      <p:nvGrpSpPr>
        <p:cNvPr id="18" name=""/>
        <p:cNvGrpSpPr/>
        <p:nvPr/>
      </p:nvGrpSpPr>
      <p:grpSpPr>
        <a:xfrm>
          <a:off x="0" y="0"/>
          <a:ext cx="0" cy="0"/>
          <a:chOff x="0" y="0"/>
          <a:chExt cx="0" cy="0"/>
        </a:xfrm>
      </p:grpSpPr>
      <p:sp>
        <p:nvSpPr>
          <p:cNvPr id="19" name=""/>
          <p:cNvSpPr/>
          <p:nvPr/>
        </p:nvSpPr>
        <p:spPr>
          <a:xfrm>
            <a:off x="0" y="0"/>
            <a:ext cx="12192000" cy="6858000"/>
          </a:xfrm>
          <a:prstGeom prst="rect">
            <a:avLst/>
          </a:prstGeom>
          <a:solidFill>
            <a:srgbClr val="FAFAFA"/>
          </a:solidFill>
          <a:ln>
            <a:noFill/>
          </a:ln>
        </p:spPr>
        <p:txBody>
          <a:bodyPr/>
          <a:p/>
        </p:txBody>
      </p:sp>
      <p:sp>
        <p:nvSpPr>
          <p:cNvPr id="20" name=""/>
          <p:cNvSpPr/>
          <p:nvPr/>
        </p:nvSpPr>
        <p:spPr>
          <a:xfrm>
            <a:off x="508000" y="2070100"/>
            <a:ext cx="2667000" cy="2476500"/>
          </a:xfrm>
          <a:prstGeom prst="rect">
            <a:avLst/>
          </a:prstGeom>
          <a:solidFill>
            <a:srgbClr val="EFEFEF"/>
          </a:solidFill>
          <a:ln>
            <a:noFill/>
          </a:ln>
        </p:spPr>
        <p:txBody>
          <a:bodyPr/>
          <a:p/>
        </p:txBody>
      </p:sp>
      <p:sp>
        <p:nvSpPr>
          <p:cNvPr id="21" name=""/>
          <p:cNvSpPr/>
          <p:nvPr/>
        </p:nvSpPr>
        <p:spPr>
          <a:xfrm>
            <a:off x="3365500" y="2070100"/>
            <a:ext cx="2667000" cy="2476500"/>
          </a:xfrm>
          <a:prstGeom prst="rect">
            <a:avLst/>
          </a:prstGeom>
          <a:solidFill>
            <a:srgbClr val="EFEFEF"/>
          </a:solidFill>
          <a:ln>
            <a:noFill/>
          </a:ln>
        </p:spPr>
        <p:txBody>
          <a:bodyPr/>
          <a:p/>
        </p:txBody>
      </p:sp>
      <p:sp>
        <p:nvSpPr>
          <p:cNvPr id="22" name=""/>
          <p:cNvSpPr/>
          <p:nvPr/>
        </p:nvSpPr>
        <p:spPr>
          <a:xfrm>
            <a:off x="6223000" y="2070100"/>
            <a:ext cx="2667000" cy="2476500"/>
          </a:xfrm>
          <a:prstGeom prst="rect">
            <a:avLst/>
          </a:prstGeom>
          <a:solidFill>
            <a:srgbClr val="EFEFEF"/>
          </a:solidFill>
          <a:ln>
            <a:noFill/>
          </a:ln>
        </p:spPr>
        <p:txBody>
          <a:bodyPr/>
          <a:p/>
        </p:txBody>
      </p:sp>
      <p:sp>
        <p:nvSpPr>
          <p:cNvPr id="23" name=""/>
          <p:cNvSpPr/>
          <p:nvPr/>
        </p:nvSpPr>
        <p:spPr>
          <a:xfrm>
            <a:off x="9080500" y="2070100"/>
            <a:ext cx="2667000" cy="2476500"/>
          </a:xfrm>
          <a:prstGeom prst="rect">
            <a:avLst/>
          </a:prstGeom>
          <a:solidFill>
            <a:srgbClr val="EFEFEF"/>
          </a:solidFill>
          <a:ln>
            <a:noFill/>
          </a:ln>
        </p:spPr>
        <p:txBody>
          <a:bodyPr/>
          <a:p/>
        </p:txBody>
      </p:sp>
      <p:sp>
        <p:nvSpPr>
          <p:cNvPr id="24" name=""/>
          <p:cNvSpPr/>
          <p:nvPr/>
        </p:nvSpPr>
        <p:spPr>
          <a:xfrm>
            <a:off x="508000" y="4851400"/>
            <a:ext cx="11176000" cy="1168400"/>
          </a:xfrm>
          <a:prstGeom prst="rect">
            <a:avLst/>
          </a:prstGeom>
          <a:solidFill>
            <a:srgbClr val="202020"/>
          </a:solidFill>
          <a:ln>
            <a:noFill/>
          </a:ln>
        </p:spPr>
        <p:txBody>
          <a:bodyPr/>
          <a:p/>
        </p:txBody>
      </p:sp>
      <p:sp>
        <p:nvSpPr>
          <p:cNvPr id="25" name=""/>
          <p:cNvSpPr/>
          <p:nvPr/>
        </p:nvSpPr>
        <p:spPr>
          <a:xfrm>
            <a:off x="508000" y="279400"/>
            <a:ext cx="10795000" cy="304800"/>
          </a:xfrm>
          <a:prstGeom prst="rect">
            <a:avLst/>
          </a:prstGeom>
          <a:noFill/>
          <a:ln>
            <a:noFill/>
          </a:ln>
        </p:spPr>
        <p:txBody>
          <a:bodyPr/>
          <a:p>
            <a:pPr/>
            <a:r>
              <a:rPr lang="zh-CN" sz="1300">
                <a:solidFill>
                  <a:srgbClr val="666666"/>
                </a:solidFill>
                <a:latin typeface="Arial"/>
                <a:ea typeface="Arial"/>
              </a:rPr>
              <a:t>02 / PROPOSAL-TO-CARD WORKFLOW</a:t>
            </a:r>
            <a:endParaRPr/>
          </a:p>
        </p:txBody>
      </p:sp>
      <p:sp>
        <p:nvSpPr>
          <p:cNvPr id="26" name=""/>
          <p:cNvSpPr/>
          <p:nvPr/>
        </p:nvSpPr>
        <p:spPr>
          <a:xfrm>
            <a:off x="508000" y="825500"/>
            <a:ext cx="11049000" cy="1041400"/>
          </a:xfrm>
          <a:prstGeom prst="rect">
            <a:avLst/>
          </a:prstGeom>
          <a:noFill/>
          <a:ln>
            <a:noFill/>
          </a:ln>
        </p:spPr>
        <p:txBody>
          <a:bodyPr/>
          <a:p>
            <a:pPr/>
            <a:r>
              <a:rPr lang="zh-CN" sz="3200">
                <a:solidFill>
                  <a:srgbClr val="202020"/>
                </a:solidFill>
                <a:latin typeface="Arial"/>
                <a:ea typeface="Arial"/>
              </a:rPr>
              <a:t>WorkBuddy plans and drafts. Students decide.</a:t>
            </a:r>
            <a:endParaRPr/>
          </a:p>
        </p:txBody>
      </p:sp>
      <p:sp>
        <p:nvSpPr>
          <p:cNvPr id="27" name=""/>
          <p:cNvSpPr/>
          <p:nvPr/>
        </p:nvSpPr>
        <p:spPr>
          <a:xfrm>
            <a:off x="508000" y="6477000"/>
            <a:ext cx="8890000" cy="228600"/>
          </a:xfrm>
          <a:prstGeom prst="rect">
            <a:avLst/>
          </a:prstGeom>
          <a:noFill/>
          <a:ln>
            <a:noFill/>
          </a:ln>
        </p:spPr>
        <p:txBody>
          <a:bodyPr/>
          <a:p>
            <a:pPr/>
            <a:r>
              <a:rPr lang="zh-CN" sz="1100">
                <a:solidFill>
                  <a:srgbClr val="666666"/>
                </a:solidFill>
                <a:latin typeface="Arial"/>
                <a:ea typeface="Arial"/>
              </a:rPr>
              <a:t>PUTRApitch | Afiq | 11 October 2026</a:t>
            </a:r>
            <a:endParaRPr/>
          </a:p>
        </p:txBody>
      </p:sp>
      <p:sp>
        <p:nvSpPr>
          <p:cNvPr id="28" name=""/>
          <p:cNvSpPr/>
          <p:nvPr/>
        </p:nvSpPr>
        <p:spPr>
          <a:xfrm>
            <a:off x="10795000" y="6477000"/>
            <a:ext cx="889000" cy="228600"/>
          </a:xfrm>
          <a:prstGeom prst="rect">
            <a:avLst/>
          </a:prstGeom>
          <a:noFill/>
          <a:ln>
            <a:noFill/>
          </a:ln>
        </p:spPr>
        <p:txBody>
          <a:bodyPr/>
          <a:p>
            <a:pPr/>
            <a:r>
              <a:rPr lang="zh-CN" sz="1100">
                <a:solidFill>
                  <a:srgbClr val="666666"/>
                </a:solidFill>
                <a:latin typeface="Arial"/>
                <a:ea typeface="Arial"/>
              </a:rPr>
              <a:t>02 / 06</a:t>
            </a:r>
            <a:endParaRPr/>
          </a:p>
        </p:txBody>
      </p:sp>
      <p:sp>
        <p:nvSpPr>
          <p:cNvPr id="29" name=""/>
          <p:cNvSpPr/>
          <p:nvPr/>
        </p:nvSpPr>
        <p:spPr>
          <a:xfrm>
            <a:off x="685800" y="2273300"/>
            <a:ext cx="2311400" cy="787400"/>
          </a:xfrm>
          <a:prstGeom prst="rect">
            <a:avLst/>
          </a:prstGeom>
          <a:noFill/>
          <a:ln>
            <a:noFill/>
          </a:ln>
        </p:spPr>
        <p:txBody>
          <a:bodyPr/>
          <a:p>
            <a:pPr/>
            <a:r>
              <a:rPr lang="zh-CN" sz="2000">
                <a:solidFill>
                  <a:srgbClr val="202020"/>
                </a:solidFill>
                <a:latin typeface="Arial"/>
                <a:ea typeface="Arial"/>
              </a:rPr>
              <a:t>1  Proposal + goal</a:t>
            </a:r>
            <a:endParaRPr/>
          </a:p>
        </p:txBody>
      </p:sp>
      <p:sp>
        <p:nvSpPr>
          <p:cNvPr id="30" name=""/>
          <p:cNvSpPr/>
          <p:nvPr/>
        </p:nvSpPr>
        <p:spPr>
          <a:xfrm>
            <a:off x="685800" y="3263900"/>
            <a:ext cx="2311400" cy="1117600"/>
          </a:xfrm>
          <a:prstGeom prst="rect">
            <a:avLst/>
          </a:prstGeom>
          <a:noFill/>
          <a:ln>
            <a:noFill/>
          </a:ln>
        </p:spPr>
        <p:txBody>
          <a:bodyPr/>
          <a:p>
            <a:pPr/>
            <a:r>
              <a:rPr lang="zh-CN" sz="1700">
                <a:solidFill>
                  <a:srgbClr val="555555"/>
                </a:solidFill>
                <a:latin typeface="Arial"/>
                <a:ea typeface="Arial"/>
              </a:rPr>
              <a:t>Student saves text or
imports PDF text locally.</a:t>
            </a:r>
            <a:endParaRPr/>
          </a:p>
        </p:txBody>
      </p:sp>
      <p:sp>
        <p:nvSpPr>
          <p:cNvPr id="31" name=""/>
          <p:cNvSpPr/>
          <p:nvPr/>
        </p:nvSpPr>
        <p:spPr>
          <a:xfrm>
            <a:off x="3543300" y="2273300"/>
            <a:ext cx="2311400" cy="787400"/>
          </a:xfrm>
          <a:prstGeom prst="rect">
            <a:avLst/>
          </a:prstGeom>
          <a:noFill/>
          <a:ln>
            <a:noFill/>
          </a:ln>
        </p:spPr>
        <p:txBody>
          <a:bodyPr/>
          <a:p>
            <a:pPr/>
            <a:r>
              <a:rPr lang="zh-CN" sz="2000">
                <a:solidFill>
                  <a:srgbClr val="202020"/>
                </a:solidFill>
                <a:latin typeface="Arial"/>
                <a:ea typeface="Arial"/>
              </a:rPr>
              <a:t>2  WorkBuddy prepares</a:t>
            </a:r>
            <a:endParaRPr/>
          </a:p>
        </p:txBody>
      </p:sp>
      <p:sp>
        <p:nvSpPr>
          <p:cNvPr id="32" name=""/>
          <p:cNvSpPr/>
          <p:nvPr/>
        </p:nvSpPr>
        <p:spPr>
          <a:xfrm>
            <a:off x="3543300" y="3263900"/>
            <a:ext cx="2311400" cy="1117600"/>
          </a:xfrm>
          <a:prstGeom prst="rect">
            <a:avLst/>
          </a:prstGeom>
          <a:noFill/>
          <a:ln>
            <a:noFill/>
          </a:ln>
        </p:spPr>
        <p:txBody>
          <a:bodyPr/>
          <a:p>
            <a:pPr/>
            <a:r>
              <a:rPr lang="zh-CN" sz="1700">
                <a:solidFill>
                  <a:srgbClr val="555555"/>
                </a:solidFill>
                <a:latin typeface="Arial"/>
                <a:ea typeface="Arial"/>
              </a:rPr>
              <a:t>Manual start: read inputs,
record a plan, ask questions.</a:t>
            </a:r>
            <a:endParaRPr/>
          </a:p>
        </p:txBody>
      </p:sp>
      <p:sp>
        <p:nvSpPr>
          <p:cNvPr id="33" name=""/>
          <p:cNvSpPr/>
          <p:nvPr/>
        </p:nvSpPr>
        <p:spPr>
          <a:xfrm>
            <a:off x="6400800" y="2273300"/>
            <a:ext cx="2311400" cy="787400"/>
          </a:xfrm>
          <a:prstGeom prst="rect">
            <a:avLst/>
          </a:prstGeom>
          <a:noFill/>
          <a:ln>
            <a:noFill/>
          </a:ln>
        </p:spPr>
        <p:txBody>
          <a:bodyPr/>
          <a:p>
            <a:pPr/>
            <a:r>
              <a:rPr lang="zh-CN" sz="2000">
                <a:solidFill>
                  <a:srgbClr val="202020"/>
                </a:solidFill>
                <a:latin typeface="Arial"/>
                <a:ea typeface="Arial"/>
              </a:rPr>
              <a:t>3  Student answers</a:t>
            </a:r>
            <a:endParaRPr/>
          </a:p>
        </p:txBody>
      </p:sp>
      <p:sp>
        <p:nvSpPr>
          <p:cNvPr id="34" name=""/>
          <p:cNvSpPr/>
          <p:nvPr/>
        </p:nvSpPr>
        <p:spPr>
          <a:xfrm>
            <a:off x="6400800" y="3263900"/>
            <a:ext cx="2311400" cy="1117600"/>
          </a:xfrm>
          <a:prstGeom prst="rect">
            <a:avLst/>
          </a:prstGeom>
          <a:noFill/>
          <a:ln>
            <a:noFill/>
          </a:ln>
        </p:spPr>
        <p:txBody>
          <a:bodyPr/>
          <a:p>
            <a:pPr/>
            <a:r>
              <a:rPr lang="zh-CN" sz="1700">
                <a:solidFill>
                  <a:srgbClr val="555555"/>
                </a:solidFill>
                <a:latin typeface="Arial"/>
                <a:ea typeface="Arial"/>
              </a:rPr>
              <a:t>Save answers and keep
unknowns unconfirmed.</a:t>
            </a:r>
            <a:endParaRPr/>
          </a:p>
        </p:txBody>
      </p:sp>
      <p:sp>
        <p:nvSpPr>
          <p:cNvPr id="35" name=""/>
          <p:cNvSpPr/>
          <p:nvPr/>
        </p:nvSpPr>
        <p:spPr>
          <a:xfrm>
            <a:off x="9258300" y="2273300"/>
            <a:ext cx="2311400" cy="787400"/>
          </a:xfrm>
          <a:prstGeom prst="rect">
            <a:avLst/>
          </a:prstGeom>
          <a:noFill/>
          <a:ln>
            <a:noFill/>
          </a:ln>
        </p:spPr>
        <p:txBody>
          <a:bodyPr/>
          <a:p>
            <a:pPr/>
            <a:r>
              <a:rPr lang="zh-CN" sz="2000">
                <a:solidFill>
                  <a:srgbClr val="202020"/>
                </a:solidFill>
                <a:latin typeface="Arial"/>
                <a:ea typeface="Arial"/>
              </a:rPr>
              <a:t>4  WorkBuddy resumes</a:t>
            </a:r>
            <a:endParaRPr/>
          </a:p>
        </p:txBody>
      </p:sp>
      <p:sp>
        <p:nvSpPr>
          <p:cNvPr id="36" name=""/>
          <p:cNvSpPr/>
          <p:nvPr/>
        </p:nvSpPr>
        <p:spPr>
          <a:xfrm>
            <a:off x="9258300" y="3263900"/>
            <a:ext cx="2311400" cy="1117600"/>
          </a:xfrm>
          <a:prstGeom prst="rect">
            <a:avLst/>
          </a:prstGeom>
          <a:noFill/>
          <a:ln>
            <a:noFill/>
          </a:ln>
        </p:spPr>
        <p:txBody>
          <a:bodyPr/>
          <a:p>
            <a:pPr/>
            <a:r>
              <a:rPr lang="zh-CN" sz="1700">
                <a:solidFill>
                  <a:srgbClr val="555555"/>
                </a:solidFill>
                <a:latin typeface="Arial"/>
                <a:ea typeface="Arial"/>
              </a:rPr>
              <a:t>Reread latest answers;
save source-linked drafts.</a:t>
            </a:r>
            <a:endParaRPr/>
          </a:p>
        </p:txBody>
      </p:sp>
      <p:sp>
        <p:nvSpPr>
          <p:cNvPr id="37" name=""/>
          <p:cNvSpPr/>
          <p:nvPr/>
        </p:nvSpPr>
        <p:spPr>
          <a:xfrm>
            <a:off x="749300" y="5016500"/>
            <a:ext cx="10642600" cy="431800"/>
          </a:xfrm>
          <a:prstGeom prst="rect">
            <a:avLst/>
          </a:prstGeom>
          <a:noFill/>
          <a:ln>
            <a:noFill/>
          </a:ln>
        </p:spPr>
        <p:txBody>
          <a:bodyPr/>
          <a:p>
            <a:pPr/>
            <a:r>
              <a:rPr lang="zh-CN" sz="2300">
                <a:solidFill>
                  <a:srgbClr val="FFFFFF"/>
                </a:solidFill>
                <a:latin typeface="Arial"/>
                <a:ea typeface="Arial"/>
              </a:rPr>
              <a:t>5  Review, edit and explicitly publish a limited card</a:t>
            </a:r>
            <a:endParaRPr/>
          </a:p>
        </p:txBody>
      </p:sp>
      <p:sp>
        <p:nvSpPr>
          <p:cNvPr id="38" name=""/>
          <p:cNvSpPr/>
          <p:nvPr/>
        </p:nvSpPr>
        <p:spPr>
          <a:xfrm>
            <a:off x="749300" y="5588000"/>
            <a:ext cx="10642600" cy="355600"/>
          </a:xfrm>
          <a:prstGeom prst="rect">
            <a:avLst/>
          </a:prstGeom>
          <a:noFill/>
          <a:ln>
            <a:noFill/>
          </a:ln>
        </p:spPr>
        <p:txBody>
          <a:bodyPr/>
          <a:p>
            <a:pPr/>
            <a:r>
              <a:rPr lang="zh-CN" sz="1700">
                <a:solidFill>
                  <a:srgbClr val="DADADA"/>
                </a:solidFill>
                <a:latin typeface="Arial"/>
                <a:ea typeface="Arial"/>
              </a:rPr>
              <a:t>Private inputs stay local. Content review is not approval or sponsor acceptance.</a:t>
            </a:r>
            <a:endParaRP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39" name=""/>
        <p:cNvGrpSpPr/>
        <p:nvPr/>
      </p:nvGrpSpPr>
      <p:grpSpPr>
        <a:xfrm>
          <a:off x="0" y="0"/>
          <a:ext cx="0" cy="0"/>
          <a:chOff x="0" y="0"/>
          <a:chExt cx="0" cy="0"/>
        </a:xfrm>
      </p:grpSpPr>
      <p:sp>
        <p:nvSpPr>
          <p:cNvPr id="40" name=""/>
          <p:cNvSpPr/>
          <p:nvPr/>
        </p:nvSpPr>
        <p:spPr>
          <a:xfrm>
            <a:off x="0" y="0"/>
            <a:ext cx="12192000" cy="6858000"/>
          </a:xfrm>
          <a:prstGeom prst="rect">
            <a:avLst/>
          </a:prstGeom>
          <a:solidFill>
            <a:srgbClr val="FAFAFA"/>
          </a:solidFill>
          <a:ln>
            <a:noFill/>
          </a:ln>
        </p:spPr>
        <p:txBody>
          <a:bodyPr/>
          <a:p/>
        </p:txBody>
      </p:sp>
      <p:sp>
        <p:nvSpPr>
          <p:cNvPr id="41" name=""/>
          <p:cNvSpPr/>
          <p:nvPr/>
        </p:nvSpPr>
        <p:spPr>
          <a:xfrm>
            <a:off x="508000" y="279400"/>
            <a:ext cx="10795000" cy="304800"/>
          </a:xfrm>
          <a:prstGeom prst="rect">
            <a:avLst/>
          </a:prstGeom>
          <a:noFill/>
          <a:ln>
            <a:noFill/>
          </a:ln>
        </p:spPr>
        <p:txBody>
          <a:bodyPr/>
          <a:p>
            <a:pPr/>
            <a:r>
              <a:rPr lang="zh-CN" sz="1300">
                <a:solidFill>
                  <a:srgbClr val="666666"/>
                </a:solidFill>
                <a:latin typeface="Arial"/>
                <a:ea typeface="Arial"/>
              </a:rPr>
              <a:t>03 / AUTHENTIC HISTORICAL WORKBUDDY PROOF</a:t>
            </a:r>
            <a:endParaRPr/>
          </a:p>
        </p:txBody>
      </p:sp>
      <p:sp>
        <p:nvSpPr>
          <p:cNvPr id="42" name=""/>
          <p:cNvSpPr/>
          <p:nvPr/>
        </p:nvSpPr>
        <p:spPr>
          <a:xfrm>
            <a:off x="508000" y="825500"/>
            <a:ext cx="11049000" cy="1041400"/>
          </a:xfrm>
          <a:prstGeom prst="rect">
            <a:avLst/>
          </a:prstGeom>
          <a:noFill/>
          <a:ln>
            <a:noFill/>
          </a:ln>
        </p:spPr>
        <p:txBody>
          <a:bodyPr/>
          <a:p>
            <a:pPr/>
            <a:r>
              <a:rPr lang="zh-CN" sz="3200">
                <a:solidFill>
                  <a:srgbClr val="202020"/>
                </a:solidFill>
                <a:latin typeface="Arial"/>
                <a:ea typeface="Arial"/>
              </a:rPr>
              <a:t>A real saved workflow, not a fabricated run.</a:t>
            </a:r>
            <a:endParaRPr/>
          </a:p>
        </p:txBody>
      </p:sp>
      <p:sp>
        <p:nvSpPr>
          <p:cNvPr id="43" name=""/>
          <p:cNvSpPr/>
          <p:nvPr/>
        </p:nvSpPr>
        <p:spPr>
          <a:xfrm>
            <a:off x="508000" y="6477000"/>
            <a:ext cx="8890000" cy="228600"/>
          </a:xfrm>
          <a:prstGeom prst="rect">
            <a:avLst/>
          </a:prstGeom>
          <a:noFill/>
          <a:ln>
            <a:noFill/>
          </a:ln>
        </p:spPr>
        <p:txBody>
          <a:bodyPr/>
          <a:p>
            <a:pPr/>
            <a:r>
              <a:rPr lang="zh-CN" sz="1100">
                <a:solidFill>
                  <a:srgbClr val="666666"/>
                </a:solidFill>
                <a:latin typeface="Arial"/>
                <a:ea typeface="Arial"/>
              </a:rPr>
              <a:t>PUTRApitch | Afiq | 11 October 2026</a:t>
            </a:r>
            <a:endParaRPr/>
          </a:p>
        </p:txBody>
      </p:sp>
      <p:sp>
        <p:nvSpPr>
          <p:cNvPr id="44" name=""/>
          <p:cNvSpPr/>
          <p:nvPr/>
        </p:nvSpPr>
        <p:spPr>
          <a:xfrm>
            <a:off x="10795000" y="6477000"/>
            <a:ext cx="889000" cy="228600"/>
          </a:xfrm>
          <a:prstGeom prst="rect">
            <a:avLst/>
          </a:prstGeom>
          <a:noFill/>
          <a:ln>
            <a:noFill/>
          </a:ln>
        </p:spPr>
        <p:txBody>
          <a:bodyPr/>
          <a:p>
            <a:pPr/>
            <a:r>
              <a:rPr lang="zh-CN" sz="1100">
                <a:solidFill>
                  <a:srgbClr val="666666"/>
                </a:solidFill>
                <a:latin typeface="Arial"/>
                <a:ea typeface="Arial"/>
              </a:rPr>
              <a:t>03 / 06</a:t>
            </a:r>
            <a:endParaRPr/>
          </a:p>
        </p:txBody>
      </p:sp>
      <p:sp>
        <p:nvSpPr>
          <p:cNvPr id="45" name=""/>
          <p:cNvSpPr/>
          <p:nvPr/>
        </p:nvSpPr>
        <p:spPr>
          <a:xfrm>
            <a:off x="508000" y="1917700"/>
            <a:ext cx="5715000" cy="457200"/>
          </a:xfrm>
          <a:prstGeom prst="rect">
            <a:avLst/>
          </a:prstGeom>
          <a:noFill/>
          <a:ln>
            <a:noFill/>
          </a:ln>
        </p:spPr>
        <p:txBody>
          <a:bodyPr/>
          <a:p>
            <a:pPr/>
            <a:r>
              <a:rPr lang="zh-CN" sz="2400">
                <a:solidFill>
                  <a:srgbClr val="202020"/>
                </a:solidFill>
                <a:latin typeface="Arial"/>
                <a:ea typeface="Arial"/>
              </a:rPr>
              <a:t>First Splash Swimming Clinic</a:t>
            </a:r>
            <a:endParaRPr/>
          </a:p>
        </p:txBody>
      </p:sp>
      <p:sp>
        <p:nvSpPr>
          <p:cNvPr id="46" name=""/>
          <p:cNvSpPr/>
          <p:nvPr/>
        </p:nvSpPr>
        <p:spPr>
          <a:xfrm>
            <a:off x="508000" y="2463800"/>
            <a:ext cx="5778500" cy="355600"/>
          </a:xfrm>
          <a:prstGeom prst="rect">
            <a:avLst/>
          </a:prstGeom>
          <a:noFill/>
          <a:ln>
            <a:noFill/>
          </a:ln>
        </p:spPr>
        <p:txBody>
          <a:bodyPr/>
          <a:p>
            <a:pPr/>
            <a:r>
              <a:rPr lang="zh-CN" sz="1600">
                <a:solidFill>
                  <a:srgbClr val="666666"/>
                </a:solidFill>
                <a:latin typeface="Arial"/>
                <a:ea typeface="Arial"/>
              </a:rPr>
              <a:t>Clearly fictional student-event demonstration</a:t>
            </a:r>
            <a:endParaRPr/>
          </a:p>
        </p:txBody>
      </p:sp>
      <p:sp>
        <p:nvSpPr>
          <p:cNvPr id="47" name=""/>
          <p:cNvSpPr/>
          <p:nvPr/>
        </p:nvSpPr>
        <p:spPr>
          <a:xfrm>
            <a:off x="508000" y="3048000"/>
            <a:ext cx="5715000" cy="419100"/>
          </a:xfrm>
          <a:prstGeom prst="rect">
            <a:avLst/>
          </a:prstGeom>
          <a:noFill/>
          <a:ln>
            <a:noFill/>
          </a:ln>
        </p:spPr>
        <p:txBody>
          <a:bodyPr/>
          <a:p>
            <a:pPr/>
            <a:r>
              <a:rPr lang="zh-CN" sz="2100">
                <a:solidFill>
                  <a:srgbClr val="202020"/>
                </a:solidFill>
                <a:latin typeface="Arial"/>
                <a:ea typeface="Arial"/>
              </a:rPr>
              <a:t>Recorded WorkBuddy actions</a:t>
            </a:r>
            <a:endParaRPr/>
          </a:p>
        </p:txBody>
      </p:sp>
      <p:sp>
        <p:nvSpPr>
          <p:cNvPr id="48" name=""/>
          <p:cNvSpPr/>
          <p:nvPr/>
        </p:nvSpPr>
        <p:spPr>
          <a:xfrm>
            <a:off x="508000" y="3581400"/>
            <a:ext cx="5715000" cy="901700"/>
          </a:xfrm>
          <a:prstGeom prst="rect">
            <a:avLst/>
          </a:prstGeom>
          <a:noFill/>
          <a:ln>
            <a:noFill/>
          </a:ln>
        </p:spPr>
        <p:txBody>
          <a:bodyPr/>
          <a:p>
            <a:pPr/>
            <a:r>
              <a:rPr lang="zh-CN" sz="1800">
                <a:solidFill>
                  <a:srgbClr val="555555"/>
                </a:solidFill>
                <a:latin typeface="Arial"/>
                <a:ea typeface="Arial"/>
              </a:rPr>
              <a:t>Read request -&gt; plan -&gt; prepare -&gt; reread answers
-&gt; save source-linked package continuation.</a:t>
            </a:r>
            <a:endParaRPr/>
          </a:p>
        </p:txBody>
      </p:sp>
      <p:sp>
        <p:nvSpPr>
          <p:cNvPr id="49" name=""/>
          <p:cNvSpPr/>
          <p:nvPr/>
        </p:nvSpPr>
        <p:spPr>
          <a:xfrm>
            <a:off x="508000" y="4216400"/>
            <a:ext cx="5715000" cy="419100"/>
          </a:xfrm>
          <a:prstGeom prst="rect">
            <a:avLst/>
          </a:prstGeom>
          <a:noFill/>
          <a:ln>
            <a:noFill/>
          </a:ln>
        </p:spPr>
        <p:txBody>
          <a:bodyPr/>
          <a:p>
            <a:pPr/>
            <a:r>
              <a:rPr lang="zh-CN" sz="2100">
                <a:solidFill>
                  <a:srgbClr val="202020"/>
                </a:solidFill>
                <a:latin typeface="Arial"/>
                <a:ea typeface="Arial"/>
              </a:rPr>
              <a:t>Supported draft outputs</a:t>
            </a:r>
            <a:endParaRPr/>
          </a:p>
        </p:txBody>
      </p:sp>
      <p:sp>
        <p:nvSpPr>
          <p:cNvPr id="50" name=""/>
          <p:cNvSpPr/>
          <p:nvPr/>
        </p:nvSpPr>
        <p:spPr>
          <a:xfrm>
            <a:off x="508000" y="4749800"/>
            <a:ext cx="5715000" cy="901700"/>
          </a:xfrm>
          <a:prstGeom prst="rect">
            <a:avLst/>
          </a:prstGeom>
          <a:noFill/>
          <a:ln>
            <a:noFill/>
          </a:ln>
        </p:spPr>
        <p:txBody>
          <a:bodyPr/>
          <a:p>
            <a:pPr/>
            <a:r>
              <a:rPr lang="zh-CN" sz="1800">
                <a:solidFill>
                  <a:srgbClr val="555555"/>
                </a:solidFill>
                <a:latin typeface="Arial"/>
                <a:ea typeface="Arial"/>
              </a:rPr>
              <a:t>48 water bottles | loan of 12 kickboards
One coach for 3 hours | student-team thank-you only.</a:t>
            </a:r>
            <a:endParaRPr/>
          </a:p>
        </p:txBody>
      </p:sp>
      <p:sp>
        <p:nvSpPr>
          <p:cNvPr id="51" name=""/>
          <p:cNvSpPr/>
          <p:nvPr/>
        </p:nvSpPr>
        <p:spPr>
          <a:xfrm>
            <a:off x="508000" y="5676900"/>
            <a:ext cx="5715000" cy="596900"/>
          </a:xfrm>
          <a:prstGeom prst="rect">
            <a:avLst/>
          </a:prstGeom>
          <a:noFill/>
          <a:ln>
            <a:noFill/>
          </a:ln>
        </p:spPr>
        <p:txBody>
          <a:bodyPr/>
          <a:p>
            <a:pPr/>
            <a:r>
              <a:rPr lang="zh-CN" sz="1500">
                <a:solidFill>
                  <a:srgbClr val="666666"/>
                </a:solidFill>
                <a:latin typeface="Arial"/>
                <a:ea typeface="Arial"/>
              </a:rPr>
              <a:t>Historical saved activity, not a fresh run today.
No business matching result is claimed.</a:t>
            </a:r>
            <a:endParaRPr/>
          </a:p>
        </p:txBody>
      </p:sp>
      <p:pic>
        <p:nvPicPr>
          <p:cNvPr id="52" name=""/>
          <p:cNvPicPr/>
          <p:nvPr/>
        </p:nvPicPr>
        <p:blipFill>
          <a:blip r:embed="rId2"/>
          <a:stretch/>
        </p:blipFill>
        <p:spPr>
          <a:xfrm>
            <a:off x="6540500" y="1917700"/>
            <a:ext cx="5079999" cy="3975652"/>
          </a:xfrm>
          <a:prstGeom prst="rect"/>
        </p:spPr>
      </p:pic>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53" name=""/>
        <p:cNvGrpSpPr/>
        <p:nvPr/>
      </p:nvGrpSpPr>
      <p:grpSpPr>
        <a:xfrm>
          <a:off x="0" y="0"/>
          <a:ext cx="0" cy="0"/>
          <a:chOff x="0" y="0"/>
          <a:chExt cx="0" cy="0"/>
        </a:xfrm>
      </p:grpSpPr>
      <p:sp>
        <p:nvSpPr>
          <p:cNvPr id="54" name=""/>
          <p:cNvSpPr/>
          <p:nvPr/>
        </p:nvSpPr>
        <p:spPr>
          <a:xfrm>
            <a:off x="0" y="0"/>
            <a:ext cx="12192000" cy="6858000"/>
          </a:xfrm>
          <a:prstGeom prst="rect">
            <a:avLst/>
          </a:prstGeom>
          <a:solidFill>
            <a:srgbClr val="FAFAFA"/>
          </a:solidFill>
          <a:ln>
            <a:noFill/>
          </a:ln>
        </p:spPr>
        <p:txBody>
          <a:bodyPr/>
          <a:p/>
        </p:txBody>
      </p:sp>
      <p:sp>
        <p:nvSpPr>
          <p:cNvPr id="55" name=""/>
          <p:cNvSpPr/>
          <p:nvPr/>
        </p:nvSpPr>
        <p:spPr>
          <a:xfrm>
            <a:off x="508000" y="279400"/>
            <a:ext cx="10795000" cy="304800"/>
          </a:xfrm>
          <a:prstGeom prst="rect">
            <a:avLst/>
          </a:prstGeom>
          <a:noFill/>
          <a:ln>
            <a:noFill/>
          </a:ln>
        </p:spPr>
        <p:txBody>
          <a:bodyPr/>
          <a:p>
            <a:pPr/>
            <a:r>
              <a:rPr lang="zh-CN" sz="1300">
                <a:solidFill>
                  <a:srgbClr val="666666"/>
                </a:solidFill>
                <a:latin typeface="Arial"/>
                <a:ea typeface="Arial"/>
              </a:rPr>
              <a:t>04 / THE BUSINESS MARKETPLACE</a:t>
            </a:r>
            <a:endParaRPr/>
          </a:p>
        </p:txBody>
      </p:sp>
      <p:sp>
        <p:nvSpPr>
          <p:cNvPr id="56" name=""/>
          <p:cNvSpPr/>
          <p:nvPr/>
        </p:nvSpPr>
        <p:spPr>
          <a:xfrm>
            <a:off x="508000" y="825500"/>
            <a:ext cx="11049000" cy="1041400"/>
          </a:xfrm>
          <a:prstGeom prst="rect">
            <a:avLst/>
          </a:prstGeom>
          <a:noFill/>
          <a:ln>
            <a:noFill/>
          </a:ln>
        </p:spPr>
        <p:txBody>
          <a:bodyPr/>
          <a:p>
            <a:pPr/>
            <a:r>
              <a:rPr lang="zh-CN" sz="3200">
                <a:solidFill>
                  <a:srgbClr val="202020"/>
                </a:solidFill>
                <a:latin typeface="Arial"/>
                <a:ea typeface="Arial"/>
              </a:rPr>
              <a:t>Let a small business see the ask, not private inputs.</a:t>
            </a:r>
            <a:endParaRPr/>
          </a:p>
        </p:txBody>
      </p:sp>
      <p:sp>
        <p:nvSpPr>
          <p:cNvPr id="57" name=""/>
          <p:cNvSpPr/>
          <p:nvPr/>
        </p:nvSpPr>
        <p:spPr>
          <a:xfrm>
            <a:off x="508000" y="6477000"/>
            <a:ext cx="8890000" cy="228600"/>
          </a:xfrm>
          <a:prstGeom prst="rect">
            <a:avLst/>
          </a:prstGeom>
          <a:noFill/>
          <a:ln>
            <a:noFill/>
          </a:ln>
        </p:spPr>
        <p:txBody>
          <a:bodyPr/>
          <a:p>
            <a:pPr/>
            <a:r>
              <a:rPr lang="zh-CN" sz="1100">
                <a:solidFill>
                  <a:srgbClr val="666666"/>
                </a:solidFill>
                <a:latin typeface="Arial"/>
                <a:ea typeface="Arial"/>
              </a:rPr>
              <a:t>PUTRApitch | Afiq | 11 October 2026</a:t>
            </a:r>
            <a:endParaRPr/>
          </a:p>
        </p:txBody>
      </p:sp>
      <p:sp>
        <p:nvSpPr>
          <p:cNvPr id="58" name=""/>
          <p:cNvSpPr/>
          <p:nvPr/>
        </p:nvSpPr>
        <p:spPr>
          <a:xfrm>
            <a:off x="10795000" y="6477000"/>
            <a:ext cx="889000" cy="228600"/>
          </a:xfrm>
          <a:prstGeom prst="rect">
            <a:avLst/>
          </a:prstGeom>
          <a:noFill/>
          <a:ln>
            <a:noFill/>
          </a:ln>
        </p:spPr>
        <p:txBody>
          <a:bodyPr/>
          <a:p>
            <a:pPr/>
            <a:r>
              <a:rPr lang="zh-CN" sz="1100">
                <a:solidFill>
                  <a:srgbClr val="666666"/>
                </a:solidFill>
                <a:latin typeface="Arial"/>
                <a:ea typeface="Arial"/>
              </a:rPr>
              <a:t>04 / 06</a:t>
            </a:r>
            <a:endParaRPr/>
          </a:p>
        </p:txBody>
      </p:sp>
      <p:sp>
        <p:nvSpPr>
          <p:cNvPr id="59" name=""/>
          <p:cNvSpPr/>
          <p:nvPr/>
        </p:nvSpPr>
        <p:spPr>
          <a:xfrm>
            <a:off x="508000" y="1943100"/>
            <a:ext cx="5651500" cy="660400"/>
          </a:xfrm>
          <a:prstGeom prst="rect">
            <a:avLst/>
          </a:prstGeom>
          <a:noFill/>
          <a:ln>
            <a:noFill/>
          </a:ln>
        </p:spPr>
        <p:txBody>
          <a:bodyPr/>
          <a:p>
            <a:pPr/>
            <a:r>
              <a:rPr lang="zh-CN" sz="2400">
                <a:solidFill>
                  <a:srgbClr val="202020"/>
                </a:solidFill>
                <a:latin typeface="Arial"/>
                <a:ea typeface="Arial"/>
              </a:rPr>
              <a:t>Offer + interests -&gt; fixed-rule fit reasons</a:t>
            </a:r>
            <a:endParaRPr/>
          </a:p>
        </p:txBody>
      </p:sp>
      <p:sp>
        <p:nvSpPr>
          <p:cNvPr id="60" name=""/>
          <p:cNvSpPr/>
          <p:nvPr/>
        </p:nvSpPr>
        <p:spPr>
          <a:xfrm>
            <a:off x="508000" y="2959100"/>
            <a:ext cx="5651500" cy="1244600"/>
          </a:xfrm>
          <a:prstGeom prst="rect">
            <a:avLst/>
          </a:prstGeom>
          <a:noFill/>
          <a:ln>
            <a:noFill/>
          </a:ln>
        </p:spPr>
        <p:txBody>
          <a:bodyPr/>
          <a:p>
            <a:pPr/>
            <a:r>
              <a:rPr lang="zh-CN" sz="2000">
                <a:solidFill>
                  <a:srgbClr val="555555"/>
                </a:solidFill>
                <a:latin typeface="Arial"/>
                <a:ea typeface="Arial"/>
              </a:rPr>
              <a:t>Public demo contains fictional sample cards.
Its current matching example is rule-based,
not a WorkBuddy business match.</a:t>
            </a:r>
            <a:endParaRPr/>
          </a:p>
        </p:txBody>
      </p:sp>
      <p:sp>
        <p:nvSpPr>
          <p:cNvPr id="61" name=""/>
          <p:cNvSpPr/>
          <p:nvPr/>
        </p:nvSpPr>
        <p:spPr>
          <a:xfrm>
            <a:off x="508000" y="4546600"/>
            <a:ext cx="5715000" cy="469900"/>
          </a:xfrm>
          <a:prstGeom prst="rect">
            <a:avLst/>
          </a:prstGeom>
          <a:noFill/>
          <a:ln>
            <a:noFill/>
          </a:ln>
        </p:spPr>
        <p:txBody>
          <a:bodyPr/>
          <a:p>
            <a:pPr/>
            <a:r>
              <a:rPr lang="zh-CN" sz="2300">
                <a:solidFill>
                  <a:srgbClr val="202020"/>
                </a:solidFill>
                <a:latin typeface="Arial"/>
                <a:ea typeface="Arial"/>
              </a:rPr>
              <a:t>Copy WorkBuddy matching brief</a:t>
            </a:r>
            <a:endParaRPr/>
          </a:p>
        </p:txBody>
      </p:sp>
      <p:sp>
        <p:nvSpPr>
          <p:cNvPr id="62" name=""/>
          <p:cNvSpPr/>
          <p:nvPr/>
        </p:nvSpPr>
        <p:spPr>
          <a:xfrm>
            <a:off x="508000" y="5168900"/>
            <a:ext cx="5715000" cy="1028700"/>
          </a:xfrm>
          <a:prstGeom prst="rect">
            <a:avLst/>
          </a:prstGeom>
          <a:noFill/>
          <a:ln>
            <a:noFill/>
          </a:ln>
        </p:spPr>
        <p:txBody>
          <a:bodyPr/>
          <a:p>
            <a:pPr/>
            <a:r>
              <a:rPr lang="zh-CN" sz="1800">
                <a:solidFill>
                  <a:srgbClr val="555555"/>
                </a:solidFill>
                <a:latin typeface="Arial"/>
                <a:ea typeface="Arial"/>
              </a:rPr>
              <a:t>Manual handoff is available. A WorkBuddy
matching result exists only after someone
runs the brief; none is claimed here.</a:t>
            </a:r>
            <a:endParaRPr/>
          </a:p>
        </p:txBody>
      </p:sp>
      <p:pic>
        <p:nvPicPr>
          <p:cNvPr id="63" name=""/>
          <p:cNvPicPr/>
          <p:nvPr/>
        </p:nvPicPr>
        <p:blipFill>
          <a:blip r:embed="rId2"/>
          <a:stretch/>
        </p:blipFill>
        <p:spPr>
          <a:xfrm>
            <a:off x="6540500" y="1943100"/>
            <a:ext cx="3122817" cy="4064000"/>
          </a:xfrm>
          <a:prstGeom prst="rect"/>
        </p:spPr>
      </p:pic>
    </p:spTree>
  </p:cSld>
</p:sld>
</file>

<file path=ppt/slides/slide5.xml><?xml version="1.0" encoding="utf-8"?>
<p:sld xmlns:p="http://schemas.openxmlformats.org/presentationml/2006/main" xmlns:a="http://schemas.openxmlformats.org/drawingml/2006/main">
  <p:cSld>
    <p:spTree>
      <p:nvGrpSpPr>
        <p:cNvPr id="64" name=""/>
        <p:cNvGrpSpPr/>
        <p:nvPr/>
      </p:nvGrpSpPr>
      <p:grpSpPr>
        <a:xfrm>
          <a:off x="0" y="0"/>
          <a:ext cx="0" cy="0"/>
          <a:chOff x="0" y="0"/>
          <a:chExt cx="0" cy="0"/>
        </a:xfrm>
      </p:grpSpPr>
      <p:sp>
        <p:nvSpPr>
          <p:cNvPr id="65" name=""/>
          <p:cNvSpPr/>
          <p:nvPr/>
        </p:nvSpPr>
        <p:spPr>
          <a:xfrm>
            <a:off x="0" y="0"/>
            <a:ext cx="12192000" cy="6858000"/>
          </a:xfrm>
          <a:prstGeom prst="rect">
            <a:avLst/>
          </a:prstGeom>
          <a:solidFill>
            <a:srgbClr val="FAFAFA"/>
          </a:solidFill>
          <a:ln>
            <a:noFill/>
          </a:ln>
        </p:spPr>
        <p:txBody>
          <a:bodyPr/>
          <a:p/>
        </p:txBody>
      </p:sp>
      <p:sp>
        <p:nvSpPr>
          <p:cNvPr id="66" name=""/>
          <p:cNvSpPr/>
          <p:nvPr/>
        </p:nvSpPr>
        <p:spPr>
          <a:xfrm>
            <a:off x="508000" y="1955800"/>
            <a:ext cx="5461000" cy="4051300"/>
          </a:xfrm>
          <a:prstGeom prst="rect">
            <a:avLst/>
          </a:prstGeom>
          <a:solidFill>
            <a:srgbClr val="EFEFEF"/>
          </a:solidFill>
          <a:ln>
            <a:noFill/>
          </a:ln>
        </p:spPr>
        <p:txBody>
          <a:bodyPr/>
          <a:p/>
        </p:txBody>
      </p:sp>
      <p:sp>
        <p:nvSpPr>
          <p:cNvPr id="67" name=""/>
          <p:cNvSpPr/>
          <p:nvPr/>
        </p:nvSpPr>
        <p:spPr>
          <a:xfrm>
            <a:off x="6223000" y="1955800"/>
            <a:ext cx="5461000" cy="4051300"/>
          </a:xfrm>
          <a:prstGeom prst="rect">
            <a:avLst/>
          </a:prstGeom>
          <a:solidFill>
            <a:srgbClr val="EFEFEF"/>
          </a:solidFill>
          <a:ln>
            <a:noFill/>
          </a:ln>
        </p:spPr>
        <p:txBody>
          <a:bodyPr/>
          <a:p/>
        </p:txBody>
      </p:sp>
      <p:sp>
        <p:nvSpPr>
          <p:cNvPr id="68" name=""/>
          <p:cNvSpPr/>
          <p:nvPr/>
        </p:nvSpPr>
        <p:spPr>
          <a:xfrm>
            <a:off x="508000" y="279400"/>
            <a:ext cx="10795000" cy="304800"/>
          </a:xfrm>
          <a:prstGeom prst="rect">
            <a:avLst/>
          </a:prstGeom>
          <a:noFill/>
          <a:ln>
            <a:noFill/>
          </a:ln>
        </p:spPr>
        <p:txBody>
          <a:bodyPr/>
          <a:p>
            <a:pPr/>
            <a:r>
              <a:rPr lang="zh-CN" sz="1300">
                <a:solidFill>
                  <a:srgbClr val="666666"/>
                </a:solidFill>
                <a:latin typeface="Arial"/>
                <a:ea typeface="Arial"/>
              </a:rPr>
              <a:t>05 / SHORT DEMO JOURNEY</a:t>
            </a:r>
            <a:endParaRPr/>
          </a:p>
        </p:txBody>
      </p:sp>
      <p:sp>
        <p:nvSpPr>
          <p:cNvPr id="69" name=""/>
          <p:cNvSpPr/>
          <p:nvPr/>
        </p:nvSpPr>
        <p:spPr>
          <a:xfrm>
            <a:off x="508000" y="825500"/>
            <a:ext cx="11049000" cy="1041400"/>
          </a:xfrm>
          <a:prstGeom prst="rect">
            <a:avLst/>
          </a:prstGeom>
          <a:noFill/>
          <a:ln>
            <a:noFill/>
          </a:ln>
        </p:spPr>
        <p:txBody>
          <a:bodyPr/>
          <a:p>
            <a:pPr/>
            <a:r>
              <a:rPr lang="zh-CN" sz="3200">
                <a:solidFill>
                  <a:srgbClr val="202020"/>
                </a:solidFill>
                <a:latin typeface="Arial"/>
                <a:ea typeface="Arial"/>
              </a:rPr>
              <a:t>Two views: local preparation, public discovery.</a:t>
            </a:r>
            <a:endParaRPr/>
          </a:p>
        </p:txBody>
      </p:sp>
      <p:sp>
        <p:nvSpPr>
          <p:cNvPr id="70" name=""/>
          <p:cNvSpPr/>
          <p:nvPr/>
        </p:nvSpPr>
        <p:spPr>
          <a:xfrm>
            <a:off x="508000" y="6477000"/>
            <a:ext cx="8890000" cy="228600"/>
          </a:xfrm>
          <a:prstGeom prst="rect">
            <a:avLst/>
          </a:prstGeom>
          <a:noFill/>
          <a:ln>
            <a:noFill/>
          </a:ln>
        </p:spPr>
        <p:txBody>
          <a:bodyPr/>
          <a:p>
            <a:pPr/>
            <a:r>
              <a:rPr lang="zh-CN" sz="1100">
                <a:solidFill>
                  <a:srgbClr val="666666"/>
                </a:solidFill>
                <a:latin typeface="Arial"/>
                <a:ea typeface="Arial"/>
              </a:rPr>
              <a:t>PUTRApitch | Afiq | 11 October 2026</a:t>
            </a:r>
            <a:endParaRPr/>
          </a:p>
        </p:txBody>
      </p:sp>
      <p:sp>
        <p:nvSpPr>
          <p:cNvPr id="71" name=""/>
          <p:cNvSpPr/>
          <p:nvPr/>
        </p:nvSpPr>
        <p:spPr>
          <a:xfrm>
            <a:off x="10795000" y="6477000"/>
            <a:ext cx="889000" cy="228600"/>
          </a:xfrm>
          <a:prstGeom prst="rect">
            <a:avLst/>
          </a:prstGeom>
          <a:noFill/>
          <a:ln>
            <a:noFill/>
          </a:ln>
        </p:spPr>
        <p:txBody>
          <a:bodyPr/>
          <a:p>
            <a:pPr/>
            <a:r>
              <a:rPr lang="zh-CN" sz="1100">
                <a:solidFill>
                  <a:srgbClr val="666666"/>
                </a:solidFill>
                <a:latin typeface="Arial"/>
                <a:ea typeface="Arial"/>
              </a:rPr>
              <a:t>05 / 06</a:t>
            </a:r>
            <a:endParaRPr/>
          </a:p>
        </p:txBody>
      </p:sp>
      <p:sp>
        <p:nvSpPr>
          <p:cNvPr id="72" name=""/>
          <p:cNvSpPr/>
          <p:nvPr/>
        </p:nvSpPr>
        <p:spPr>
          <a:xfrm>
            <a:off x="723900" y="2171700"/>
            <a:ext cx="5016500" cy="406400"/>
          </a:xfrm>
          <a:prstGeom prst="rect">
            <a:avLst/>
          </a:prstGeom>
          <a:noFill/>
          <a:ln>
            <a:noFill/>
          </a:ln>
        </p:spPr>
        <p:txBody>
          <a:bodyPr/>
          <a:p>
            <a:pPr/>
            <a:r>
              <a:rPr lang="zh-CN" sz="2000">
                <a:solidFill>
                  <a:srgbClr val="202020"/>
                </a:solidFill>
                <a:latin typeface="Arial"/>
                <a:ea typeface="Arial"/>
              </a:rPr>
              <a:t>A. LOCAL STUDENT WORKFLOW</a:t>
            </a:r>
            <a:endParaRPr/>
          </a:p>
        </p:txBody>
      </p:sp>
      <p:sp>
        <p:nvSpPr>
          <p:cNvPr id="73" name=""/>
          <p:cNvSpPr/>
          <p:nvPr/>
        </p:nvSpPr>
        <p:spPr>
          <a:xfrm>
            <a:off x="723900" y="2946400"/>
            <a:ext cx="4953000" cy="1689100"/>
          </a:xfrm>
          <a:prstGeom prst="rect">
            <a:avLst/>
          </a:prstGeom>
          <a:noFill/>
          <a:ln>
            <a:noFill/>
          </a:ln>
        </p:spPr>
        <p:txBody>
          <a:bodyPr/>
          <a:p>
            <a:pPr/>
            <a:r>
              <a:rPr lang="zh-CN" sz="2100">
                <a:solidFill>
                  <a:srgbClr val="555555"/>
                </a:solidFill>
                <a:latin typeface="Arial"/>
                <a:ea typeface="Arial"/>
              </a:rPr>
              <a:t>Save proposal -&gt; first WorkBuddy run
Answer questions -&gt; explicit resume
Inspect draft sources -&gt; edit/review
Optionally publish a reviewed card</a:t>
            </a:r>
            <a:endParaRPr/>
          </a:p>
        </p:txBody>
      </p:sp>
      <p:sp>
        <p:nvSpPr>
          <p:cNvPr id="74" name=""/>
          <p:cNvSpPr/>
          <p:nvPr/>
        </p:nvSpPr>
        <p:spPr>
          <a:xfrm>
            <a:off x="723900" y="5194300"/>
            <a:ext cx="4953000" cy="609600"/>
          </a:xfrm>
          <a:prstGeom prst="rect">
            <a:avLst/>
          </a:prstGeom>
          <a:noFill/>
          <a:ln>
            <a:noFill/>
          </a:ln>
        </p:spPr>
        <p:txBody>
          <a:bodyPr/>
          <a:p>
            <a:pPr/>
            <a:r>
              <a:rPr lang="zh-CN" sz="1600">
                <a:solidFill>
                  <a:srgbClr val="666666"/>
                </a:solidFill>
                <a:latin typeface="Arial"/>
                <a:ea typeface="Arial"/>
              </a:rPr>
              <a:t>Saved proof: fictional clinic, 3 draft needs.
Separate fair cards came from CodeBuddy CLI.</a:t>
            </a:r>
            <a:endParaRPr/>
          </a:p>
        </p:txBody>
      </p:sp>
      <p:sp>
        <p:nvSpPr>
          <p:cNvPr id="75" name=""/>
          <p:cNvSpPr/>
          <p:nvPr/>
        </p:nvSpPr>
        <p:spPr>
          <a:xfrm>
            <a:off x="6438900" y="2171700"/>
            <a:ext cx="5016500" cy="406400"/>
          </a:xfrm>
          <a:prstGeom prst="rect">
            <a:avLst/>
          </a:prstGeom>
          <a:noFill/>
          <a:ln>
            <a:noFill/>
          </a:ln>
        </p:spPr>
        <p:txBody>
          <a:bodyPr/>
          <a:p>
            <a:pPr/>
            <a:r>
              <a:rPr lang="zh-CN" sz="2000">
                <a:solidFill>
                  <a:srgbClr val="202020"/>
                </a:solidFill>
                <a:latin typeface="Arial"/>
                <a:ea typeface="Arial"/>
              </a:rPr>
              <a:t>B. PUBLIC BUSINESS PREVIEW</a:t>
            </a:r>
            <a:endParaRPr/>
          </a:p>
        </p:txBody>
      </p:sp>
      <p:sp>
        <p:nvSpPr>
          <p:cNvPr id="76" name=""/>
          <p:cNvSpPr/>
          <p:nvPr/>
        </p:nvSpPr>
        <p:spPr>
          <a:xfrm>
            <a:off x="6438900" y="2946400"/>
            <a:ext cx="4953000" cy="1689100"/>
          </a:xfrm>
          <a:prstGeom prst="rect">
            <a:avLst/>
          </a:prstGeom>
          <a:noFill/>
          <a:ln>
            <a:noFill/>
          </a:ln>
        </p:spPr>
        <p:txBody>
          <a:bodyPr/>
          <a:p>
            <a:pPr/>
            <a:r>
              <a:rPr lang="zh-CN" sz="2100">
                <a:solidFill>
                  <a:srgbClr val="555555"/>
                </a:solidFill>
                <a:latin typeface="Arial"/>
                <a:ea typeface="Arial"/>
              </a:rPr>
              <a:t>Open demo -&gt; visit marketplace
Choose an in-kind offer + interests
Inspect fictional rule-based fit reasons
Copy manual WorkBuddy matching brief</a:t>
            </a:r>
            <a:endParaRPr/>
          </a:p>
        </p:txBody>
      </p:sp>
      <p:sp>
        <p:nvSpPr>
          <p:cNvPr id="77" name=""/>
          <p:cNvSpPr/>
          <p:nvPr/>
        </p:nvSpPr>
        <p:spPr>
          <a:xfrm>
            <a:off x="6438900" y="5194300"/>
            <a:ext cx="4953000" cy="609600"/>
          </a:xfrm>
          <a:prstGeom prst="rect">
            <a:avLst/>
          </a:prstGeom>
          <a:noFill/>
          <a:ln>
            <a:noFill/>
          </a:ln>
        </p:spPr>
        <p:txBody>
          <a:bodyPr/>
          <a:p>
            <a:pPr/>
            <a:r>
              <a:rPr lang="zh-CN" sz="1600">
                <a:solidFill>
                  <a:srgbClr val="666666"/>
                </a:solidFill>
                <a:latin typeface="Arial"/>
                <a:ea typeface="Arial"/>
              </a:rPr>
              <a:t>Public preview only: no private requests,
no live WorkBuddy run, no accepted sponsor.</a:t>
            </a:r>
            <a:endParaRPr/>
          </a:p>
        </p:txBody>
      </p:sp>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78" name=""/>
        <p:cNvGrpSpPr/>
        <p:nvPr/>
      </p:nvGrpSpPr>
      <p:grpSpPr>
        <a:xfrm>
          <a:off x="0" y="0"/>
          <a:ext cx="0" cy="0"/>
          <a:chOff x="0" y="0"/>
          <a:chExt cx="0" cy="0"/>
        </a:xfrm>
      </p:grpSpPr>
      <p:sp>
        <p:nvSpPr>
          <p:cNvPr id="79" name=""/>
          <p:cNvSpPr/>
          <p:nvPr/>
        </p:nvSpPr>
        <p:spPr>
          <a:xfrm>
            <a:off x="0" y="0"/>
            <a:ext cx="12192000" cy="6858000"/>
          </a:xfrm>
          <a:prstGeom prst="rect">
            <a:avLst/>
          </a:prstGeom>
          <a:solidFill>
            <a:srgbClr val="202020"/>
          </a:solidFill>
          <a:ln>
            <a:noFill/>
          </a:ln>
        </p:spPr>
        <p:txBody>
          <a:bodyPr/>
          <a:p/>
        </p:txBody>
      </p:sp>
      <p:sp>
        <p:nvSpPr>
          <p:cNvPr id="80" name=""/>
          <p:cNvSpPr/>
          <p:nvPr/>
        </p:nvSpPr>
        <p:spPr>
          <a:xfrm>
            <a:off x="508000" y="279400"/>
            <a:ext cx="10795000" cy="304800"/>
          </a:xfrm>
          <a:prstGeom prst="rect">
            <a:avLst/>
          </a:prstGeom>
          <a:noFill/>
          <a:ln>
            <a:noFill/>
          </a:ln>
        </p:spPr>
        <p:txBody>
          <a:bodyPr/>
          <a:p>
            <a:pPr/>
            <a:r>
              <a:rPr lang="zh-CN" sz="1300">
                <a:solidFill>
                  <a:srgbClr val="DADADA"/>
                </a:solidFill>
                <a:latin typeface="Arial"/>
                <a:ea typeface="Arial"/>
              </a:rPr>
              <a:t>06 / OUTCOME + SUBMISSION LINKS</a:t>
            </a:r>
            <a:endParaRPr/>
          </a:p>
        </p:txBody>
      </p:sp>
      <p:sp>
        <p:nvSpPr>
          <p:cNvPr id="81" name=""/>
          <p:cNvSpPr/>
          <p:nvPr/>
        </p:nvSpPr>
        <p:spPr>
          <a:xfrm>
            <a:off x="508000" y="825500"/>
            <a:ext cx="11049000" cy="1041400"/>
          </a:xfrm>
          <a:prstGeom prst="rect">
            <a:avLst/>
          </a:prstGeom>
          <a:noFill/>
          <a:ln>
            <a:noFill/>
          </a:ln>
        </p:spPr>
        <p:txBody>
          <a:bodyPr/>
          <a:p>
            <a:pPr/>
            <a:r>
              <a:rPr lang="zh-CN" sz="3200">
                <a:solidFill>
                  <a:srgbClr val="FFFFFF"/>
                </a:solidFill>
                <a:latin typeface="Arial"/>
                <a:ea typeface="Arial"/>
              </a:rPr>
              <a:t>A reviewable ask today. Better matching next.</a:t>
            </a:r>
            <a:endParaRPr/>
          </a:p>
        </p:txBody>
      </p:sp>
      <p:sp>
        <p:nvSpPr>
          <p:cNvPr id="82" name=""/>
          <p:cNvSpPr/>
          <p:nvPr/>
        </p:nvSpPr>
        <p:spPr>
          <a:xfrm>
            <a:off x="508000" y="6477000"/>
            <a:ext cx="8890000" cy="228600"/>
          </a:xfrm>
          <a:prstGeom prst="rect">
            <a:avLst/>
          </a:prstGeom>
          <a:noFill/>
          <a:ln>
            <a:noFill/>
          </a:ln>
        </p:spPr>
        <p:txBody>
          <a:bodyPr/>
          <a:p>
            <a:pPr/>
            <a:r>
              <a:rPr lang="zh-CN" sz="1100">
                <a:solidFill>
                  <a:srgbClr val="DADADA"/>
                </a:solidFill>
                <a:latin typeface="Arial"/>
                <a:ea typeface="Arial"/>
              </a:rPr>
              <a:t>PUTRApitch | Afiq | 11 October 2026</a:t>
            </a:r>
            <a:endParaRPr/>
          </a:p>
        </p:txBody>
      </p:sp>
      <p:sp>
        <p:nvSpPr>
          <p:cNvPr id="83" name=""/>
          <p:cNvSpPr/>
          <p:nvPr/>
        </p:nvSpPr>
        <p:spPr>
          <a:xfrm>
            <a:off x="10795000" y="6477000"/>
            <a:ext cx="889000" cy="228600"/>
          </a:xfrm>
          <a:prstGeom prst="rect">
            <a:avLst/>
          </a:prstGeom>
          <a:noFill/>
          <a:ln>
            <a:noFill/>
          </a:ln>
        </p:spPr>
        <p:txBody>
          <a:bodyPr/>
          <a:p>
            <a:pPr/>
            <a:r>
              <a:rPr lang="zh-CN" sz="1100">
                <a:solidFill>
                  <a:srgbClr val="DADADA"/>
                </a:solidFill>
                <a:latin typeface="Arial"/>
                <a:ea typeface="Arial"/>
              </a:rPr>
              <a:t>06 / 06</a:t>
            </a:r>
            <a:endParaRPr/>
          </a:p>
        </p:txBody>
      </p:sp>
      <p:sp>
        <p:nvSpPr>
          <p:cNvPr id="84" name=""/>
          <p:cNvSpPr/>
          <p:nvPr/>
        </p:nvSpPr>
        <p:spPr>
          <a:xfrm>
            <a:off x="508000" y="1879600"/>
            <a:ext cx="11176000" cy="850900"/>
          </a:xfrm>
          <a:prstGeom prst="rect">
            <a:avLst/>
          </a:prstGeom>
          <a:noFill/>
          <a:ln>
            <a:noFill/>
          </a:ln>
        </p:spPr>
        <p:txBody>
          <a:bodyPr/>
          <a:p>
            <a:pPr/>
            <a:r>
              <a:rPr lang="zh-CN" sz="2100">
                <a:solidFill>
                  <a:srgbClr val="FFFFFF"/>
                </a:solidFill>
                <a:latin typeface="Arial"/>
                <a:ea typeface="Arial"/>
              </a:rPr>
              <a:t>Built: local preparation, answers, source-linked drafts, review + publication.
Public demo: fictional overview + rule-based marketplace preview.</a:t>
            </a:r>
            <a:endParaRPr/>
          </a:p>
        </p:txBody>
      </p:sp>
      <p:sp>
        <p:nvSpPr>
          <p:cNvPr id="85" name=""/>
          <p:cNvSpPr/>
          <p:nvPr/>
        </p:nvSpPr>
        <p:spPr>
          <a:xfrm>
            <a:off x="508000" y="2895600"/>
            <a:ext cx="11176000" cy="812800"/>
          </a:xfrm>
          <a:prstGeom prst="rect">
            <a:avLst/>
          </a:prstGeom>
          <a:noFill/>
          <a:ln>
            <a:noFill/>
          </a:ln>
        </p:spPr>
        <p:txBody>
          <a:bodyPr/>
          <a:p>
            <a:pPr/>
            <a:r>
              <a:rPr lang="zh-CN" sz="1800">
                <a:solidFill>
                  <a:srgbClr val="DADADA"/>
                </a:solidFill>
                <a:latin typeface="Arial"/>
                <a:ea typeface="Arial"/>
              </a:rPr>
              <a:t>Next: run a WorkBuddy match, personalise pitches, export full campaigns.
No secured sponsors, business contact, payments or university approval.</a:t>
            </a:r>
            <a:endParaRPr/>
          </a:p>
        </p:txBody>
      </p:sp>
      <p:sp>
        <p:nvSpPr>
          <p:cNvPr id="86" name=""/>
          <p:cNvSpPr/>
          <p:nvPr/>
        </p:nvSpPr>
        <p:spPr>
          <a:xfrm>
            <a:off x="508000" y="4000500"/>
            <a:ext cx="2159000" cy="279400"/>
          </a:xfrm>
          <a:prstGeom prst="rect">
            <a:avLst/>
          </a:prstGeom>
          <a:noFill/>
          <a:ln>
            <a:noFill/>
          </a:ln>
        </p:spPr>
        <p:txBody>
          <a:bodyPr/>
          <a:p>
            <a:pPr/>
            <a:r>
              <a:rPr lang="zh-CN" sz="1300">
                <a:solidFill>
                  <a:srgbClr val="DADADA"/>
                </a:solidFill>
                <a:latin typeface="Arial"/>
                <a:ea typeface="Arial"/>
              </a:rPr>
              <a:t>PUBLIC DEMO</a:t>
            </a:r>
            <a:endParaRPr/>
          </a:p>
        </p:txBody>
      </p:sp>
      <p:sp>
        <p:nvSpPr>
          <p:cNvPr id="87" name=""/>
          <p:cNvSpPr/>
          <p:nvPr/>
        </p:nvSpPr>
        <p:spPr>
          <a:xfrm>
            <a:off x="508000" y="4292600"/>
            <a:ext cx="11176000" cy="342900"/>
          </a:xfrm>
          <a:prstGeom prst="rect">
            <a:avLst/>
          </a:prstGeom>
          <a:noFill/>
          <a:ln>
            <a:noFill/>
          </a:ln>
        </p:spPr>
        <p:txBody>
          <a:bodyPr/>
          <a:p>
            <a:pPr/>
            <a:r>
              <a:rPr lang="zh-CN" sz="1800" u="sng">
                <a:solidFill>
                  <a:srgbClr val="FFFFFF"/>
                </a:solidFill>
                <a:latin typeface="Arial"/>
                <a:ea typeface="Arial"/>
                <a:hlinkClick r:id="rId2"/>
              </a:rPr>
              <a:t>https://putrapitch-afiiq-demo.spryspoon8.chatgpt.site</a:t>
            </a:r>
            <a:endParaRPr lang="zh-CN" sz="1800" u="sng">
              <a:solidFill>
                <a:srgbClr val="FFFFFF"/>
              </a:solidFill>
              <a:latin typeface="Arial"/>
              <a:ea typeface="Arial"/>
              <a:hlinkClick r:id="rId2"/>
            </a:endParaRPr>
          </a:p>
        </p:txBody>
      </p:sp>
      <p:sp>
        <p:nvSpPr>
          <p:cNvPr id="88" name=""/>
          <p:cNvSpPr/>
          <p:nvPr/>
        </p:nvSpPr>
        <p:spPr>
          <a:xfrm>
            <a:off x="508000" y="4749800"/>
            <a:ext cx="2159000" cy="279400"/>
          </a:xfrm>
          <a:prstGeom prst="rect">
            <a:avLst/>
          </a:prstGeom>
          <a:noFill/>
          <a:ln>
            <a:noFill/>
          </a:ln>
        </p:spPr>
        <p:txBody>
          <a:bodyPr/>
          <a:p>
            <a:pPr/>
            <a:r>
              <a:rPr lang="zh-CN" sz="1300">
                <a:solidFill>
                  <a:srgbClr val="DADADA"/>
                </a:solidFill>
                <a:latin typeface="Arial"/>
                <a:ea typeface="Arial"/>
              </a:rPr>
              <a:t>MARKETPLACE</a:t>
            </a:r>
            <a:endParaRPr/>
          </a:p>
        </p:txBody>
      </p:sp>
      <p:sp>
        <p:nvSpPr>
          <p:cNvPr id="89" name=""/>
          <p:cNvSpPr/>
          <p:nvPr/>
        </p:nvSpPr>
        <p:spPr>
          <a:xfrm>
            <a:off x="508000" y="5041900"/>
            <a:ext cx="11176000" cy="342900"/>
          </a:xfrm>
          <a:prstGeom prst="rect">
            <a:avLst/>
          </a:prstGeom>
          <a:noFill/>
          <a:ln>
            <a:noFill/>
          </a:ln>
        </p:spPr>
        <p:txBody>
          <a:bodyPr/>
          <a:p>
            <a:pPr/>
            <a:r>
              <a:rPr lang="zh-CN" sz="1800" u="sng">
                <a:solidFill>
                  <a:srgbClr val="FFFFFF"/>
                </a:solidFill>
                <a:latin typeface="Arial"/>
                <a:ea typeface="Arial"/>
                <a:hlinkClick r:id="rId3"/>
              </a:rPr>
              <a:t>https://putrapitch-afiiq-demo.spryspoon8.chatgpt.site/marketplace</a:t>
            </a:r>
            <a:endParaRPr lang="zh-CN" sz="1800" u="sng">
              <a:solidFill>
                <a:srgbClr val="FFFFFF"/>
              </a:solidFill>
              <a:latin typeface="Arial"/>
              <a:ea typeface="Arial"/>
              <a:hlinkClick r:id="rId3"/>
            </a:endParaRPr>
          </a:p>
        </p:txBody>
      </p:sp>
      <p:sp>
        <p:nvSpPr>
          <p:cNvPr id="90" name=""/>
          <p:cNvSpPr/>
          <p:nvPr/>
        </p:nvSpPr>
        <p:spPr>
          <a:xfrm>
            <a:off x="508000" y="5499100"/>
            <a:ext cx="2159000" cy="279400"/>
          </a:xfrm>
          <a:prstGeom prst="rect">
            <a:avLst/>
          </a:prstGeom>
          <a:noFill/>
          <a:ln>
            <a:noFill/>
          </a:ln>
        </p:spPr>
        <p:txBody>
          <a:bodyPr/>
          <a:p>
            <a:pPr/>
            <a:r>
              <a:rPr lang="zh-CN" sz="1300">
                <a:solidFill>
                  <a:srgbClr val="DADADA"/>
                </a:solidFill>
                <a:latin typeface="Arial"/>
                <a:ea typeface="Arial"/>
              </a:rPr>
              <a:t>OPEN GITHUB</a:t>
            </a:r>
            <a:endParaRPr/>
          </a:p>
        </p:txBody>
      </p:sp>
      <p:sp>
        <p:nvSpPr>
          <p:cNvPr id="91" name=""/>
          <p:cNvSpPr/>
          <p:nvPr/>
        </p:nvSpPr>
        <p:spPr>
          <a:xfrm>
            <a:off x="508000" y="5791200"/>
            <a:ext cx="11176000" cy="342900"/>
          </a:xfrm>
          <a:prstGeom prst="rect">
            <a:avLst/>
          </a:prstGeom>
          <a:noFill/>
          <a:ln>
            <a:noFill/>
          </a:ln>
        </p:spPr>
        <p:txBody>
          <a:bodyPr/>
          <a:p>
            <a:pPr/>
            <a:r>
              <a:rPr lang="zh-CN" sz="1800" u="sng">
                <a:solidFill>
                  <a:srgbClr val="FFFFFF"/>
                </a:solidFill>
                <a:latin typeface="Arial"/>
                <a:ea typeface="Arial"/>
                <a:hlinkClick r:id="rId4"/>
              </a:rPr>
              <a:t>https://github.com/ryuhanbin/sponsorbridge-hackathon</a:t>
            </a:r>
            <a:endParaRPr lang="zh-CN" sz="1800" u="sng">
              <a:solidFill>
                <a:srgbClr val="FFFFFF"/>
              </a:solidFill>
              <a:latin typeface="Arial"/>
              <a:ea typeface="Arial"/>
              <a:hlinkClick r:id="rId4"/>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2026-10-11T09:25:40Z</dcterms:created>
  <dcterms:modified xsi:type="dcterms:W3CDTF">2026-10-11T09:25:40Z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{"AIGC":{"Label":"1","ContentProducer":"00119111010856365494821B355","ProduceID":"01a126dfcae773198dad865d20dd367d","ReservedCode1":"","ContentPropagator":"00119111010856365494821B355","PropagateID":"01a126dfcae773198dad865d20dd367d","ReservedCode2":""}}</vt:lpwstr>
  </property>
</Properties>
</file>